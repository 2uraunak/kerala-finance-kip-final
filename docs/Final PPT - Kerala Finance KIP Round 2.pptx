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Bebas Neue Bold" charset="1" panose="020B0606020202050201"/>
      <p:regular r:id="rId22"/>
    </p:embeddedFont>
    <p:embeddedFont>
      <p:font typeface="Canva Sans Bold" charset="1" panose="020B0803030501040103"/>
      <p:regular r:id="rId23"/>
    </p:embeddedFont>
    <p:embeddedFont>
      <p:font typeface="Ballpoint" charset="1" panose="00000000000000000000"/>
      <p:regular r:id="rId24"/>
    </p:embeddedFont>
    <p:embeddedFont>
      <p:font typeface="Questrial" charset="1" panose="02000000000000000000"/>
      <p:regular r:id="rId25"/>
    </p:embeddedFont>
    <p:embeddedFont>
      <p:font typeface="Canva Sans" charset="1" panose="020B0503030501040103"/>
      <p:regular r:id="rId26"/>
    </p:embeddedFont>
    <p:embeddedFont>
      <p:font typeface="Roboto Bold" charset="1" panose="02000000000000000000"/>
      <p:regular r:id="rId27"/>
    </p:embeddedFont>
    <p:embeddedFont>
      <p:font typeface="Roboto" charset="1" panose="02000000000000000000"/>
      <p:regular r:id="rId28"/>
    </p:embeddedFont>
    <p:embeddedFont>
      <p:font typeface="Andasia" charset="1" panose="020005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13" Target="../media/image22.png" Type="http://schemas.openxmlformats.org/officeDocument/2006/relationships/image"/><Relationship Id="rId14" Target="../media/image23.svg" Type="http://schemas.openxmlformats.org/officeDocument/2006/relationships/image"/><Relationship Id="rId15" Target="../media/image24.png" Type="http://schemas.openxmlformats.org/officeDocument/2006/relationships/image"/><Relationship Id="rId16" Target="../media/image25.svg" Type="http://schemas.openxmlformats.org/officeDocument/2006/relationships/image"/><Relationship Id="rId2" Target="../media/image1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6.png" Type="http://schemas.openxmlformats.org/officeDocument/2006/relationships/image"/><Relationship Id="rId4" Target="../media/image5.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9.png" Type="http://schemas.openxmlformats.org/officeDocument/2006/relationships/image"/><Relationship Id="rId4" Target="../media/image5.png" Type="http://schemas.openxmlformats.org/officeDocument/2006/relationships/image"/><Relationship Id="rId5" Target="../media/image3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9.png" Type="http://schemas.openxmlformats.org/officeDocument/2006/relationships/image"/><Relationship Id="rId4" Target="../media/image5.png" Type="http://schemas.openxmlformats.org/officeDocument/2006/relationships/image"/><Relationship Id="rId5" Target="../media/image3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5.png" Type="http://schemas.openxmlformats.org/officeDocument/2006/relationships/image"/><Relationship Id="rId4" Target="../media/image29.png" Type="http://schemas.openxmlformats.org/officeDocument/2006/relationships/image"/><Relationship Id="rId5" Target="../media/image3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9.png" Type="http://schemas.openxmlformats.org/officeDocument/2006/relationships/image"/><Relationship Id="rId4" Target="../media/image5.pn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9.png" Type="http://schemas.openxmlformats.org/officeDocument/2006/relationships/image"/><Relationship Id="rId4" Target="../media/image5.png" Type="http://schemas.openxmlformats.org/officeDocument/2006/relationships/image"/><Relationship Id="rId5" Target="../media/image3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6.png" Type="http://schemas.openxmlformats.org/officeDocument/2006/relationships/image"/><Relationship Id="rId4" Target="../media/image5.png" Type="http://schemas.openxmlformats.org/officeDocument/2006/relationships/image"/><Relationship Id="rId5" Target="../media/image3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5.png" Type="http://schemas.openxmlformats.org/officeDocument/2006/relationships/image"/><Relationship Id="rId4" Target="../media/image29.png" Type="http://schemas.openxmlformats.org/officeDocument/2006/relationships/image"/><Relationship Id="rId5" Target="../media/image4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9.png" Type="http://schemas.openxmlformats.org/officeDocument/2006/relationships/image"/><Relationship Id="rId4" Target="../media/image5.pn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9.png" Type="http://schemas.openxmlformats.org/officeDocument/2006/relationships/image"/><Relationship Id="rId4" Target="../media/image5.png" Type="http://schemas.openxmlformats.org/officeDocument/2006/relationships/image"/><Relationship Id="rId5" Target="../media/image42.jpeg" Type="http://schemas.openxmlformats.org/officeDocument/2006/relationships/image"/><Relationship Id="rId6" Target="../media/image4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png" Type="http://schemas.openxmlformats.org/officeDocument/2006/relationships/image"/><Relationship Id="rId11" Target="../media/image51.svg" Type="http://schemas.openxmlformats.org/officeDocument/2006/relationships/image"/><Relationship Id="rId2" Target="../media/image11.png" Type="http://schemas.openxmlformats.org/officeDocument/2006/relationships/image"/><Relationship Id="rId3" Target="../media/image44.png" Type="http://schemas.openxmlformats.org/officeDocument/2006/relationships/image"/><Relationship Id="rId4" Target="../media/image45.svg" Type="http://schemas.openxmlformats.org/officeDocument/2006/relationships/image"/><Relationship Id="rId5" Target="../media/image46.png" Type="http://schemas.openxmlformats.org/officeDocument/2006/relationships/image"/><Relationship Id="rId6" Target="../media/image47.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media/image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52.pn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243796"/>
            <a:ext cx="10948843" cy="10530796"/>
          </a:xfrm>
          <a:custGeom>
            <a:avLst/>
            <a:gdLst/>
            <a:ahLst/>
            <a:cxnLst/>
            <a:rect r="r" b="b" t="t" l="l"/>
            <a:pathLst>
              <a:path h="10530796" w="10948843">
                <a:moveTo>
                  <a:pt x="0" y="0"/>
                </a:moveTo>
                <a:lnTo>
                  <a:pt x="10948843" y="0"/>
                </a:lnTo>
                <a:lnTo>
                  <a:pt x="10948843" y="10530796"/>
                </a:lnTo>
                <a:lnTo>
                  <a:pt x="0" y="105307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80795" y="9260997"/>
            <a:ext cx="9268826" cy="834194"/>
          </a:xfrm>
          <a:custGeom>
            <a:avLst/>
            <a:gdLst/>
            <a:ahLst/>
            <a:cxnLst/>
            <a:rect r="r" b="b" t="t" l="l"/>
            <a:pathLst>
              <a:path h="834194" w="9268826">
                <a:moveTo>
                  <a:pt x="0" y="0"/>
                </a:moveTo>
                <a:lnTo>
                  <a:pt x="9268825" y="0"/>
                </a:lnTo>
                <a:lnTo>
                  <a:pt x="9268825" y="834195"/>
                </a:lnTo>
                <a:lnTo>
                  <a:pt x="0" y="834195"/>
                </a:lnTo>
                <a:lnTo>
                  <a:pt x="0" y="0"/>
                </a:lnTo>
                <a:close/>
              </a:path>
            </a:pathLst>
          </a:custGeom>
          <a:blipFill>
            <a:blip r:embed="rId5"/>
            <a:stretch>
              <a:fillRect l="0" t="0" r="0" b="0"/>
            </a:stretch>
          </a:blipFill>
        </p:spPr>
      </p:sp>
      <p:sp>
        <p:nvSpPr>
          <p:cNvPr name="Freeform 5" id="5"/>
          <p:cNvSpPr/>
          <p:nvPr/>
        </p:nvSpPr>
        <p:spPr>
          <a:xfrm flipH="false" flipV="false" rot="0">
            <a:off x="5315207" y="610647"/>
            <a:ext cx="12187996" cy="7673222"/>
          </a:xfrm>
          <a:custGeom>
            <a:avLst/>
            <a:gdLst/>
            <a:ahLst/>
            <a:cxnLst/>
            <a:rect r="r" b="b" t="t" l="l"/>
            <a:pathLst>
              <a:path h="7673222" w="12187996">
                <a:moveTo>
                  <a:pt x="0" y="0"/>
                </a:moveTo>
                <a:lnTo>
                  <a:pt x="12187996" y="0"/>
                </a:lnTo>
                <a:lnTo>
                  <a:pt x="12187996" y="7673222"/>
                </a:lnTo>
                <a:lnTo>
                  <a:pt x="0" y="7673222"/>
                </a:lnTo>
                <a:lnTo>
                  <a:pt x="0" y="0"/>
                </a:lnTo>
                <a:close/>
              </a:path>
            </a:pathLst>
          </a:custGeom>
          <a:blipFill>
            <a:blip r:embed="rId6"/>
            <a:stretch>
              <a:fillRect l="-68423" t="-2044" r="-68423" b="0"/>
            </a:stretch>
          </a:blipFill>
        </p:spPr>
      </p:sp>
      <p:sp>
        <p:nvSpPr>
          <p:cNvPr name="Freeform 6" id="6"/>
          <p:cNvSpPr/>
          <p:nvPr/>
        </p:nvSpPr>
        <p:spPr>
          <a:xfrm flipH="false" flipV="false" rot="0">
            <a:off x="762277" y="817322"/>
            <a:ext cx="4552930" cy="4862353"/>
          </a:xfrm>
          <a:custGeom>
            <a:avLst/>
            <a:gdLst/>
            <a:ahLst/>
            <a:cxnLst/>
            <a:rect r="r" b="b" t="t" l="l"/>
            <a:pathLst>
              <a:path h="4862353" w="4552930">
                <a:moveTo>
                  <a:pt x="0" y="0"/>
                </a:moveTo>
                <a:lnTo>
                  <a:pt x="4552930" y="0"/>
                </a:lnTo>
                <a:lnTo>
                  <a:pt x="4552930" y="4862353"/>
                </a:lnTo>
                <a:lnTo>
                  <a:pt x="0" y="48623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028700" y="5096554"/>
            <a:ext cx="3723681" cy="2945093"/>
          </a:xfrm>
          <a:custGeom>
            <a:avLst/>
            <a:gdLst/>
            <a:ahLst/>
            <a:cxnLst/>
            <a:rect r="r" b="b" t="t" l="l"/>
            <a:pathLst>
              <a:path h="2945093" w="3723681">
                <a:moveTo>
                  <a:pt x="0" y="0"/>
                </a:moveTo>
                <a:lnTo>
                  <a:pt x="3723681" y="0"/>
                </a:lnTo>
                <a:lnTo>
                  <a:pt x="3723681" y="2945093"/>
                </a:lnTo>
                <a:lnTo>
                  <a:pt x="0" y="294509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6450628" y="1122122"/>
            <a:ext cx="10711840" cy="6047741"/>
          </a:xfrm>
          <a:prstGeom prst="rect">
            <a:avLst/>
          </a:prstGeom>
        </p:spPr>
        <p:txBody>
          <a:bodyPr anchor="t" rtlCol="false" tIns="0" lIns="0" bIns="0" rIns="0">
            <a:spAutoFit/>
          </a:bodyPr>
          <a:lstStyle/>
          <a:p>
            <a:pPr algn="l">
              <a:lnSpc>
                <a:spcPts val="7820"/>
              </a:lnSpc>
            </a:pPr>
            <a:r>
              <a:rPr lang="en-US" sz="9200" b="true">
                <a:solidFill>
                  <a:srgbClr val="006763"/>
                </a:solidFill>
                <a:latin typeface="Bebas Neue Bold"/>
                <a:ea typeface="Bebas Neue Bold"/>
                <a:cs typeface="Bebas Neue Bold"/>
                <a:sym typeface="Bebas Neue Bold"/>
              </a:rPr>
              <a:t>FINANCE POLICY AND GOVERNMENT ORDER KNOWLEDGE INTELLIGENCE PLATFORM — FINANCE DEPARTMENT, GOVERNMENT OF KERALA</a:t>
            </a:r>
          </a:p>
        </p:txBody>
      </p:sp>
      <p:sp>
        <p:nvSpPr>
          <p:cNvPr name="Freeform 9" id="9"/>
          <p:cNvSpPr/>
          <p:nvPr/>
        </p:nvSpPr>
        <p:spPr>
          <a:xfrm flipH="false" flipV="false" rot="0">
            <a:off x="14822852" y="0"/>
            <a:ext cx="3465148" cy="4832281"/>
          </a:xfrm>
          <a:custGeom>
            <a:avLst/>
            <a:gdLst/>
            <a:ahLst/>
            <a:cxnLst/>
            <a:rect r="r" b="b" t="t" l="l"/>
            <a:pathLst>
              <a:path h="4832281" w="3465148">
                <a:moveTo>
                  <a:pt x="0" y="0"/>
                </a:moveTo>
                <a:lnTo>
                  <a:pt x="3465148" y="0"/>
                </a:lnTo>
                <a:lnTo>
                  <a:pt x="3465148" y="4832281"/>
                </a:lnTo>
                <a:lnTo>
                  <a:pt x="0" y="4832281"/>
                </a:lnTo>
                <a:lnTo>
                  <a:pt x="0" y="0"/>
                </a:lnTo>
                <a:close/>
              </a:path>
            </a:pathLst>
          </a:custGeom>
          <a:blipFill>
            <a:blip r:embed="rId11"/>
            <a:stretch>
              <a:fillRect l="0" t="0" r="0" b="0"/>
            </a:stretch>
          </a:blipFill>
        </p:spPr>
      </p:sp>
      <p:sp>
        <p:nvSpPr>
          <p:cNvPr name="TextBox 10" id="10"/>
          <p:cNvSpPr txBox="true"/>
          <p:nvPr/>
        </p:nvSpPr>
        <p:spPr>
          <a:xfrm rot="0">
            <a:off x="6188673" y="7503802"/>
            <a:ext cx="10973796"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6763"/>
                </a:solidFill>
                <a:latin typeface="Canva Sans Bold"/>
                <a:ea typeface="Canva Sans Bold"/>
                <a:cs typeface="Canva Sans Bold"/>
                <a:sym typeface="Canva Sans Bold"/>
              </a:rPr>
              <a:t>Secure, Air-Gapped AI for Government Financial Policy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134197" y="1529987"/>
            <a:ext cx="16019606" cy="7227027"/>
          </a:xfrm>
          <a:custGeom>
            <a:avLst/>
            <a:gdLst/>
            <a:ahLst/>
            <a:cxnLst/>
            <a:rect r="r" b="b" t="t" l="l"/>
            <a:pathLst>
              <a:path h="7227027" w="16019606">
                <a:moveTo>
                  <a:pt x="0" y="0"/>
                </a:moveTo>
                <a:lnTo>
                  <a:pt x="16019606" y="0"/>
                </a:lnTo>
                <a:lnTo>
                  <a:pt x="16019606" y="7227026"/>
                </a:lnTo>
                <a:lnTo>
                  <a:pt x="0" y="72270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752675" y="6684400"/>
            <a:ext cx="4310173" cy="2899571"/>
          </a:xfrm>
          <a:custGeom>
            <a:avLst/>
            <a:gdLst/>
            <a:ahLst/>
            <a:cxnLst/>
            <a:rect r="r" b="b" t="t" l="l"/>
            <a:pathLst>
              <a:path h="2899571" w="4310173">
                <a:moveTo>
                  <a:pt x="0" y="0"/>
                </a:moveTo>
                <a:lnTo>
                  <a:pt x="4310174" y="0"/>
                </a:lnTo>
                <a:lnTo>
                  <a:pt x="4310174" y="2899571"/>
                </a:lnTo>
                <a:lnTo>
                  <a:pt x="0" y="28995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1954795" y="8612281"/>
            <a:ext cx="984216" cy="971689"/>
          </a:xfrm>
          <a:custGeom>
            <a:avLst/>
            <a:gdLst/>
            <a:ahLst/>
            <a:cxnLst/>
            <a:rect r="r" b="b" t="t" l="l"/>
            <a:pathLst>
              <a:path h="971689" w="984216">
                <a:moveTo>
                  <a:pt x="0" y="0"/>
                </a:moveTo>
                <a:lnTo>
                  <a:pt x="984216" y="0"/>
                </a:lnTo>
                <a:lnTo>
                  <a:pt x="984216" y="971690"/>
                </a:lnTo>
                <a:lnTo>
                  <a:pt x="0" y="9716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930133" y="6198555"/>
            <a:ext cx="984216" cy="971689"/>
          </a:xfrm>
          <a:custGeom>
            <a:avLst/>
            <a:gdLst/>
            <a:ahLst/>
            <a:cxnLst/>
            <a:rect r="r" b="b" t="t" l="l"/>
            <a:pathLst>
              <a:path h="971689" w="984216">
                <a:moveTo>
                  <a:pt x="0" y="0"/>
                </a:moveTo>
                <a:lnTo>
                  <a:pt x="984216" y="0"/>
                </a:lnTo>
                <a:lnTo>
                  <a:pt x="984216" y="971690"/>
                </a:lnTo>
                <a:lnTo>
                  <a:pt x="0" y="9716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10800000">
            <a:off x="8096441" y="4559571"/>
            <a:ext cx="2095119" cy="426642"/>
          </a:xfrm>
          <a:custGeom>
            <a:avLst/>
            <a:gdLst/>
            <a:ahLst/>
            <a:cxnLst/>
            <a:rect r="r" b="b" t="t" l="l"/>
            <a:pathLst>
              <a:path h="426642" w="2095119">
                <a:moveTo>
                  <a:pt x="0" y="0"/>
                </a:moveTo>
                <a:lnTo>
                  <a:pt x="2095118" y="0"/>
                </a:lnTo>
                <a:lnTo>
                  <a:pt x="2095118" y="426643"/>
                </a:lnTo>
                <a:lnTo>
                  <a:pt x="0" y="4266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705248" y="719569"/>
            <a:ext cx="3691051" cy="4721111"/>
          </a:xfrm>
          <a:custGeom>
            <a:avLst/>
            <a:gdLst/>
            <a:ahLst/>
            <a:cxnLst/>
            <a:rect r="r" b="b" t="t" l="l"/>
            <a:pathLst>
              <a:path h="4721111" w="3691051">
                <a:moveTo>
                  <a:pt x="0" y="0"/>
                </a:moveTo>
                <a:lnTo>
                  <a:pt x="3691051" y="0"/>
                </a:lnTo>
                <a:lnTo>
                  <a:pt x="3691051" y="4721111"/>
                </a:lnTo>
                <a:lnTo>
                  <a:pt x="0" y="47211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3752675" y="836582"/>
            <a:ext cx="3678891" cy="2167201"/>
          </a:xfrm>
          <a:custGeom>
            <a:avLst/>
            <a:gdLst/>
            <a:ahLst/>
            <a:cxnLst/>
            <a:rect r="r" b="b" t="t" l="l"/>
            <a:pathLst>
              <a:path h="2167201" w="3678891">
                <a:moveTo>
                  <a:pt x="0" y="0"/>
                </a:moveTo>
                <a:lnTo>
                  <a:pt x="3678891" y="0"/>
                </a:lnTo>
                <a:lnTo>
                  <a:pt x="3678891" y="2167202"/>
                </a:lnTo>
                <a:lnTo>
                  <a:pt x="0" y="21672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0" id="10"/>
          <p:cNvSpPr txBox="true"/>
          <p:nvPr/>
        </p:nvSpPr>
        <p:spPr>
          <a:xfrm rot="0">
            <a:off x="2877412" y="2193209"/>
            <a:ext cx="12533176" cy="2429593"/>
          </a:xfrm>
          <a:prstGeom prst="rect">
            <a:avLst/>
          </a:prstGeom>
        </p:spPr>
        <p:txBody>
          <a:bodyPr anchor="t" rtlCol="false" tIns="0" lIns="0" bIns="0" rIns="0">
            <a:spAutoFit/>
          </a:bodyPr>
          <a:lstStyle/>
          <a:p>
            <a:pPr algn="ctr">
              <a:lnSpc>
                <a:spcPts val="17810"/>
              </a:lnSpc>
              <a:spcBef>
                <a:spcPct val="0"/>
              </a:spcBef>
            </a:pPr>
            <a:r>
              <a:rPr lang="en-US" sz="12721" spc="559">
                <a:solidFill>
                  <a:srgbClr val="006763"/>
                </a:solidFill>
                <a:latin typeface="Ballpoint"/>
                <a:ea typeface="Ballpoint"/>
                <a:cs typeface="Ballpoint"/>
                <a:sym typeface="Ballpoint"/>
              </a:rPr>
              <a:t>INTRODUCTION</a:t>
            </a:r>
          </a:p>
        </p:txBody>
      </p:sp>
      <p:sp>
        <p:nvSpPr>
          <p:cNvPr name="TextBox 11" id="11"/>
          <p:cNvSpPr txBox="true"/>
          <p:nvPr/>
        </p:nvSpPr>
        <p:spPr>
          <a:xfrm rot="0">
            <a:off x="3040797" y="5190178"/>
            <a:ext cx="12206406" cy="3151464"/>
          </a:xfrm>
          <a:prstGeom prst="rect">
            <a:avLst/>
          </a:prstGeom>
        </p:spPr>
        <p:txBody>
          <a:bodyPr anchor="t" rtlCol="false" tIns="0" lIns="0" bIns="0" rIns="0">
            <a:spAutoFit/>
          </a:bodyPr>
          <a:lstStyle/>
          <a:p>
            <a:pPr algn="ctr" marL="0" indent="0" lvl="0">
              <a:lnSpc>
                <a:spcPts val="4224"/>
              </a:lnSpc>
              <a:spcBef>
                <a:spcPct val="0"/>
              </a:spcBef>
            </a:pPr>
            <a:r>
              <a:rPr lang="en-US" sz="3017">
                <a:solidFill>
                  <a:srgbClr val="183937"/>
                </a:solidFill>
                <a:latin typeface="Questrial"/>
                <a:ea typeface="Questrial"/>
                <a:cs typeface="Questrial"/>
                <a:sym typeface="Questrial"/>
              </a:rPr>
              <a:t>Kerala Finance KIP is an AI-powered platform designed to make government document management easier and more efficient. It helps officials quickly find, understand, and verify important financial documents through smart search, document tracking, automated extraction, and AI assistance. The entire system runs locally, ensuring that sensitive financial information remains secure and protected.</a:t>
            </a:r>
          </a:p>
        </p:txBody>
      </p:sp>
      <p:sp>
        <p:nvSpPr>
          <p:cNvPr name="Freeform 12" id="12"/>
          <p:cNvSpPr/>
          <p:nvPr/>
        </p:nvSpPr>
        <p:spPr>
          <a:xfrm flipH="true" flipV="false" rot="-3253247">
            <a:off x="14700089" y="3309242"/>
            <a:ext cx="1420998" cy="1304734"/>
          </a:xfrm>
          <a:custGeom>
            <a:avLst/>
            <a:gdLst/>
            <a:ahLst/>
            <a:cxnLst/>
            <a:rect r="r" b="b" t="t" l="l"/>
            <a:pathLst>
              <a:path h="1304734" w="1420998">
                <a:moveTo>
                  <a:pt x="1420998" y="0"/>
                </a:moveTo>
                <a:lnTo>
                  <a:pt x="0" y="0"/>
                </a:lnTo>
                <a:lnTo>
                  <a:pt x="0" y="1304735"/>
                </a:lnTo>
                <a:lnTo>
                  <a:pt x="1420998" y="1304735"/>
                </a:lnTo>
                <a:lnTo>
                  <a:pt x="1420998"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3" id="13"/>
          <p:cNvSpPr/>
          <p:nvPr/>
        </p:nvSpPr>
        <p:spPr>
          <a:xfrm flipH="false" flipV="false" rot="0">
            <a:off x="8582379" y="719569"/>
            <a:ext cx="984216" cy="971689"/>
          </a:xfrm>
          <a:custGeom>
            <a:avLst/>
            <a:gdLst/>
            <a:ahLst/>
            <a:cxnLst/>
            <a:rect r="r" b="b" t="t" l="l"/>
            <a:pathLst>
              <a:path h="971689" w="984216">
                <a:moveTo>
                  <a:pt x="0" y="0"/>
                </a:moveTo>
                <a:lnTo>
                  <a:pt x="984216" y="0"/>
                </a:lnTo>
                <a:lnTo>
                  <a:pt x="984216" y="971689"/>
                </a:lnTo>
                <a:lnTo>
                  <a:pt x="0" y="9716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0"/>
            <a:ext cx="13793869" cy="10287000"/>
          </a:xfrm>
          <a:custGeom>
            <a:avLst/>
            <a:gdLst/>
            <a:ahLst/>
            <a:cxnLst/>
            <a:rect r="r" b="b" t="t" l="l"/>
            <a:pathLst>
              <a:path h="10287000" w="13793869">
                <a:moveTo>
                  <a:pt x="0" y="0"/>
                </a:moveTo>
                <a:lnTo>
                  <a:pt x="13793869" y="0"/>
                </a:lnTo>
                <a:lnTo>
                  <a:pt x="13793869" y="10287000"/>
                </a:lnTo>
                <a:lnTo>
                  <a:pt x="0" y="10287000"/>
                </a:lnTo>
                <a:lnTo>
                  <a:pt x="0" y="0"/>
                </a:lnTo>
                <a:close/>
              </a:path>
            </a:pathLst>
          </a:custGeom>
          <a:blipFill>
            <a:blip r:embed="rId3"/>
            <a:stretch>
              <a:fillRect l="-3931" t="-2833" r="0" b="-17594"/>
            </a:stretch>
          </a:blipFill>
        </p:spPr>
      </p:sp>
      <p:sp>
        <p:nvSpPr>
          <p:cNvPr name="Freeform 4" id="4"/>
          <p:cNvSpPr/>
          <p:nvPr/>
        </p:nvSpPr>
        <p:spPr>
          <a:xfrm flipH="false" flipV="false" rot="0">
            <a:off x="-526346" y="1277668"/>
            <a:ext cx="7207551" cy="1792672"/>
          </a:xfrm>
          <a:custGeom>
            <a:avLst/>
            <a:gdLst/>
            <a:ahLst/>
            <a:cxnLst/>
            <a:rect r="r" b="b" t="t" l="l"/>
            <a:pathLst>
              <a:path h="1792672" w="7207551">
                <a:moveTo>
                  <a:pt x="0" y="0"/>
                </a:moveTo>
                <a:lnTo>
                  <a:pt x="7207551" y="0"/>
                </a:lnTo>
                <a:lnTo>
                  <a:pt x="7207551" y="1792672"/>
                </a:lnTo>
                <a:lnTo>
                  <a:pt x="0" y="1792672"/>
                </a:lnTo>
                <a:lnTo>
                  <a:pt x="0" y="0"/>
                </a:lnTo>
                <a:close/>
              </a:path>
            </a:pathLst>
          </a:custGeom>
          <a:blipFill>
            <a:blip r:embed="rId4"/>
            <a:stretch>
              <a:fillRect l="0" t="-7173" r="0" b="-1884"/>
            </a:stretch>
          </a:blipFill>
        </p:spPr>
      </p:sp>
      <p:grpSp>
        <p:nvGrpSpPr>
          <p:cNvPr name="Group 5" id="5"/>
          <p:cNvGrpSpPr/>
          <p:nvPr/>
        </p:nvGrpSpPr>
        <p:grpSpPr>
          <a:xfrm rot="0">
            <a:off x="1028700" y="3552617"/>
            <a:ext cx="254782" cy="25478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893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7496592"/>
            <a:ext cx="254782" cy="25478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893E"/>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5555933"/>
            <a:ext cx="254782" cy="25478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893E"/>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9039501" y="1510457"/>
            <a:ext cx="8905567" cy="7747843"/>
          </a:xfrm>
          <a:custGeom>
            <a:avLst/>
            <a:gdLst/>
            <a:ahLst/>
            <a:cxnLst/>
            <a:rect r="r" b="b" t="t" l="l"/>
            <a:pathLst>
              <a:path h="7747843" w="8905567">
                <a:moveTo>
                  <a:pt x="0" y="0"/>
                </a:moveTo>
                <a:lnTo>
                  <a:pt x="8905567" y="0"/>
                </a:lnTo>
                <a:lnTo>
                  <a:pt x="8905567" y="7747843"/>
                </a:lnTo>
                <a:lnTo>
                  <a:pt x="0" y="77478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15" id="15"/>
          <p:cNvSpPr txBox="true"/>
          <p:nvPr/>
        </p:nvSpPr>
        <p:spPr>
          <a:xfrm rot="0">
            <a:off x="1028700" y="1615232"/>
            <a:ext cx="5227853" cy="984885"/>
          </a:xfrm>
          <a:prstGeom prst="rect">
            <a:avLst/>
          </a:prstGeom>
        </p:spPr>
        <p:txBody>
          <a:bodyPr anchor="t" rtlCol="false" tIns="0" lIns="0" bIns="0" rIns="0">
            <a:spAutoFit/>
          </a:bodyPr>
          <a:lstStyle/>
          <a:p>
            <a:pPr algn="l">
              <a:lnSpc>
                <a:spcPts val="7560"/>
              </a:lnSpc>
            </a:pPr>
            <a:r>
              <a:rPr lang="en-US" sz="7200" b="true">
                <a:solidFill>
                  <a:srgbClr val="006763"/>
                </a:solidFill>
                <a:latin typeface="Bebas Neue Bold"/>
                <a:ea typeface="Bebas Neue Bold"/>
                <a:cs typeface="Bebas Neue Bold"/>
                <a:sym typeface="Bebas Neue Bold"/>
              </a:rPr>
              <a:t>CORE PROBLEM</a:t>
            </a:r>
          </a:p>
        </p:txBody>
      </p:sp>
      <p:sp>
        <p:nvSpPr>
          <p:cNvPr name="TextBox 16" id="16"/>
          <p:cNvSpPr txBox="true"/>
          <p:nvPr/>
        </p:nvSpPr>
        <p:spPr>
          <a:xfrm rot="0">
            <a:off x="1383426" y="3451860"/>
            <a:ext cx="7560825" cy="1653540"/>
          </a:xfrm>
          <a:prstGeom prst="rect">
            <a:avLst/>
          </a:prstGeom>
        </p:spPr>
        <p:txBody>
          <a:bodyPr anchor="t" rtlCol="false" tIns="0" lIns="0" bIns="0" rIns="0">
            <a:spAutoFit/>
          </a:bodyPr>
          <a:lstStyle/>
          <a:p>
            <a:pPr algn="l">
              <a:lnSpc>
                <a:spcPts val="3359"/>
              </a:lnSpc>
            </a:pPr>
            <a:r>
              <a:rPr lang="en-US" sz="2400" b="true">
                <a:solidFill>
                  <a:srgbClr val="006763"/>
                </a:solidFill>
                <a:latin typeface="Canva Sans Bold"/>
                <a:ea typeface="Canva Sans Bold"/>
                <a:cs typeface="Canva Sans Bold"/>
                <a:sym typeface="Canva Sans Bold"/>
              </a:rPr>
              <a:t>Inf</a:t>
            </a:r>
            <a:r>
              <a:rPr lang="en-US" b="true" sz="2400">
                <a:solidFill>
                  <a:srgbClr val="006763"/>
                </a:solidFill>
                <a:latin typeface="Canva Sans Bold"/>
                <a:ea typeface="Canva Sans Bold"/>
                <a:cs typeface="Canva Sans Bold"/>
                <a:sym typeface="Canva Sans Bold"/>
              </a:rPr>
              <a:t>ormation Overload: </a:t>
            </a:r>
          </a:p>
          <a:p>
            <a:pPr algn="l">
              <a:lnSpc>
                <a:spcPts val="3359"/>
              </a:lnSpc>
            </a:pPr>
            <a:r>
              <a:rPr lang="en-US" sz="2400">
                <a:solidFill>
                  <a:srgbClr val="006763"/>
                </a:solidFill>
                <a:latin typeface="Canva Sans"/>
                <a:ea typeface="Canva Sans"/>
                <a:cs typeface="Canva Sans"/>
                <a:sym typeface="Canva Sans"/>
              </a:rPr>
              <a:t>Government finance departments handle thousands of complex orders, budgets, and GST circulars.</a:t>
            </a:r>
          </a:p>
        </p:txBody>
      </p:sp>
      <p:sp>
        <p:nvSpPr>
          <p:cNvPr name="TextBox 17" id="17"/>
          <p:cNvSpPr txBox="true"/>
          <p:nvPr/>
        </p:nvSpPr>
        <p:spPr>
          <a:xfrm rot="0">
            <a:off x="1383426" y="5455176"/>
            <a:ext cx="7560825" cy="1653540"/>
          </a:xfrm>
          <a:prstGeom prst="rect">
            <a:avLst/>
          </a:prstGeom>
        </p:spPr>
        <p:txBody>
          <a:bodyPr anchor="t" rtlCol="false" tIns="0" lIns="0" bIns="0" rIns="0">
            <a:spAutoFit/>
          </a:bodyPr>
          <a:lstStyle/>
          <a:p>
            <a:pPr algn="just">
              <a:lnSpc>
                <a:spcPts val="3359"/>
              </a:lnSpc>
              <a:spcBef>
                <a:spcPct val="0"/>
              </a:spcBef>
            </a:pPr>
            <a:r>
              <a:rPr lang="en-US" b="true" sz="2400">
                <a:solidFill>
                  <a:srgbClr val="006763"/>
                </a:solidFill>
                <a:latin typeface="Canva Sans Bold"/>
                <a:ea typeface="Canva Sans Bold"/>
                <a:cs typeface="Canva Sans Bold"/>
                <a:sym typeface="Canva Sans Bold"/>
              </a:rPr>
              <a:t>The Risks of Manual</a:t>
            </a:r>
            <a:r>
              <a:rPr lang="en-US" b="true" sz="2400">
                <a:solidFill>
                  <a:srgbClr val="006763"/>
                </a:solidFill>
                <a:latin typeface="Canva Sans Bold"/>
                <a:ea typeface="Canva Sans Bold"/>
                <a:cs typeface="Canva Sans Bold"/>
                <a:sym typeface="Canva Sans Bold"/>
              </a:rPr>
              <a:t> Work: </a:t>
            </a:r>
          </a:p>
          <a:p>
            <a:pPr algn="just">
              <a:lnSpc>
                <a:spcPts val="3359"/>
              </a:lnSpc>
              <a:spcBef>
                <a:spcPct val="0"/>
              </a:spcBef>
            </a:pPr>
            <a:r>
              <a:rPr lang="en-US" sz="2400">
                <a:solidFill>
                  <a:srgbClr val="006763"/>
                </a:solidFill>
                <a:latin typeface="Canva Sans"/>
                <a:ea typeface="Canva Sans"/>
                <a:cs typeface="Canva Sans"/>
                <a:sym typeface="Canva Sans"/>
              </a:rPr>
              <a:t>Manual retrieval and drafting lead to critical errors, massive delays, and the accidental citation of outdated or superseded policies.</a:t>
            </a:r>
          </a:p>
        </p:txBody>
      </p:sp>
      <p:sp>
        <p:nvSpPr>
          <p:cNvPr name="TextBox 18" id="18"/>
          <p:cNvSpPr txBox="true"/>
          <p:nvPr/>
        </p:nvSpPr>
        <p:spPr>
          <a:xfrm rot="0">
            <a:off x="1383426" y="7489716"/>
            <a:ext cx="6692992" cy="1636269"/>
          </a:xfrm>
          <a:prstGeom prst="rect">
            <a:avLst/>
          </a:prstGeom>
        </p:spPr>
        <p:txBody>
          <a:bodyPr anchor="t" rtlCol="false" tIns="0" lIns="0" bIns="0" rIns="0">
            <a:spAutoFit/>
          </a:bodyPr>
          <a:lstStyle/>
          <a:p>
            <a:pPr algn="just">
              <a:lnSpc>
                <a:spcPts val="3163"/>
              </a:lnSpc>
              <a:spcBef>
                <a:spcPct val="0"/>
              </a:spcBef>
            </a:pPr>
            <a:r>
              <a:rPr lang="en-US" b="true" sz="2259">
                <a:solidFill>
                  <a:srgbClr val="006763"/>
                </a:solidFill>
                <a:latin typeface="Canva Sans Bold"/>
                <a:ea typeface="Canva Sans Bold"/>
                <a:cs typeface="Canva Sans Bold"/>
                <a:sym typeface="Canva Sans Bold"/>
              </a:rPr>
              <a:t>The Security</a:t>
            </a:r>
            <a:r>
              <a:rPr lang="en-US" b="true" sz="2259">
                <a:solidFill>
                  <a:srgbClr val="006763"/>
                </a:solidFill>
                <a:latin typeface="Canva Sans Bold"/>
                <a:ea typeface="Canva Sans Bold"/>
                <a:cs typeface="Canva Sans Bold"/>
                <a:sym typeface="Canva Sans Bold"/>
              </a:rPr>
              <a:t> Roadblock: </a:t>
            </a:r>
          </a:p>
          <a:p>
            <a:pPr algn="just">
              <a:lnSpc>
                <a:spcPts val="3359"/>
              </a:lnSpc>
              <a:spcBef>
                <a:spcPct val="0"/>
              </a:spcBef>
            </a:pPr>
            <a:r>
              <a:rPr lang="en-US" sz="2400">
                <a:solidFill>
                  <a:srgbClr val="006763"/>
                </a:solidFill>
                <a:latin typeface="Canva Sans"/>
                <a:ea typeface="Canva Sans"/>
                <a:cs typeface="Canva Sans"/>
                <a:sym typeface="Canva Sans"/>
              </a:rPr>
              <a:t>Relying on public cloud AI to  </a:t>
            </a:r>
          </a:p>
          <a:p>
            <a:pPr algn="just">
              <a:lnSpc>
                <a:spcPts val="3359"/>
              </a:lnSpc>
              <a:spcBef>
                <a:spcPct val="0"/>
              </a:spcBef>
            </a:pPr>
            <a:r>
              <a:rPr lang="en-US" sz="2400">
                <a:solidFill>
                  <a:srgbClr val="006763"/>
                </a:solidFill>
                <a:latin typeface="Canva Sans"/>
                <a:ea typeface="Canva Sans"/>
                <a:cs typeface="Canva Sans"/>
                <a:sym typeface="Canva Sans"/>
              </a:rPr>
              <a:t>solve this is impossible due to strict data privacy and Zero-Trust government laws.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0" y="2805274"/>
            <a:ext cx="18288000" cy="7260727"/>
          </a:xfrm>
          <a:custGeom>
            <a:avLst/>
            <a:gdLst/>
            <a:ahLst/>
            <a:cxnLst/>
            <a:rect r="r" b="b" t="t" l="l"/>
            <a:pathLst>
              <a:path h="7260727" w="18288000">
                <a:moveTo>
                  <a:pt x="0" y="0"/>
                </a:moveTo>
                <a:lnTo>
                  <a:pt x="18288000" y="0"/>
                </a:lnTo>
                <a:lnTo>
                  <a:pt x="18288000" y="7260727"/>
                </a:lnTo>
                <a:lnTo>
                  <a:pt x="0" y="7260727"/>
                </a:lnTo>
                <a:lnTo>
                  <a:pt x="0" y="0"/>
                </a:lnTo>
                <a:close/>
              </a:path>
            </a:pathLst>
          </a:custGeom>
          <a:blipFill>
            <a:blip r:embed="rId3"/>
            <a:stretch>
              <a:fillRect l="-13520" t="-252397" r="-11815" b="0"/>
            </a:stretch>
          </a:blipFill>
        </p:spPr>
      </p:sp>
      <p:sp>
        <p:nvSpPr>
          <p:cNvPr name="Freeform 4" id="4"/>
          <p:cNvSpPr/>
          <p:nvPr/>
        </p:nvSpPr>
        <p:spPr>
          <a:xfrm flipH="false" flipV="false" rot="0">
            <a:off x="-2541362" y="973583"/>
            <a:ext cx="8157958" cy="1792672"/>
          </a:xfrm>
          <a:custGeom>
            <a:avLst/>
            <a:gdLst/>
            <a:ahLst/>
            <a:cxnLst/>
            <a:rect r="r" b="b" t="t" l="l"/>
            <a:pathLst>
              <a:path h="1792672" w="8157958">
                <a:moveTo>
                  <a:pt x="0" y="0"/>
                </a:moveTo>
                <a:lnTo>
                  <a:pt x="8157958" y="0"/>
                </a:lnTo>
                <a:lnTo>
                  <a:pt x="8157958" y="1792672"/>
                </a:lnTo>
                <a:lnTo>
                  <a:pt x="0" y="1792672"/>
                </a:lnTo>
                <a:lnTo>
                  <a:pt x="0" y="0"/>
                </a:lnTo>
                <a:close/>
              </a:path>
            </a:pathLst>
          </a:custGeom>
          <a:blipFill>
            <a:blip r:embed="rId4"/>
            <a:stretch>
              <a:fillRect l="0" t="-14712" r="0" b="-8725"/>
            </a:stretch>
          </a:blipFill>
        </p:spPr>
      </p:sp>
      <p:grpSp>
        <p:nvGrpSpPr>
          <p:cNvPr name="Group 5" id="5"/>
          <p:cNvGrpSpPr/>
          <p:nvPr/>
        </p:nvGrpSpPr>
        <p:grpSpPr>
          <a:xfrm rot="0">
            <a:off x="313061" y="3167754"/>
            <a:ext cx="484602" cy="821532"/>
            <a:chOff x="0" y="0"/>
            <a:chExt cx="127632" cy="216371"/>
          </a:xfrm>
        </p:grpSpPr>
        <p:sp>
          <p:nvSpPr>
            <p:cNvPr name="Freeform 6" id="6"/>
            <p:cNvSpPr/>
            <p:nvPr/>
          </p:nvSpPr>
          <p:spPr>
            <a:xfrm flipH="false" flipV="false" rot="0">
              <a:off x="0" y="0"/>
              <a:ext cx="127632" cy="216371"/>
            </a:xfrm>
            <a:custGeom>
              <a:avLst/>
              <a:gdLst/>
              <a:ahLst/>
              <a:cxnLst/>
              <a:rect r="r" b="b" t="t" l="l"/>
              <a:pathLst>
                <a:path h="216371" w="127632">
                  <a:moveTo>
                    <a:pt x="63816" y="0"/>
                  </a:moveTo>
                  <a:lnTo>
                    <a:pt x="63816" y="0"/>
                  </a:lnTo>
                  <a:cubicBezTo>
                    <a:pt x="80741" y="0"/>
                    <a:pt x="96973" y="6723"/>
                    <a:pt x="108941" y="18691"/>
                  </a:cubicBezTo>
                  <a:cubicBezTo>
                    <a:pt x="120908" y="30659"/>
                    <a:pt x="127632" y="46891"/>
                    <a:pt x="127632" y="63816"/>
                  </a:cubicBezTo>
                  <a:lnTo>
                    <a:pt x="127632" y="152555"/>
                  </a:lnTo>
                  <a:cubicBezTo>
                    <a:pt x="127632" y="169480"/>
                    <a:pt x="120908" y="185711"/>
                    <a:pt x="108941" y="197679"/>
                  </a:cubicBezTo>
                  <a:cubicBezTo>
                    <a:pt x="96973" y="209647"/>
                    <a:pt x="80741" y="216371"/>
                    <a:pt x="63816" y="216371"/>
                  </a:cubicBezTo>
                  <a:lnTo>
                    <a:pt x="63816" y="216371"/>
                  </a:lnTo>
                  <a:cubicBezTo>
                    <a:pt x="46891" y="216371"/>
                    <a:pt x="30659" y="209647"/>
                    <a:pt x="18691" y="197679"/>
                  </a:cubicBezTo>
                  <a:cubicBezTo>
                    <a:pt x="6723" y="185711"/>
                    <a:pt x="0" y="169480"/>
                    <a:pt x="0" y="152555"/>
                  </a:cubicBezTo>
                  <a:lnTo>
                    <a:pt x="0" y="63816"/>
                  </a:lnTo>
                  <a:cubicBezTo>
                    <a:pt x="0" y="46891"/>
                    <a:pt x="6723" y="30659"/>
                    <a:pt x="18691" y="18691"/>
                  </a:cubicBezTo>
                  <a:cubicBezTo>
                    <a:pt x="30659" y="6723"/>
                    <a:pt x="46891" y="0"/>
                    <a:pt x="63816" y="0"/>
                  </a:cubicBezTo>
                  <a:close/>
                </a:path>
              </a:pathLst>
            </a:custGeom>
            <a:solidFill>
              <a:srgbClr val="4EA069"/>
            </a:solidFill>
          </p:spPr>
        </p:sp>
        <p:sp>
          <p:nvSpPr>
            <p:cNvPr name="TextBox 7" id="7"/>
            <p:cNvSpPr txBox="true"/>
            <p:nvPr/>
          </p:nvSpPr>
          <p:spPr>
            <a:xfrm>
              <a:off x="0" y="-38100"/>
              <a:ext cx="127632"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313061" y="4923021"/>
            <a:ext cx="484602" cy="821532"/>
            <a:chOff x="0" y="0"/>
            <a:chExt cx="127632" cy="216371"/>
          </a:xfrm>
        </p:grpSpPr>
        <p:sp>
          <p:nvSpPr>
            <p:cNvPr name="Freeform 9" id="9"/>
            <p:cNvSpPr/>
            <p:nvPr/>
          </p:nvSpPr>
          <p:spPr>
            <a:xfrm flipH="false" flipV="false" rot="0">
              <a:off x="0" y="0"/>
              <a:ext cx="127632" cy="216371"/>
            </a:xfrm>
            <a:custGeom>
              <a:avLst/>
              <a:gdLst/>
              <a:ahLst/>
              <a:cxnLst/>
              <a:rect r="r" b="b" t="t" l="l"/>
              <a:pathLst>
                <a:path h="216371" w="127632">
                  <a:moveTo>
                    <a:pt x="63816" y="0"/>
                  </a:moveTo>
                  <a:lnTo>
                    <a:pt x="63816" y="0"/>
                  </a:lnTo>
                  <a:cubicBezTo>
                    <a:pt x="80741" y="0"/>
                    <a:pt x="96973" y="6723"/>
                    <a:pt x="108941" y="18691"/>
                  </a:cubicBezTo>
                  <a:cubicBezTo>
                    <a:pt x="120908" y="30659"/>
                    <a:pt x="127632" y="46891"/>
                    <a:pt x="127632" y="63816"/>
                  </a:cubicBezTo>
                  <a:lnTo>
                    <a:pt x="127632" y="152555"/>
                  </a:lnTo>
                  <a:cubicBezTo>
                    <a:pt x="127632" y="169480"/>
                    <a:pt x="120908" y="185711"/>
                    <a:pt x="108941" y="197679"/>
                  </a:cubicBezTo>
                  <a:cubicBezTo>
                    <a:pt x="96973" y="209647"/>
                    <a:pt x="80741" y="216371"/>
                    <a:pt x="63816" y="216371"/>
                  </a:cubicBezTo>
                  <a:lnTo>
                    <a:pt x="63816" y="216371"/>
                  </a:lnTo>
                  <a:cubicBezTo>
                    <a:pt x="46891" y="216371"/>
                    <a:pt x="30659" y="209647"/>
                    <a:pt x="18691" y="197679"/>
                  </a:cubicBezTo>
                  <a:cubicBezTo>
                    <a:pt x="6723" y="185711"/>
                    <a:pt x="0" y="169480"/>
                    <a:pt x="0" y="152555"/>
                  </a:cubicBezTo>
                  <a:lnTo>
                    <a:pt x="0" y="63816"/>
                  </a:lnTo>
                  <a:cubicBezTo>
                    <a:pt x="0" y="46891"/>
                    <a:pt x="6723" y="30659"/>
                    <a:pt x="18691" y="18691"/>
                  </a:cubicBezTo>
                  <a:cubicBezTo>
                    <a:pt x="30659" y="6723"/>
                    <a:pt x="46891" y="0"/>
                    <a:pt x="63816" y="0"/>
                  </a:cubicBezTo>
                  <a:close/>
                </a:path>
              </a:pathLst>
            </a:custGeom>
            <a:solidFill>
              <a:srgbClr val="4EA069"/>
            </a:solidFill>
          </p:spPr>
        </p:sp>
        <p:sp>
          <p:nvSpPr>
            <p:cNvPr name="TextBox 10" id="10"/>
            <p:cNvSpPr txBox="true"/>
            <p:nvPr/>
          </p:nvSpPr>
          <p:spPr>
            <a:xfrm>
              <a:off x="0" y="-38100"/>
              <a:ext cx="127632"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79394" y="7389303"/>
            <a:ext cx="487824" cy="821532"/>
            <a:chOff x="0" y="0"/>
            <a:chExt cx="128480" cy="216371"/>
          </a:xfrm>
        </p:grpSpPr>
        <p:sp>
          <p:nvSpPr>
            <p:cNvPr name="Freeform 12" id="12"/>
            <p:cNvSpPr/>
            <p:nvPr/>
          </p:nvSpPr>
          <p:spPr>
            <a:xfrm flipH="false" flipV="false" rot="0">
              <a:off x="0" y="0"/>
              <a:ext cx="128480" cy="216371"/>
            </a:xfrm>
            <a:custGeom>
              <a:avLst/>
              <a:gdLst/>
              <a:ahLst/>
              <a:cxnLst/>
              <a:rect r="r" b="b" t="t" l="l"/>
              <a:pathLst>
                <a:path h="216371" w="128480">
                  <a:moveTo>
                    <a:pt x="64240" y="0"/>
                  </a:moveTo>
                  <a:lnTo>
                    <a:pt x="64240" y="0"/>
                  </a:lnTo>
                  <a:cubicBezTo>
                    <a:pt x="81278" y="0"/>
                    <a:pt x="97617" y="6768"/>
                    <a:pt x="109665" y="18816"/>
                  </a:cubicBezTo>
                  <a:cubicBezTo>
                    <a:pt x="121712" y="30863"/>
                    <a:pt x="128480" y="47203"/>
                    <a:pt x="128480" y="64240"/>
                  </a:cubicBezTo>
                  <a:lnTo>
                    <a:pt x="128480" y="152130"/>
                  </a:lnTo>
                  <a:cubicBezTo>
                    <a:pt x="128480" y="187609"/>
                    <a:pt x="99719" y="216371"/>
                    <a:pt x="64240" y="216371"/>
                  </a:cubicBezTo>
                  <a:lnTo>
                    <a:pt x="64240" y="216371"/>
                  </a:lnTo>
                  <a:cubicBezTo>
                    <a:pt x="28761" y="216371"/>
                    <a:pt x="0" y="187609"/>
                    <a:pt x="0" y="152130"/>
                  </a:cubicBezTo>
                  <a:lnTo>
                    <a:pt x="0" y="64240"/>
                  </a:lnTo>
                  <a:cubicBezTo>
                    <a:pt x="0" y="28761"/>
                    <a:pt x="28761" y="0"/>
                    <a:pt x="64240" y="0"/>
                  </a:cubicBezTo>
                  <a:close/>
                </a:path>
              </a:pathLst>
            </a:custGeom>
            <a:solidFill>
              <a:srgbClr val="4EA069"/>
            </a:solidFill>
          </p:spPr>
        </p:sp>
        <p:sp>
          <p:nvSpPr>
            <p:cNvPr name="TextBox 13" id="13"/>
            <p:cNvSpPr txBox="true"/>
            <p:nvPr/>
          </p:nvSpPr>
          <p:spPr>
            <a:xfrm>
              <a:off x="0" y="-38100"/>
              <a:ext cx="128480" cy="254471"/>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7974431" y="2938816"/>
            <a:ext cx="9791641" cy="6695252"/>
          </a:xfrm>
          <a:custGeom>
            <a:avLst/>
            <a:gdLst/>
            <a:ahLst/>
            <a:cxnLst/>
            <a:rect r="r" b="b" t="t" l="l"/>
            <a:pathLst>
              <a:path h="6695252" w="9791641">
                <a:moveTo>
                  <a:pt x="0" y="0"/>
                </a:moveTo>
                <a:lnTo>
                  <a:pt x="9791641" y="0"/>
                </a:lnTo>
                <a:lnTo>
                  <a:pt x="9791641" y="6695253"/>
                </a:lnTo>
                <a:lnTo>
                  <a:pt x="0" y="6695253"/>
                </a:lnTo>
                <a:lnTo>
                  <a:pt x="0" y="0"/>
                </a:lnTo>
                <a:close/>
              </a:path>
            </a:pathLst>
          </a:custGeom>
          <a:blipFill>
            <a:blip r:embed="rId5"/>
            <a:stretch>
              <a:fillRect l="-28836" t="-28740" r="-32958" b="-3767"/>
            </a:stretch>
          </a:blipFill>
        </p:spPr>
      </p:sp>
      <p:sp>
        <p:nvSpPr>
          <p:cNvPr name="TextBox 15" id="15"/>
          <p:cNvSpPr txBox="true"/>
          <p:nvPr/>
        </p:nvSpPr>
        <p:spPr>
          <a:xfrm rot="0">
            <a:off x="987296" y="3110604"/>
            <a:ext cx="6537218" cy="1279017"/>
          </a:xfrm>
          <a:prstGeom prst="rect">
            <a:avLst/>
          </a:prstGeom>
        </p:spPr>
        <p:txBody>
          <a:bodyPr anchor="t" rtlCol="false" tIns="0" lIns="0" bIns="0" rIns="0">
            <a:spAutoFit/>
          </a:bodyPr>
          <a:lstStyle/>
          <a:p>
            <a:pPr algn="l">
              <a:lnSpc>
                <a:spcPts val="3383"/>
              </a:lnSpc>
            </a:pPr>
            <a:r>
              <a:rPr lang="en-US" sz="2400" b="true">
                <a:solidFill>
                  <a:srgbClr val="006763"/>
                </a:solidFill>
                <a:latin typeface="Roboto Bold"/>
                <a:ea typeface="Roboto Bold"/>
                <a:cs typeface="Roboto Bold"/>
                <a:sym typeface="Roboto Bold"/>
              </a:rPr>
              <a:t>The KIP Platform: </a:t>
            </a:r>
          </a:p>
          <a:p>
            <a:pPr algn="l">
              <a:lnSpc>
                <a:spcPts val="3383"/>
              </a:lnSpc>
            </a:pPr>
            <a:r>
              <a:rPr lang="en-US" sz="2400">
                <a:solidFill>
                  <a:srgbClr val="006763"/>
                </a:solidFill>
                <a:latin typeface="Roboto"/>
                <a:ea typeface="Roboto"/>
                <a:cs typeface="Roboto"/>
                <a:sym typeface="Roboto"/>
              </a:rPr>
              <a:t>A completely offline, air-gapped Enterprise AI Knowledge Platform.</a:t>
            </a:r>
          </a:p>
        </p:txBody>
      </p:sp>
      <p:sp>
        <p:nvSpPr>
          <p:cNvPr name="TextBox 16" id="16"/>
          <p:cNvSpPr txBox="true"/>
          <p:nvPr/>
        </p:nvSpPr>
        <p:spPr>
          <a:xfrm rot="0">
            <a:off x="493518" y="1391764"/>
            <a:ext cx="5227853" cy="984885"/>
          </a:xfrm>
          <a:prstGeom prst="rect">
            <a:avLst/>
          </a:prstGeom>
        </p:spPr>
        <p:txBody>
          <a:bodyPr anchor="t" rtlCol="false" tIns="0" lIns="0" bIns="0" rIns="0">
            <a:spAutoFit/>
          </a:bodyPr>
          <a:lstStyle/>
          <a:p>
            <a:pPr algn="l">
              <a:lnSpc>
                <a:spcPts val="7560"/>
              </a:lnSpc>
            </a:pPr>
            <a:r>
              <a:rPr lang="en-US" sz="7200" b="true">
                <a:solidFill>
                  <a:srgbClr val="006763"/>
                </a:solidFill>
                <a:latin typeface="Bebas Neue Bold"/>
                <a:ea typeface="Bebas Neue Bold"/>
                <a:cs typeface="Bebas Neue Bold"/>
                <a:sym typeface="Bebas Neue Bold"/>
              </a:rPr>
              <a:t>OUR SOLUTION</a:t>
            </a:r>
          </a:p>
        </p:txBody>
      </p:sp>
      <p:sp>
        <p:nvSpPr>
          <p:cNvPr name="TextBox 17" id="17"/>
          <p:cNvSpPr txBox="true"/>
          <p:nvPr/>
        </p:nvSpPr>
        <p:spPr>
          <a:xfrm rot="0">
            <a:off x="321740" y="3290980"/>
            <a:ext cx="487495"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01</a:t>
            </a:r>
          </a:p>
        </p:txBody>
      </p:sp>
      <p:sp>
        <p:nvSpPr>
          <p:cNvPr name="TextBox 18" id="18"/>
          <p:cNvSpPr txBox="true"/>
          <p:nvPr/>
        </p:nvSpPr>
        <p:spPr>
          <a:xfrm rot="0">
            <a:off x="307275" y="5072824"/>
            <a:ext cx="487495"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02</a:t>
            </a:r>
          </a:p>
        </p:txBody>
      </p:sp>
      <p:sp>
        <p:nvSpPr>
          <p:cNvPr name="TextBox 19" id="19"/>
          <p:cNvSpPr txBox="true"/>
          <p:nvPr/>
        </p:nvSpPr>
        <p:spPr>
          <a:xfrm rot="0">
            <a:off x="307275" y="7539107"/>
            <a:ext cx="432062"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03</a:t>
            </a:r>
          </a:p>
        </p:txBody>
      </p:sp>
      <p:sp>
        <p:nvSpPr>
          <p:cNvPr name="TextBox 20" id="20"/>
          <p:cNvSpPr txBox="true"/>
          <p:nvPr/>
        </p:nvSpPr>
        <p:spPr>
          <a:xfrm rot="0">
            <a:off x="984403" y="4865871"/>
            <a:ext cx="6742378" cy="1707642"/>
          </a:xfrm>
          <a:prstGeom prst="rect">
            <a:avLst/>
          </a:prstGeom>
        </p:spPr>
        <p:txBody>
          <a:bodyPr anchor="t" rtlCol="false" tIns="0" lIns="0" bIns="0" rIns="0">
            <a:spAutoFit/>
          </a:bodyPr>
          <a:lstStyle/>
          <a:p>
            <a:pPr algn="l">
              <a:lnSpc>
                <a:spcPts val="3383"/>
              </a:lnSpc>
            </a:pPr>
            <a:r>
              <a:rPr lang="en-US" sz="2400" b="true">
                <a:solidFill>
                  <a:srgbClr val="006763"/>
                </a:solidFill>
                <a:latin typeface="Roboto Bold"/>
                <a:ea typeface="Roboto Bold"/>
                <a:cs typeface="Roboto Bold"/>
                <a:sym typeface="Roboto Bold"/>
              </a:rPr>
              <a:t>How It Works: </a:t>
            </a:r>
          </a:p>
          <a:p>
            <a:pPr algn="l">
              <a:lnSpc>
                <a:spcPts val="3383"/>
              </a:lnSpc>
            </a:pPr>
            <a:r>
              <a:rPr lang="en-US" sz="2400">
                <a:solidFill>
                  <a:srgbClr val="006763"/>
                </a:solidFill>
                <a:latin typeface="Roboto"/>
                <a:ea typeface="Roboto"/>
                <a:cs typeface="Roboto"/>
                <a:sym typeface="Roboto"/>
              </a:rPr>
              <a:t>We ingest raw PDFs, perform local OCR, and use secure vector embeddings to make every financial document instantly searchable.</a:t>
            </a:r>
          </a:p>
        </p:txBody>
      </p:sp>
      <p:sp>
        <p:nvSpPr>
          <p:cNvPr name="TextBox 21" id="21"/>
          <p:cNvSpPr txBox="true"/>
          <p:nvPr/>
        </p:nvSpPr>
        <p:spPr>
          <a:xfrm rot="0">
            <a:off x="909971" y="7348895"/>
            <a:ext cx="6344346" cy="1707642"/>
          </a:xfrm>
          <a:prstGeom prst="rect">
            <a:avLst/>
          </a:prstGeom>
        </p:spPr>
        <p:txBody>
          <a:bodyPr anchor="t" rtlCol="false" tIns="0" lIns="0" bIns="0" rIns="0">
            <a:spAutoFit/>
          </a:bodyPr>
          <a:lstStyle/>
          <a:p>
            <a:pPr algn="l">
              <a:lnSpc>
                <a:spcPts val="3383"/>
              </a:lnSpc>
            </a:pPr>
            <a:r>
              <a:rPr lang="en-US" sz="2400" b="true">
                <a:solidFill>
                  <a:srgbClr val="006763"/>
                </a:solidFill>
                <a:latin typeface="Roboto Bold"/>
                <a:ea typeface="Roboto Bold"/>
                <a:cs typeface="Roboto Bold"/>
                <a:sym typeface="Roboto Bold"/>
              </a:rPr>
              <a:t>Total Security: </a:t>
            </a:r>
          </a:p>
          <a:p>
            <a:pPr algn="l">
              <a:lnSpc>
                <a:spcPts val="3383"/>
              </a:lnSpc>
            </a:pPr>
            <a:r>
              <a:rPr lang="en-US" sz="2400">
                <a:solidFill>
                  <a:srgbClr val="006763"/>
                </a:solidFill>
                <a:latin typeface="Roboto"/>
                <a:ea typeface="Roboto"/>
                <a:cs typeface="Roboto"/>
                <a:sym typeface="Roboto"/>
              </a:rPr>
              <a:t>All generative AI drafting, natural language search, and data processing happens 100% locally. The data never leaves the premises.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FFDE"/>
        </a:solidFill>
      </p:bgPr>
    </p:bg>
    <p:spTree>
      <p:nvGrpSpPr>
        <p:cNvPr id="1" name=""/>
        <p:cNvGrpSpPr/>
        <p:nvPr/>
      </p:nvGrpSpPr>
      <p:grpSpPr>
        <a:xfrm>
          <a:off x="0" y="0"/>
          <a:ext cx="0" cy="0"/>
          <a:chOff x="0" y="0"/>
          <a:chExt cx="0" cy="0"/>
        </a:xfrm>
      </p:grpSpPr>
      <p:sp>
        <p:nvSpPr>
          <p:cNvPr name="Freeform 2" id="2"/>
          <p:cNvSpPr/>
          <p:nvPr/>
        </p:nvSpPr>
        <p:spPr>
          <a:xfrm flipH="false" flipV="false" rot="0">
            <a:off x="3810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FD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2469"/>
          </a:xfrm>
          <a:custGeom>
            <a:avLst/>
            <a:gdLst/>
            <a:ahLst/>
            <a:cxnLst/>
            <a:rect r="r" b="b" t="t" l="l"/>
            <a:pathLst>
              <a:path h="10292469" w="18288000">
                <a:moveTo>
                  <a:pt x="0" y="0"/>
                </a:moveTo>
                <a:lnTo>
                  <a:pt x="18288000" y="0"/>
                </a:lnTo>
                <a:lnTo>
                  <a:pt x="18288000" y="10292469"/>
                </a:lnTo>
                <a:lnTo>
                  <a:pt x="0" y="10292469"/>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0" y="2832926"/>
            <a:ext cx="18288000" cy="7260727"/>
          </a:xfrm>
          <a:custGeom>
            <a:avLst/>
            <a:gdLst/>
            <a:ahLst/>
            <a:cxnLst/>
            <a:rect r="r" b="b" t="t" l="l"/>
            <a:pathLst>
              <a:path h="7260727" w="18288000">
                <a:moveTo>
                  <a:pt x="0" y="0"/>
                </a:moveTo>
                <a:lnTo>
                  <a:pt x="18288000" y="0"/>
                </a:lnTo>
                <a:lnTo>
                  <a:pt x="18288000" y="7260727"/>
                </a:lnTo>
                <a:lnTo>
                  <a:pt x="0" y="7260727"/>
                </a:lnTo>
                <a:lnTo>
                  <a:pt x="0" y="0"/>
                </a:lnTo>
                <a:close/>
              </a:path>
            </a:pathLst>
          </a:custGeom>
          <a:blipFill>
            <a:blip r:embed="rId3"/>
            <a:stretch>
              <a:fillRect l="-13520" t="-252397" r="-11815" b="0"/>
            </a:stretch>
          </a:blipFill>
        </p:spPr>
      </p:sp>
      <p:sp>
        <p:nvSpPr>
          <p:cNvPr name="Freeform 4" id="4"/>
          <p:cNvSpPr/>
          <p:nvPr/>
        </p:nvSpPr>
        <p:spPr>
          <a:xfrm flipH="false" flipV="false" rot="0">
            <a:off x="-610019" y="439510"/>
            <a:ext cx="10495384" cy="2393416"/>
          </a:xfrm>
          <a:custGeom>
            <a:avLst/>
            <a:gdLst/>
            <a:ahLst/>
            <a:cxnLst/>
            <a:rect r="r" b="b" t="t" l="l"/>
            <a:pathLst>
              <a:path h="2393416" w="10495384">
                <a:moveTo>
                  <a:pt x="0" y="0"/>
                </a:moveTo>
                <a:lnTo>
                  <a:pt x="10495384" y="0"/>
                </a:lnTo>
                <a:lnTo>
                  <a:pt x="10495384" y="2393416"/>
                </a:lnTo>
                <a:lnTo>
                  <a:pt x="0" y="2393416"/>
                </a:lnTo>
                <a:lnTo>
                  <a:pt x="0" y="0"/>
                </a:lnTo>
                <a:close/>
              </a:path>
            </a:pathLst>
          </a:custGeom>
          <a:blipFill>
            <a:blip r:embed="rId4"/>
            <a:stretch>
              <a:fillRect l="0" t="-12357" r="0" b="-6588"/>
            </a:stretch>
          </a:blipFill>
        </p:spPr>
      </p:sp>
      <p:grpSp>
        <p:nvGrpSpPr>
          <p:cNvPr name="Group 5" id="5"/>
          <p:cNvGrpSpPr/>
          <p:nvPr/>
        </p:nvGrpSpPr>
        <p:grpSpPr>
          <a:xfrm rot="0">
            <a:off x="13342820" y="227843"/>
            <a:ext cx="3238728" cy="761037"/>
            <a:chOff x="0" y="0"/>
            <a:chExt cx="852998" cy="200438"/>
          </a:xfrm>
        </p:grpSpPr>
        <p:sp>
          <p:nvSpPr>
            <p:cNvPr name="Freeform 6" id="6"/>
            <p:cNvSpPr/>
            <p:nvPr/>
          </p:nvSpPr>
          <p:spPr>
            <a:xfrm flipH="false" flipV="false" rot="0">
              <a:off x="0" y="0"/>
              <a:ext cx="852998" cy="200438"/>
            </a:xfrm>
            <a:custGeom>
              <a:avLst/>
              <a:gdLst/>
              <a:ahLst/>
              <a:cxnLst/>
              <a:rect r="r" b="b" t="t" l="l"/>
              <a:pathLst>
                <a:path h="200438" w="852998">
                  <a:moveTo>
                    <a:pt x="33466" y="0"/>
                  </a:moveTo>
                  <a:lnTo>
                    <a:pt x="819532" y="0"/>
                  </a:lnTo>
                  <a:cubicBezTo>
                    <a:pt x="838015" y="0"/>
                    <a:pt x="852998" y="14983"/>
                    <a:pt x="852998" y="33466"/>
                  </a:cubicBezTo>
                  <a:lnTo>
                    <a:pt x="852998" y="166972"/>
                  </a:lnTo>
                  <a:cubicBezTo>
                    <a:pt x="852998" y="185455"/>
                    <a:pt x="838015" y="200438"/>
                    <a:pt x="819532" y="200438"/>
                  </a:cubicBezTo>
                  <a:lnTo>
                    <a:pt x="33466" y="200438"/>
                  </a:lnTo>
                  <a:cubicBezTo>
                    <a:pt x="14983" y="200438"/>
                    <a:pt x="0" y="185455"/>
                    <a:pt x="0" y="166972"/>
                  </a:cubicBezTo>
                  <a:lnTo>
                    <a:pt x="0" y="33466"/>
                  </a:lnTo>
                  <a:cubicBezTo>
                    <a:pt x="0" y="14983"/>
                    <a:pt x="14983" y="0"/>
                    <a:pt x="33466" y="0"/>
                  </a:cubicBezTo>
                  <a:close/>
                </a:path>
              </a:pathLst>
            </a:custGeom>
            <a:solidFill>
              <a:srgbClr val="4EA069"/>
            </a:solidFill>
          </p:spPr>
        </p:sp>
        <p:sp>
          <p:nvSpPr>
            <p:cNvPr name="TextBox 7" id="7"/>
            <p:cNvSpPr txBox="true"/>
            <p:nvPr/>
          </p:nvSpPr>
          <p:spPr>
            <a:xfrm>
              <a:off x="0" y="-38100"/>
              <a:ext cx="852998" cy="23853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340952" y="3280073"/>
            <a:ext cx="3875494" cy="761037"/>
            <a:chOff x="0" y="0"/>
            <a:chExt cx="1020706" cy="200438"/>
          </a:xfrm>
        </p:grpSpPr>
        <p:sp>
          <p:nvSpPr>
            <p:cNvPr name="Freeform 9" id="9"/>
            <p:cNvSpPr/>
            <p:nvPr/>
          </p:nvSpPr>
          <p:spPr>
            <a:xfrm flipH="false" flipV="false" rot="0">
              <a:off x="0" y="0"/>
              <a:ext cx="1020706" cy="200438"/>
            </a:xfrm>
            <a:custGeom>
              <a:avLst/>
              <a:gdLst/>
              <a:ahLst/>
              <a:cxnLst/>
              <a:rect r="r" b="b" t="t" l="l"/>
              <a:pathLst>
                <a:path h="200438" w="1020706">
                  <a:moveTo>
                    <a:pt x="27967" y="0"/>
                  </a:moveTo>
                  <a:lnTo>
                    <a:pt x="992739" y="0"/>
                  </a:lnTo>
                  <a:cubicBezTo>
                    <a:pt x="1000156" y="0"/>
                    <a:pt x="1007270" y="2947"/>
                    <a:pt x="1012515" y="8191"/>
                  </a:cubicBezTo>
                  <a:cubicBezTo>
                    <a:pt x="1017760" y="13436"/>
                    <a:pt x="1020706" y="20550"/>
                    <a:pt x="1020706" y="27967"/>
                  </a:cubicBezTo>
                  <a:lnTo>
                    <a:pt x="1020706" y="172470"/>
                  </a:lnTo>
                  <a:cubicBezTo>
                    <a:pt x="1020706" y="179888"/>
                    <a:pt x="1017760" y="187001"/>
                    <a:pt x="1012515" y="192246"/>
                  </a:cubicBezTo>
                  <a:cubicBezTo>
                    <a:pt x="1007270" y="197491"/>
                    <a:pt x="1000156" y="200438"/>
                    <a:pt x="992739" y="200438"/>
                  </a:cubicBezTo>
                  <a:lnTo>
                    <a:pt x="27967" y="200438"/>
                  </a:lnTo>
                  <a:cubicBezTo>
                    <a:pt x="20550" y="200438"/>
                    <a:pt x="13436" y="197491"/>
                    <a:pt x="8191" y="192246"/>
                  </a:cubicBezTo>
                  <a:cubicBezTo>
                    <a:pt x="2947" y="187001"/>
                    <a:pt x="0" y="179888"/>
                    <a:pt x="0" y="172470"/>
                  </a:cubicBezTo>
                  <a:lnTo>
                    <a:pt x="0" y="27967"/>
                  </a:lnTo>
                  <a:cubicBezTo>
                    <a:pt x="0" y="20550"/>
                    <a:pt x="2947" y="13436"/>
                    <a:pt x="8191" y="8191"/>
                  </a:cubicBezTo>
                  <a:cubicBezTo>
                    <a:pt x="13436" y="2947"/>
                    <a:pt x="20550" y="0"/>
                    <a:pt x="27967" y="0"/>
                  </a:cubicBezTo>
                  <a:close/>
                </a:path>
              </a:pathLst>
            </a:custGeom>
            <a:solidFill>
              <a:srgbClr val="4EA069"/>
            </a:solidFill>
          </p:spPr>
        </p:sp>
        <p:sp>
          <p:nvSpPr>
            <p:cNvPr name="TextBox 10" id="10"/>
            <p:cNvSpPr txBox="true"/>
            <p:nvPr/>
          </p:nvSpPr>
          <p:spPr>
            <a:xfrm>
              <a:off x="0" y="-38100"/>
              <a:ext cx="1020706" cy="23853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2979091" y="6123275"/>
            <a:ext cx="4836718" cy="761037"/>
            <a:chOff x="0" y="0"/>
            <a:chExt cx="1273868" cy="200438"/>
          </a:xfrm>
        </p:grpSpPr>
        <p:sp>
          <p:nvSpPr>
            <p:cNvPr name="Freeform 12" id="12"/>
            <p:cNvSpPr/>
            <p:nvPr/>
          </p:nvSpPr>
          <p:spPr>
            <a:xfrm flipH="false" flipV="false" rot="0">
              <a:off x="0" y="0"/>
              <a:ext cx="1273868" cy="200438"/>
            </a:xfrm>
            <a:custGeom>
              <a:avLst/>
              <a:gdLst/>
              <a:ahLst/>
              <a:cxnLst/>
              <a:rect r="r" b="b" t="t" l="l"/>
              <a:pathLst>
                <a:path h="200438" w="1273868">
                  <a:moveTo>
                    <a:pt x="22409" y="0"/>
                  </a:moveTo>
                  <a:lnTo>
                    <a:pt x="1251459" y="0"/>
                  </a:lnTo>
                  <a:cubicBezTo>
                    <a:pt x="1257402" y="0"/>
                    <a:pt x="1263102" y="2361"/>
                    <a:pt x="1267305" y="6563"/>
                  </a:cubicBezTo>
                  <a:cubicBezTo>
                    <a:pt x="1271507" y="10766"/>
                    <a:pt x="1273868" y="16466"/>
                    <a:pt x="1273868" y="22409"/>
                  </a:cubicBezTo>
                  <a:lnTo>
                    <a:pt x="1273868" y="178029"/>
                  </a:lnTo>
                  <a:cubicBezTo>
                    <a:pt x="1273868" y="183972"/>
                    <a:pt x="1271507" y="189672"/>
                    <a:pt x="1267305" y="193874"/>
                  </a:cubicBezTo>
                  <a:cubicBezTo>
                    <a:pt x="1263102" y="198077"/>
                    <a:pt x="1257402" y="200438"/>
                    <a:pt x="1251459" y="200438"/>
                  </a:cubicBezTo>
                  <a:lnTo>
                    <a:pt x="22409" y="200438"/>
                  </a:lnTo>
                  <a:cubicBezTo>
                    <a:pt x="10033" y="200438"/>
                    <a:pt x="0" y="190405"/>
                    <a:pt x="0" y="178029"/>
                  </a:cubicBezTo>
                  <a:lnTo>
                    <a:pt x="0" y="22409"/>
                  </a:lnTo>
                  <a:cubicBezTo>
                    <a:pt x="0" y="10033"/>
                    <a:pt x="10033" y="0"/>
                    <a:pt x="22409" y="0"/>
                  </a:cubicBezTo>
                  <a:close/>
                </a:path>
              </a:pathLst>
            </a:custGeom>
            <a:solidFill>
              <a:srgbClr val="4EA069"/>
            </a:solidFill>
          </p:spPr>
        </p:sp>
        <p:sp>
          <p:nvSpPr>
            <p:cNvPr name="TextBox 13" id="13"/>
            <p:cNvSpPr txBox="true"/>
            <p:nvPr/>
          </p:nvSpPr>
          <p:spPr>
            <a:xfrm>
              <a:off x="0" y="-38100"/>
              <a:ext cx="1273868" cy="238538"/>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42957" y="2832926"/>
            <a:ext cx="12175164" cy="5917517"/>
          </a:xfrm>
          <a:custGeom>
            <a:avLst/>
            <a:gdLst/>
            <a:ahLst/>
            <a:cxnLst/>
            <a:rect r="r" b="b" t="t" l="l"/>
            <a:pathLst>
              <a:path h="5917517" w="12175164">
                <a:moveTo>
                  <a:pt x="0" y="0"/>
                </a:moveTo>
                <a:lnTo>
                  <a:pt x="12175165" y="0"/>
                </a:lnTo>
                <a:lnTo>
                  <a:pt x="12175165" y="5917517"/>
                </a:lnTo>
                <a:lnTo>
                  <a:pt x="0" y="5917517"/>
                </a:lnTo>
                <a:lnTo>
                  <a:pt x="0" y="0"/>
                </a:lnTo>
                <a:close/>
              </a:path>
            </a:pathLst>
          </a:custGeom>
          <a:blipFill>
            <a:blip r:embed="rId5"/>
            <a:stretch>
              <a:fillRect l="0" t="-15719" r="0" b="-13"/>
            </a:stretch>
          </a:blipFill>
        </p:spPr>
      </p:sp>
      <p:sp>
        <p:nvSpPr>
          <p:cNvPr name="TextBox 15" id="15"/>
          <p:cNvSpPr txBox="true"/>
          <p:nvPr/>
        </p:nvSpPr>
        <p:spPr>
          <a:xfrm rot="0">
            <a:off x="703892" y="1093655"/>
            <a:ext cx="8266372" cy="984885"/>
          </a:xfrm>
          <a:prstGeom prst="rect">
            <a:avLst/>
          </a:prstGeom>
        </p:spPr>
        <p:txBody>
          <a:bodyPr anchor="t" rtlCol="false" tIns="0" lIns="0" bIns="0" rIns="0">
            <a:spAutoFit/>
          </a:bodyPr>
          <a:lstStyle/>
          <a:p>
            <a:pPr algn="l">
              <a:lnSpc>
                <a:spcPts val="7560"/>
              </a:lnSpc>
            </a:pPr>
            <a:r>
              <a:rPr lang="en-US" sz="7200" b="true">
                <a:solidFill>
                  <a:srgbClr val="006763"/>
                </a:solidFill>
                <a:latin typeface="Bebas Neue Bold"/>
                <a:ea typeface="Bebas Neue Bold"/>
                <a:cs typeface="Bebas Neue Bold"/>
                <a:sym typeface="Bebas Neue Bold"/>
              </a:rPr>
              <a:t>THE JOURNEY FROM ROUND 1</a:t>
            </a:r>
          </a:p>
        </p:txBody>
      </p:sp>
      <p:sp>
        <p:nvSpPr>
          <p:cNvPr name="TextBox 16" id="16"/>
          <p:cNvSpPr txBox="true"/>
          <p:nvPr/>
        </p:nvSpPr>
        <p:spPr>
          <a:xfrm rot="0">
            <a:off x="12725416" y="1040251"/>
            <a:ext cx="4965952" cy="1653540"/>
          </a:xfrm>
          <a:prstGeom prst="rect">
            <a:avLst/>
          </a:prstGeom>
        </p:spPr>
        <p:txBody>
          <a:bodyPr anchor="t" rtlCol="false" tIns="0" lIns="0" bIns="0" rIns="0">
            <a:spAutoFit/>
          </a:bodyPr>
          <a:lstStyle/>
          <a:p>
            <a:pPr algn="ctr">
              <a:lnSpc>
                <a:spcPts val="3359"/>
              </a:lnSpc>
            </a:pPr>
            <a:r>
              <a:rPr lang="en-US" sz="2400">
                <a:solidFill>
                  <a:srgbClr val="006763"/>
                </a:solidFill>
                <a:latin typeface="Canva Sans"/>
                <a:ea typeface="Canva Sans"/>
                <a:cs typeface="Canva Sans"/>
                <a:sym typeface="Canva Sans"/>
              </a:rPr>
              <a:t>We deeply appreciated the Round 1 feedback. It challenged us to elevate our prototype into an enterprise-grade solution.</a:t>
            </a:r>
          </a:p>
        </p:txBody>
      </p:sp>
      <p:sp>
        <p:nvSpPr>
          <p:cNvPr name="TextBox 17" id="17"/>
          <p:cNvSpPr txBox="true"/>
          <p:nvPr/>
        </p:nvSpPr>
        <p:spPr>
          <a:xfrm rot="0">
            <a:off x="13527352" y="4298285"/>
            <a:ext cx="4114295" cy="1234440"/>
          </a:xfrm>
          <a:prstGeom prst="rect">
            <a:avLst/>
          </a:prstGeom>
        </p:spPr>
        <p:txBody>
          <a:bodyPr anchor="t" rtlCol="false" tIns="0" lIns="0" bIns="0" rIns="0">
            <a:spAutoFit/>
          </a:bodyPr>
          <a:lstStyle/>
          <a:p>
            <a:pPr algn="ctr">
              <a:lnSpc>
                <a:spcPts val="3359"/>
              </a:lnSpc>
            </a:pPr>
            <a:r>
              <a:rPr lang="en-US" sz="2400">
                <a:solidFill>
                  <a:srgbClr val="006763"/>
                </a:solidFill>
                <a:latin typeface="Canva Sans"/>
                <a:ea typeface="Canva Sans"/>
                <a:cs typeface="Canva Sans"/>
                <a:sym typeface="Canva Sans"/>
              </a:rPr>
              <a:t>You provided us with 8 specific "Missing Features &amp; Areas for Enhancement."</a:t>
            </a:r>
          </a:p>
        </p:txBody>
      </p:sp>
      <p:sp>
        <p:nvSpPr>
          <p:cNvPr name="TextBox 18" id="18"/>
          <p:cNvSpPr txBox="true"/>
          <p:nvPr/>
        </p:nvSpPr>
        <p:spPr>
          <a:xfrm rot="0">
            <a:off x="12668969" y="391192"/>
            <a:ext cx="458642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Th</a:t>
            </a:r>
            <a:r>
              <a:rPr lang="en-US" b="true" sz="2400">
                <a:solidFill>
                  <a:srgbClr val="FFFFFF"/>
                </a:solidFill>
                <a:latin typeface="Canva Sans Bold"/>
                <a:ea typeface="Canva Sans Bold"/>
                <a:cs typeface="Canva Sans Bold"/>
                <a:sym typeface="Canva Sans Bold"/>
              </a:rPr>
              <a:t>ank You, Jury</a:t>
            </a:r>
          </a:p>
        </p:txBody>
      </p:sp>
      <p:sp>
        <p:nvSpPr>
          <p:cNvPr name="TextBox 19" id="19"/>
          <p:cNvSpPr txBox="true"/>
          <p:nvPr/>
        </p:nvSpPr>
        <p:spPr>
          <a:xfrm rot="0">
            <a:off x="12904370" y="3443421"/>
            <a:ext cx="458642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The</a:t>
            </a:r>
            <a:r>
              <a:rPr lang="en-US" b="true" sz="2400">
                <a:solidFill>
                  <a:srgbClr val="FFFFFF"/>
                </a:solidFill>
                <a:latin typeface="Canva Sans Bold"/>
                <a:ea typeface="Canva Sans Bold"/>
                <a:cs typeface="Canva Sans Bold"/>
                <a:sym typeface="Canva Sans Bold"/>
              </a:rPr>
              <a:t> 8-Point Challenge</a:t>
            </a:r>
          </a:p>
        </p:txBody>
      </p:sp>
      <p:sp>
        <p:nvSpPr>
          <p:cNvPr name="TextBox 20" id="20"/>
          <p:cNvSpPr txBox="true"/>
          <p:nvPr/>
        </p:nvSpPr>
        <p:spPr>
          <a:xfrm rot="0">
            <a:off x="13104236" y="6294725"/>
            <a:ext cx="458642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Our Goal</a:t>
            </a:r>
          </a:p>
        </p:txBody>
      </p:sp>
      <p:sp>
        <p:nvSpPr>
          <p:cNvPr name="TextBox 21" id="21"/>
          <p:cNvSpPr txBox="true"/>
          <p:nvPr/>
        </p:nvSpPr>
        <p:spPr>
          <a:xfrm rot="0">
            <a:off x="12725416" y="7055762"/>
            <a:ext cx="5344068" cy="2072640"/>
          </a:xfrm>
          <a:prstGeom prst="rect">
            <a:avLst/>
          </a:prstGeom>
        </p:spPr>
        <p:txBody>
          <a:bodyPr anchor="t" rtlCol="false" tIns="0" lIns="0" bIns="0" rIns="0">
            <a:spAutoFit/>
          </a:bodyPr>
          <a:lstStyle/>
          <a:p>
            <a:pPr algn="ctr">
              <a:lnSpc>
                <a:spcPts val="3359"/>
              </a:lnSpc>
            </a:pPr>
            <a:r>
              <a:rPr lang="en-US" sz="2400">
                <a:solidFill>
                  <a:srgbClr val="006763"/>
                </a:solidFill>
                <a:latin typeface="Canva Sans"/>
                <a:ea typeface="Canva Sans"/>
                <a:cs typeface="Canva Sans"/>
                <a:sym typeface="Canva Sans"/>
              </a:rPr>
              <a:t>Instead of just patching a few features, we completely re-architected our platform to deliver all 8 of your requests. Today, we will show you exactly how.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0">
            <a:off x="254000" y="318097"/>
            <a:ext cx="12742357" cy="2316832"/>
          </a:xfrm>
          <a:custGeom>
            <a:avLst/>
            <a:gdLst/>
            <a:ahLst/>
            <a:cxnLst/>
            <a:rect r="r" b="b" t="t" l="l"/>
            <a:pathLst>
              <a:path h="2316832" w="12742357">
                <a:moveTo>
                  <a:pt x="12742357" y="0"/>
                </a:moveTo>
                <a:lnTo>
                  <a:pt x="0" y="0"/>
                </a:lnTo>
                <a:lnTo>
                  <a:pt x="0" y="2316833"/>
                </a:lnTo>
                <a:lnTo>
                  <a:pt x="12742357" y="2316833"/>
                </a:lnTo>
                <a:lnTo>
                  <a:pt x="12742357" y="0"/>
                </a:lnTo>
                <a:close/>
              </a:path>
            </a:pathLst>
          </a:custGeom>
          <a:blipFill>
            <a:blip r:embed="rId3"/>
            <a:stretch>
              <a:fillRect l="0" t="-47424" r="-18109" b="-28777"/>
            </a:stretch>
          </a:blipFill>
        </p:spPr>
      </p:sp>
      <p:sp>
        <p:nvSpPr>
          <p:cNvPr name="Freeform 4" id="4"/>
          <p:cNvSpPr/>
          <p:nvPr/>
        </p:nvSpPr>
        <p:spPr>
          <a:xfrm flipH="false" flipV="false" rot="0">
            <a:off x="0" y="2634930"/>
            <a:ext cx="18288000" cy="7504208"/>
          </a:xfrm>
          <a:custGeom>
            <a:avLst/>
            <a:gdLst/>
            <a:ahLst/>
            <a:cxnLst/>
            <a:rect r="r" b="b" t="t" l="l"/>
            <a:pathLst>
              <a:path h="7504208" w="18288000">
                <a:moveTo>
                  <a:pt x="0" y="0"/>
                </a:moveTo>
                <a:lnTo>
                  <a:pt x="18288000" y="0"/>
                </a:lnTo>
                <a:lnTo>
                  <a:pt x="18288000" y="7504208"/>
                </a:lnTo>
                <a:lnTo>
                  <a:pt x="0" y="7504208"/>
                </a:lnTo>
                <a:lnTo>
                  <a:pt x="0" y="0"/>
                </a:lnTo>
                <a:close/>
              </a:path>
            </a:pathLst>
          </a:custGeom>
          <a:blipFill>
            <a:blip r:embed="rId4"/>
            <a:stretch>
              <a:fillRect l="-15650" t="-252397" r="-13888" b="0"/>
            </a:stretch>
          </a:blipFill>
        </p:spPr>
      </p:sp>
      <p:grpSp>
        <p:nvGrpSpPr>
          <p:cNvPr name="Group 5" id="5"/>
          <p:cNvGrpSpPr/>
          <p:nvPr/>
        </p:nvGrpSpPr>
        <p:grpSpPr>
          <a:xfrm rot="0">
            <a:off x="11157699" y="2975054"/>
            <a:ext cx="583643" cy="821532"/>
            <a:chOff x="0" y="0"/>
            <a:chExt cx="153717" cy="216371"/>
          </a:xfrm>
        </p:grpSpPr>
        <p:sp>
          <p:nvSpPr>
            <p:cNvPr name="Freeform 6" id="6"/>
            <p:cNvSpPr/>
            <p:nvPr/>
          </p:nvSpPr>
          <p:spPr>
            <a:xfrm flipH="false" flipV="false" rot="0">
              <a:off x="0" y="0"/>
              <a:ext cx="153717" cy="216371"/>
            </a:xfrm>
            <a:custGeom>
              <a:avLst/>
              <a:gdLst/>
              <a:ahLst/>
              <a:cxnLst/>
              <a:rect r="r" b="b" t="t" l="l"/>
              <a:pathLst>
                <a:path h="216371" w="153717">
                  <a:moveTo>
                    <a:pt x="76858" y="0"/>
                  </a:moveTo>
                  <a:lnTo>
                    <a:pt x="76858" y="0"/>
                  </a:lnTo>
                  <a:cubicBezTo>
                    <a:pt x="119306" y="0"/>
                    <a:pt x="153717" y="34411"/>
                    <a:pt x="153717" y="76858"/>
                  </a:cubicBezTo>
                  <a:lnTo>
                    <a:pt x="153717" y="139512"/>
                  </a:lnTo>
                  <a:cubicBezTo>
                    <a:pt x="153717" y="159896"/>
                    <a:pt x="145619" y="179446"/>
                    <a:pt x="131205" y="193859"/>
                  </a:cubicBezTo>
                  <a:cubicBezTo>
                    <a:pt x="116792" y="208273"/>
                    <a:pt x="97242" y="216371"/>
                    <a:pt x="76858" y="216371"/>
                  </a:cubicBezTo>
                  <a:lnTo>
                    <a:pt x="76858" y="216371"/>
                  </a:lnTo>
                  <a:cubicBezTo>
                    <a:pt x="56474" y="216371"/>
                    <a:pt x="36925" y="208273"/>
                    <a:pt x="22511" y="193859"/>
                  </a:cubicBezTo>
                  <a:cubicBezTo>
                    <a:pt x="8098" y="179446"/>
                    <a:pt x="0" y="159896"/>
                    <a:pt x="0" y="139512"/>
                  </a:cubicBezTo>
                  <a:lnTo>
                    <a:pt x="0" y="76858"/>
                  </a:lnTo>
                  <a:cubicBezTo>
                    <a:pt x="0" y="56474"/>
                    <a:pt x="8098" y="36925"/>
                    <a:pt x="22511" y="22511"/>
                  </a:cubicBezTo>
                  <a:cubicBezTo>
                    <a:pt x="36925" y="8098"/>
                    <a:pt x="56474" y="0"/>
                    <a:pt x="76858" y="0"/>
                  </a:cubicBezTo>
                  <a:close/>
                </a:path>
              </a:pathLst>
            </a:custGeom>
            <a:solidFill>
              <a:srgbClr val="4EA069"/>
            </a:solidFill>
          </p:spPr>
        </p:sp>
        <p:sp>
          <p:nvSpPr>
            <p:cNvPr name="TextBox 7" id="7"/>
            <p:cNvSpPr txBox="true"/>
            <p:nvPr/>
          </p:nvSpPr>
          <p:spPr>
            <a:xfrm>
              <a:off x="0" y="-38100"/>
              <a:ext cx="153717"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157699" y="5344829"/>
            <a:ext cx="583643" cy="821532"/>
            <a:chOff x="0" y="0"/>
            <a:chExt cx="153717" cy="216371"/>
          </a:xfrm>
        </p:grpSpPr>
        <p:sp>
          <p:nvSpPr>
            <p:cNvPr name="Freeform 9" id="9"/>
            <p:cNvSpPr/>
            <p:nvPr/>
          </p:nvSpPr>
          <p:spPr>
            <a:xfrm flipH="false" flipV="false" rot="0">
              <a:off x="0" y="0"/>
              <a:ext cx="153717" cy="216371"/>
            </a:xfrm>
            <a:custGeom>
              <a:avLst/>
              <a:gdLst/>
              <a:ahLst/>
              <a:cxnLst/>
              <a:rect r="r" b="b" t="t" l="l"/>
              <a:pathLst>
                <a:path h="216371" w="153717">
                  <a:moveTo>
                    <a:pt x="76858" y="0"/>
                  </a:moveTo>
                  <a:lnTo>
                    <a:pt x="76858" y="0"/>
                  </a:lnTo>
                  <a:cubicBezTo>
                    <a:pt x="119306" y="0"/>
                    <a:pt x="153717" y="34411"/>
                    <a:pt x="153717" y="76858"/>
                  </a:cubicBezTo>
                  <a:lnTo>
                    <a:pt x="153717" y="139512"/>
                  </a:lnTo>
                  <a:cubicBezTo>
                    <a:pt x="153717" y="159896"/>
                    <a:pt x="145619" y="179446"/>
                    <a:pt x="131205" y="193859"/>
                  </a:cubicBezTo>
                  <a:cubicBezTo>
                    <a:pt x="116792" y="208273"/>
                    <a:pt x="97242" y="216371"/>
                    <a:pt x="76858" y="216371"/>
                  </a:cubicBezTo>
                  <a:lnTo>
                    <a:pt x="76858" y="216371"/>
                  </a:lnTo>
                  <a:cubicBezTo>
                    <a:pt x="56474" y="216371"/>
                    <a:pt x="36925" y="208273"/>
                    <a:pt x="22511" y="193859"/>
                  </a:cubicBezTo>
                  <a:cubicBezTo>
                    <a:pt x="8098" y="179446"/>
                    <a:pt x="0" y="159896"/>
                    <a:pt x="0" y="139512"/>
                  </a:cubicBezTo>
                  <a:lnTo>
                    <a:pt x="0" y="76858"/>
                  </a:lnTo>
                  <a:cubicBezTo>
                    <a:pt x="0" y="56474"/>
                    <a:pt x="8098" y="36925"/>
                    <a:pt x="22511" y="22511"/>
                  </a:cubicBezTo>
                  <a:cubicBezTo>
                    <a:pt x="36925" y="8098"/>
                    <a:pt x="56474" y="0"/>
                    <a:pt x="76858" y="0"/>
                  </a:cubicBezTo>
                  <a:close/>
                </a:path>
              </a:pathLst>
            </a:custGeom>
            <a:solidFill>
              <a:srgbClr val="4EA069"/>
            </a:solidFill>
          </p:spPr>
        </p:sp>
        <p:sp>
          <p:nvSpPr>
            <p:cNvPr name="TextBox 10" id="10"/>
            <p:cNvSpPr txBox="true"/>
            <p:nvPr/>
          </p:nvSpPr>
          <p:spPr>
            <a:xfrm>
              <a:off x="0" y="-38100"/>
              <a:ext cx="153717"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157699" y="7257404"/>
            <a:ext cx="583643" cy="821532"/>
            <a:chOff x="0" y="0"/>
            <a:chExt cx="153717" cy="216371"/>
          </a:xfrm>
        </p:grpSpPr>
        <p:sp>
          <p:nvSpPr>
            <p:cNvPr name="Freeform 12" id="12"/>
            <p:cNvSpPr/>
            <p:nvPr/>
          </p:nvSpPr>
          <p:spPr>
            <a:xfrm flipH="false" flipV="false" rot="0">
              <a:off x="0" y="0"/>
              <a:ext cx="153717" cy="216371"/>
            </a:xfrm>
            <a:custGeom>
              <a:avLst/>
              <a:gdLst/>
              <a:ahLst/>
              <a:cxnLst/>
              <a:rect r="r" b="b" t="t" l="l"/>
              <a:pathLst>
                <a:path h="216371" w="153717">
                  <a:moveTo>
                    <a:pt x="76858" y="0"/>
                  </a:moveTo>
                  <a:lnTo>
                    <a:pt x="76858" y="0"/>
                  </a:lnTo>
                  <a:cubicBezTo>
                    <a:pt x="119306" y="0"/>
                    <a:pt x="153717" y="34411"/>
                    <a:pt x="153717" y="76858"/>
                  </a:cubicBezTo>
                  <a:lnTo>
                    <a:pt x="153717" y="139512"/>
                  </a:lnTo>
                  <a:cubicBezTo>
                    <a:pt x="153717" y="159896"/>
                    <a:pt x="145619" y="179446"/>
                    <a:pt x="131205" y="193859"/>
                  </a:cubicBezTo>
                  <a:cubicBezTo>
                    <a:pt x="116792" y="208273"/>
                    <a:pt x="97242" y="216371"/>
                    <a:pt x="76858" y="216371"/>
                  </a:cubicBezTo>
                  <a:lnTo>
                    <a:pt x="76858" y="216371"/>
                  </a:lnTo>
                  <a:cubicBezTo>
                    <a:pt x="56474" y="216371"/>
                    <a:pt x="36925" y="208273"/>
                    <a:pt x="22511" y="193859"/>
                  </a:cubicBezTo>
                  <a:cubicBezTo>
                    <a:pt x="8098" y="179446"/>
                    <a:pt x="0" y="159896"/>
                    <a:pt x="0" y="139512"/>
                  </a:cubicBezTo>
                  <a:lnTo>
                    <a:pt x="0" y="76858"/>
                  </a:lnTo>
                  <a:cubicBezTo>
                    <a:pt x="0" y="56474"/>
                    <a:pt x="8098" y="36925"/>
                    <a:pt x="22511" y="22511"/>
                  </a:cubicBezTo>
                  <a:cubicBezTo>
                    <a:pt x="36925" y="8098"/>
                    <a:pt x="56474" y="0"/>
                    <a:pt x="76858" y="0"/>
                  </a:cubicBezTo>
                  <a:close/>
                </a:path>
              </a:pathLst>
            </a:custGeom>
            <a:solidFill>
              <a:srgbClr val="4EA069"/>
            </a:solidFill>
          </p:spPr>
        </p:sp>
        <p:sp>
          <p:nvSpPr>
            <p:cNvPr name="TextBox 13" id="13"/>
            <p:cNvSpPr txBox="true"/>
            <p:nvPr/>
          </p:nvSpPr>
          <p:spPr>
            <a:xfrm>
              <a:off x="0" y="-38100"/>
              <a:ext cx="153717" cy="254471"/>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34861" y="3192186"/>
            <a:ext cx="10753505" cy="6362355"/>
          </a:xfrm>
          <a:custGeom>
            <a:avLst/>
            <a:gdLst/>
            <a:ahLst/>
            <a:cxnLst/>
            <a:rect r="r" b="b" t="t" l="l"/>
            <a:pathLst>
              <a:path h="6362355" w="10753505">
                <a:moveTo>
                  <a:pt x="0" y="0"/>
                </a:moveTo>
                <a:lnTo>
                  <a:pt x="10753505" y="0"/>
                </a:lnTo>
                <a:lnTo>
                  <a:pt x="10753505" y="6362355"/>
                </a:lnTo>
                <a:lnTo>
                  <a:pt x="0" y="6362355"/>
                </a:lnTo>
                <a:lnTo>
                  <a:pt x="0" y="0"/>
                </a:lnTo>
                <a:close/>
              </a:path>
            </a:pathLst>
          </a:custGeom>
          <a:blipFill>
            <a:blip r:embed="rId5"/>
            <a:stretch>
              <a:fillRect l="-18897" t="-14491" r="-1527" b="0"/>
            </a:stretch>
          </a:blipFill>
        </p:spPr>
      </p:sp>
      <p:sp>
        <p:nvSpPr>
          <p:cNvPr name="TextBox 15" id="15"/>
          <p:cNvSpPr txBox="true"/>
          <p:nvPr/>
        </p:nvSpPr>
        <p:spPr>
          <a:xfrm rot="0">
            <a:off x="494145" y="1036458"/>
            <a:ext cx="12064862" cy="984885"/>
          </a:xfrm>
          <a:prstGeom prst="rect">
            <a:avLst/>
          </a:prstGeom>
        </p:spPr>
        <p:txBody>
          <a:bodyPr anchor="t" rtlCol="false" tIns="0" lIns="0" bIns="0" rIns="0">
            <a:spAutoFit/>
          </a:bodyPr>
          <a:lstStyle/>
          <a:p>
            <a:pPr algn="l">
              <a:lnSpc>
                <a:spcPts val="7560"/>
              </a:lnSpc>
            </a:pPr>
            <a:r>
              <a:rPr lang="en-US" sz="7200" b="true">
                <a:solidFill>
                  <a:srgbClr val="006763"/>
                </a:solidFill>
                <a:latin typeface="Bebas Neue Bold"/>
                <a:ea typeface="Bebas Neue Bold"/>
                <a:cs typeface="Bebas Neue Bold"/>
                <a:sym typeface="Bebas Neue Bold"/>
              </a:rPr>
              <a:t>INTELLIGENT DOCUMENT PROCESSING</a:t>
            </a:r>
          </a:p>
        </p:txBody>
      </p:sp>
      <p:sp>
        <p:nvSpPr>
          <p:cNvPr name="TextBox 16" id="16"/>
          <p:cNvSpPr txBox="true"/>
          <p:nvPr/>
        </p:nvSpPr>
        <p:spPr>
          <a:xfrm rot="0">
            <a:off x="12064875" y="2908379"/>
            <a:ext cx="6361457" cy="2284050"/>
          </a:xfrm>
          <a:prstGeom prst="rect">
            <a:avLst/>
          </a:prstGeom>
        </p:spPr>
        <p:txBody>
          <a:bodyPr anchor="t" rtlCol="false" tIns="0" lIns="0" bIns="0" rIns="0">
            <a:spAutoFit/>
          </a:bodyPr>
          <a:lstStyle/>
          <a:p>
            <a:pPr algn="l">
              <a:lnSpc>
                <a:spcPts val="3628"/>
              </a:lnSpc>
            </a:pPr>
            <a:r>
              <a:rPr lang="en-US" sz="2573" b="true">
                <a:solidFill>
                  <a:srgbClr val="006763"/>
                </a:solidFill>
                <a:latin typeface="Roboto Bold"/>
                <a:ea typeface="Roboto Bold"/>
                <a:cs typeface="Roboto Bold"/>
                <a:sym typeface="Roboto Bold"/>
              </a:rPr>
              <a:t>Automated Classification: </a:t>
            </a:r>
          </a:p>
          <a:p>
            <a:pPr algn="l">
              <a:lnSpc>
                <a:spcPts val="3628"/>
              </a:lnSpc>
            </a:pPr>
            <a:r>
              <a:rPr lang="en-US" sz="2573">
                <a:solidFill>
                  <a:srgbClr val="006763"/>
                </a:solidFill>
                <a:latin typeface="Roboto"/>
                <a:ea typeface="Roboto"/>
                <a:cs typeface="Roboto"/>
                <a:sym typeface="Roboto"/>
              </a:rPr>
              <a:t>Every uploaded document passes through an AI pipeline that automatically extracts the Authority, Year, Subject, and Document Type.</a:t>
            </a:r>
          </a:p>
        </p:txBody>
      </p:sp>
      <p:sp>
        <p:nvSpPr>
          <p:cNvPr name="TextBox 17" id="17"/>
          <p:cNvSpPr txBox="true"/>
          <p:nvPr/>
        </p:nvSpPr>
        <p:spPr>
          <a:xfrm rot="0">
            <a:off x="11157699" y="3124858"/>
            <a:ext cx="587127"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01</a:t>
            </a:r>
          </a:p>
        </p:txBody>
      </p:sp>
      <p:sp>
        <p:nvSpPr>
          <p:cNvPr name="TextBox 18" id="18"/>
          <p:cNvSpPr txBox="true"/>
          <p:nvPr/>
        </p:nvSpPr>
        <p:spPr>
          <a:xfrm rot="0">
            <a:off x="11157699" y="5494632"/>
            <a:ext cx="587127"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02</a:t>
            </a:r>
          </a:p>
        </p:txBody>
      </p:sp>
      <p:sp>
        <p:nvSpPr>
          <p:cNvPr name="TextBox 19" id="19"/>
          <p:cNvSpPr txBox="true"/>
          <p:nvPr/>
        </p:nvSpPr>
        <p:spPr>
          <a:xfrm rot="0">
            <a:off x="11157699" y="7407207"/>
            <a:ext cx="587127"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03</a:t>
            </a:r>
          </a:p>
        </p:txBody>
      </p:sp>
      <p:sp>
        <p:nvSpPr>
          <p:cNvPr name="TextBox 20" id="20"/>
          <p:cNvSpPr txBox="true"/>
          <p:nvPr/>
        </p:nvSpPr>
        <p:spPr>
          <a:xfrm rot="0">
            <a:off x="12064875" y="5278154"/>
            <a:ext cx="6361457" cy="1826850"/>
          </a:xfrm>
          <a:prstGeom prst="rect">
            <a:avLst/>
          </a:prstGeom>
        </p:spPr>
        <p:txBody>
          <a:bodyPr anchor="t" rtlCol="false" tIns="0" lIns="0" bIns="0" rIns="0">
            <a:spAutoFit/>
          </a:bodyPr>
          <a:lstStyle/>
          <a:p>
            <a:pPr algn="l">
              <a:lnSpc>
                <a:spcPts val="3628"/>
              </a:lnSpc>
            </a:pPr>
            <a:r>
              <a:rPr lang="en-US" sz="2573" b="true">
                <a:solidFill>
                  <a:srgbClr val="006763"/>
                </a:solidFill>
                <a:latin typeface="Roboto Bold"/>
                <a:ea typeface="Roboto Bold"/>
                <a:cs typeface="Roboto Bold"/>
                <a:sym typeface="Roboto Bold"/>
              </a:rPr>
              <a:t>Confidence Scoring: </a:t>
            </a:r>
          </a:p>
          <a:p>
            <a:pPr algn="l">
              <a:lnSpc>
                <a:spcPts val="3628"/>
              </a:lnSpc>
            </a:pPr>
            <a:r>
              <a:rPr lang="en-US" sz="2573">
                <a:solidFill>
                  <a:srgbClr val="006763"/>
                </a:solidFill>
                <a:latin typeface="Roboto"/>
                <a:ea typeface="Roboto"/>
                <a:cs typeface="Roboto"/>
                <a:sym typeface="Roboto"/>
              </a:rPr>
              <a:t>The AI assigns a Confidence Score (e.g., 97%) to its classification, ensuring complete auditability.</a:t>
            </a:r>
          </a:p>
        </p:txBody>
      </p:sp>
      <p:sp>
        <p:nvSpPr>
          <p:cNvPr name="TextBox 21" id="21"/>
          <p:cNvSpPr txBox="true"/>
          <p:nvPr/>
        </p:nvSpPr>
        <p:spPr>
          <a:xfrm rot="0">
            <a:off x="12064875" y="7190729"/>
            <a:ext cx="6361457" cy="2284050"/>
          </a:xfrm>
          <a:prstGeom prst="rect">
            <a:avLst/>
          </a:prstGeom>
        </p:spPr>
        <p:txBody>
          <a:bodyPr anchor="t" rtlCol="false" tIns="0" lIns="0" bIns="0" rIns="0">
            <a:spAutoFit/>
          </a:bodyPr>
          <a:lstStyle/>
          <a:p>
            <a:pPr algn="l">
              <a:lnSpc>
                <a:spcPts val="3628"/>
              </a:lnSpc>
            </a:pPr>
            <a:r>
              <a:rPr lang="en-US" sz="2573" b="true">
                <a:solidFill>
                  <a:srgbClr val="006763"/>
                </a:solidFill>
                <a:latin typeface="Roboto Bold"/>
                <a:ea typeface="Roboto Bold"/>
                <a:cs typeface="Roboto Bold"/>
                <a:sym typeface="Roboto Bold"/>
              </a:rPr>
              <a:t>Advanced Filtering: </a:t>
            </a:r>
          </a:p>
          <a:p>
            <a:pPr algn="l">
              <a:lnSpc>
                <a:spcPts val="3628"/>
              </a:lnSpc>
            </a:pPr>
            <a:r>
              <a:rPr lang="en-US" sz="2573">
                <a:solidFill>
                  <a:srgbClr val="006763"/>
                </a:solidFill>
                <a:latin typeface="Roboto"/>
                <a:ea typeface="Roboto"/>
                <a:cs typeface="Roboto"/>
                <a:sym typeface="Roboto"/>
              </a:rPr>
              <a:t>We built a dedicated Document Library where officials can instantly filter thousands of GOs by Year, Status, or Authority.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0" y="2695192"/>
            <a:ext cx="18288000" cy="7260727"/>
          </a:xfrm>
          <a:custGeom>
            <a:avLst/>
            <a:gdLst/>
            <a:ahLst/>
            <a:cxnLst/>
            <a:rect r="r" b="b" t="t" l="l"/>
            <a:pathLst>
              <a:path h="7260727" w="18288000">
                <a:moveTo>
                  <a:pt x="0" y="0"/>
                </a:moveTo>
                <a:lnTo>
                  <a:pt x="18288000" y="0"/>
                </a:lnTo>
                <a:lnTo>
                  <a:pt x="18288000" y="7260726"/>
                </a:lnTo>
                <a:lnTo>
                  <a:pt x="0" y="7260726"/>
                </a:lnTo>
                <a:lnTo>
                  <a:pt x="0" y="0"/>
                </a:lnTo>
                <a:close/>
              </a:path>
            </a:pathLst>
          </a:custGeom>
          <a:blipFill>
            <a:blip r:embed="rId3"/>
            <a:stretch>
              <a:fillRect l="-13520" t="-252397" r="-11815" b="0"/>
            </a:stretch>
          </a:blipFill>
        </p:spPr>
      </p:sp>
      <p:sp>
        <p:nvSpPr>
          <p:cNvPr name="Freeform 4" id="4"/>
          <p:cNvSpPr/>
          <p:nvPr/>
        </p:nvSpPr>
        <p:spPr>
          <a:xfrm flipH="false" flipV="false" rot="0">
            <a:off x="-298488" y="188145"/>
            <a:ext cx="13656030" cy="2507047"/>
          </a:xfrm>
          <a:custGeom>
            <a:avLst/>
            <a:gdLst/>
            <a:ahLst/>
            <a:cxnLst/>
            <a:rect r="r" b="b" t="t" l="l"/>
            <a:pathLst>
              <a:path h="2507047" w="13656030">
                <a:moveTo>
                  <a:pt x="0" y="0"/>
                </a:moveTo>
                <a:lnTo>
                  <a:pt x="13656030" y="0"/>
                </a:lnTo>
                <a:lnTo>
                  <a:pt x="13656030" y="2507047"/>
                </a:lnTo>
                <a:lnTo>
                  <a:pt x="0" y="2507047"/>
                </a:lnTo>
                <a:lnTo>
                  <a:pt x="0" y="0"/>
                </a:lnTo>
                <a:close/>
              </a:path>
            </a:pathLst>
          </a:custGeom>
          <a:blipFill>
            <a:blip r:embed="rId4"/>
            <a:stretch>
              <a:fillRect l="-15003" t="-42311" r="0" b="-27608"/>
            </a:stretch>
          </a:blipFill>
        </p:spPr>
      </p:sp>
      <p:grpSp>
        <p:nvGrpSpPr>
          <p:cNvPr name="Group 5" id="5"/>
          <p:cNvGrpSpPr/>
          <p:nvPr/>
        </p:nvGrpSpPr>
        <p:grpSpPr>
          <a:xfrm rot="0">
            <a:off x="261064" y="2961912"/>
            <a:ext cx="651627" cy="821532"/>
            <a:chOff x="0" y="0"/>
            <a:chExt cx="171622" cy="216371"/>
          </a:xfrm>
        </p:grpSpPr>
        <p:sp>
          <p:nvSpPr>
            <p:cNvPr name="Freeform 6" id="6"/>
            <p:cNvSpPr/>
            <p:nvPr/>
          </p:nvSpPr>
          <p:spPr>
            <a:xfrm flipH="false" flipV="false" rot="0">
              <a:off x="0" y="0"/>
              <a:ext cx="171622" cy="216371"/>
            </a:xfrm>
            <a:custGeom>
              <a:avLst/>
              <a:gdLst/>
              <a:ahLst/>
              <a:cxnLst/>
              <a:rect r="r" b="b" t="t" l="l"/>
              <a:pathLst>
                <a:path h="216371" w="171622">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name="TextBox 7" id="7"/>
            <p:cNvSpPr txBox="true"/>
            <p:nvPr/>
          </p:nvSpPr>
          <p:spPr>
            <a:xfrm>
              <a:off x="0" y="-38100"/>
              <a:ext cx="171622"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61064" y="4958937"/>
            <a:ext cx="655517" cy="821532"/>
            <a:chOff x="0" y="0"/>
            <a:chExt cx="172646" cy="216371"/>
          </a:xfrm>
        </p:grpSpPr>
        <p:sp>
          <p:nvSpPr>
            <p:cNvPr name="Freeform 9" id="9"/>
            <p:cNvSpPr/>
            <p:nvPr/>
          </p:nvSpPr>
          <p:spPr>
            <a:xfrm flipH="false" flipV="false" rot="0">
              <a:off x="0" y="0"/>
              <a:ext cx="172646" cy="216371"/>
            </a:xfrm>
            <a:custGeom>
              <a:avLst/>
              <a:gdLst/>
              <a:ahLst/>
              <a:cxnLst/>
              <a:rect r="r" b="b" t="t" l="l"/>
              <a:pathLst>
                <a:path h="216371" w="172646">
                  <a:moveTo>
                    <a:pt x="86323" y="0"/>
                  </a:moveTo>
                  <a:lnTo>
                    <a:pt x="86323" y="0"/>
                  </a:lnTo>
                  <a:cubicBezTo>
                    <a:pt x="133998" y="0"/>
                    <a:pt x="172646" y="38648"/>
                    <a:pt x="172646" y="86323"/>
                  </a:cubicBezTo>
                  <a:lnTo>
                    <a:pt x="172646" y="130047"/>
                  </a:lnTo>
                  <a:cubicBezTo>
                    <a:pt x="172646" y="152942"/>
                    <a:pt x="163552" y="174898"/>
                    <a:pt x="147363" y="191087"/>
                  </a:cubicBezTo>
                  <a:cubicBezTo>
                    <a:pt x="131174" y="207276"/>
                    <a:pt x="109218" y="216371"/>
                    <a:pt x="86323" y="216371"/>
                  </a:cubicBezTo>
                  <a:lnTo>
                    <a:pt x="86323" y="216371"/>
                  </a:lnTo>
                  <a:cubicBezTo>
                    <a:pt x="63429" y="216371"/>
                    <a:pt x="41472" y="207276"/>
                    <a:pt x="25283" y="191087"/>
                  </a:cubicBezTo>
                  <a:cubicBezTo>
                    <a:pt x="9095" y="174898"/>
                    <a:pt x="0" y="152942"/>
                    <a:pt x="0" y="130047"/>
                  </a:cubicBezTo>
                  <a:lnTo>
                    <a:pt x="0" y="86323"/>
                  </a:lnTo>
                  <a:cubicBezTo>
                    <a:pt x="0" y="63429"/>
                    <a:pt x="9095" y="41472"/>
                    <a:pt x="25283" y="25283"/>
                  </a:cubicBezTo>
                  <a:cubicBezTo>
                    <a:pt x="41472" y="9095"/>
                    <a:pt x="63429" y="0"/>
                    <a:pt x="86323" y="0"/>
                  </a:cubicBezTo>
                  <a:close/>
                </a:path>
              </a:pathLst>
            </a:custGeom>
            <a:solidFill>
              <a:srgbClr val="4EA069"/>
            </a:solidFill>
          </p:spPr>
        </p:sp>
        <p:sp>
          <p:nvSpPr>
            <p:cNvPr name="TextBox 10" id="10"/>
            <p:cNvSpPr txBox="true"/>
            <p:nvPr/>
          </p:nvSpPr>
          <p:spPr>
            <a:xfrm>
              <a:off x="0" y="-38100"/>
              <a:ext cx="172646"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61064" y="6461937"/>
            <a:ext cx="655517" cy="821532"/>
            <a:chOff x="0" y="0"/>
            <a:chExt cx="172646" cy="216371"/>
          </a:xfrm>
        </p:grpSpPr>
        <p:sp>
          <p:nvSpPr>
            <p:cNvPr name="Freeform 12" id="12"/>
            <p:cNvSpPr/>
            <p:nvPr/>
          </p:nvSpPr>
          <p:spPr>
            <a:xfrm flipH="false" flipV="false" rot="0">
              <a:off x="0" y="0"/>
              <a:ext cx="172646" cy="216371"/>
            </a:xfrm>
            <a:custGeom>
              <a:avLst/>
              <a:gdLst/>
              <a:ahLst/>
              <a:cxnLst/>
              <a:rect r="r" b="b" t="t" l="l"/>
              <a:pathLst>
                <a:path h="216371" w="172646">
                  <a:moveTo>
                    <a:pt x="86323" y="0"/>
                  </a:moveTo>
                  <a:lnTo>
                    <a:pt x="86323" y="0"/>
                  </a:lnTo>
                  <a:cubicBezTo>
                    <a:pt x="133998" y="0"/>
                    <a:pt x="172646" y="38648"/>
                    <a:pt x="172646" y="86323"/>
                  </a:cubicBezTo>
                  <a:lnTo>
                    <a:pt x="172646" y="130047"/>
                  </a:lnTo>
                  <a:cubicBezTo>
                    <a:pt x="172646" y="152942"/>
                    <a:pt x="163552" y="174898"/>
                    <a:pt x="147363" y="191087"/>
                  </a:cubicBezTo>
                  <a:cubicBezTo>
                    <a:pt x="131174" y="207276"/>
                    <a:pt x="109218" y="216371"/>
                    <a:pt x="86323" y="216371"/>
                  </a:cubicBezTo>
                  <a:lnTo>
                    <a:pt x="86323" y="216371"/>
                  </a:lnTo>
                  <a:cubicBezTo>
                    <a:pt x="63429" y="216371"/>
                    <a:pt x="41472" y="207276"/>
                    <a:pt x="25283" y="191087"/>
                  </a:cubicBezTo>
                  <a:cubicBezTo>
                    <a:pt x="9095" y="174898"/>
                    <a:pt x="0" y="152942"/>
                    <a:pt x="0" y="130047"/>
                  </a:cubicBezTo>
                  <a:lnTo>
                    <a:pt x="0" y="86323"/>
                  </a:lnTo>
                  <a:cubicBezTo>
                    <a:pt x="0" y="63429"/>
                    <a:pt x="9095" y="41472"/>
                    <a:pt x="25283" y="25283"/>
                  </a:cubicBezTo>
                  <a:cubicBezTo>
                    <a:pt x="41472" y="9095"/>
                    <a:pt x="63429" y="0"/>
                    <a:pt x="86323" y="0"/>
                  </a:cubicBezTo>
                  <a:close/>
                </a:path>
              </a:pathLst>
            </a:custGeom>
            <a:solidFill>
              <a:srgbClr val="4EA069"/>
            </a:solidFill>
          </p:spPr>
        </p:sp>
        <p:sp>
          <p:nvSpPr>
            <p:cNvPr name="TextBox 13" id="13"/>
            <p:cNvSpPr txBox="true"/>
            <p:nvPr/>
          </p:nvSpPr>
          <p:spPr>
            <a:xfrm>
              <a:off x="0" y="-38100"/>
              <a:ext cx="172646" cy="254471"/>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6514813" y="6854221"/>
            <a:ext cx="817254" cy="876882"/>
          </a:xfrm>
          <a:custGeom>
            <a:avLst/>
            <a:gdLst/>
            <a:ahLst/>
            <a:cxnLst/>
            <a:rect r="r" b="b" t="t" l="l"/>
            <a:pathLst>
              <a:path h="876882" w="817254">
                <a:moveTo>
                  <a:pt x="0" y="0"/>
                </a:moveTo>
                <a:lnTo>
                  <a:pt x="817255" y="0"/>
                </a:lnTo>
                <a:lnTo>
                  <a:pt x="817255" y="876882"/>
                </a:lnTo>
                <a:lnTo>
                  <a:pt x="0" y="8768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7439948" y="3263619"/>
            <a:ext cx="10848052" cy="5394611"/>
          </a:xfrm>
          <a:custGeom>
            <a:avLst/>
            <a:gdLst/>
            <a:ahLst/>
            <a:cxnLst/>
            <a:rect r="r" b="b" t="t" l="l"/>
            <a:pathLst>
              <a:path h="5394611" w="10848052">
                <a:moveTo>
                  <a:pt x="0" y="0"/>
                </a:moveTo>
                <a:lnTo>
                  <a:pt x="10848052" y="0"/>
                </a:lnTo>
                <a:lnTo>
                  <a:pt x="10848052" y="5394612"/>
                </a:lnTo>
                <a:lnTo>
                  <a:pt x="0" y="5394612"/>
                </a:lnTo>
                <a:lnTo>
                  <a:pt x="0" y="0"/>
                </a:lnTo>
                <a:close/>
              </a:path>
            </a:pathLst>
          </a:custGeom>
          <a:blipFill>
            <a:blip r:embed="rId7"/>
            <a:stretch>
              <a:fillRect l="0" t="-16010" r="-2560" b="0"/>
            </a:stretch>
          </a:blipFill>
        </p:spPr>
      </p:sp>
      <p:sp>
        <p:nvSpPr>
          <p:cNvPr name="TextBox 16" id="16"/>
          <p:cNvSpPr txBox="true"/>
          <p:nvPr/>
        </p:nvSpPr>
        <p:spPr>
          <a:xfrm rot="0">
            <a:off x="1273910" y="2895237"/>
            <a:ext cx="6033722" cy="1826850"/>
          </a:xfrm>
          <a:prstGeom prst="rect">
            <a:avLst/>
          </a:prstGeom>
        </p:spPr>
        <p:txBody>
          <a:bodyPr anchor="t" rtlCol="false" tIns="0" lIns="0" bIns="0" rIns="0">
            <a:spAutoFit/>
          </a:bodyPr>
          <a:lstStyle/>
          <a:p>
            <a:pPr algn="l">
              <a:lnSpc>
                <a:spcPts val="3628"/>
              </a:lnSpc>
            </a:pPr>
            <a:r>
              <a:rPr lang="en-US" sz="2573" b="true">
                <a:solidFill>
                  <a:srgbClr val="006763"/>
                </a:solidFill>
                <a:latin typeface="Roboto Bold"/>
                <a:ea typeface="Roboto Bold"/>
                <a:cs typeface="Roboto Bold"/>
                <a:sym typeface="Roboto Bold"/>
              </a:rPr>
              <a:t>The Danger: </a:t>
            </a:r>
          </a:p>
          <a:p>
            <a:pPr algn="l">
              <a:lnSpc>
                <a:spcPts val="3628"/>
              </a:lnSpc>
            </a:pPr>
            <a:r>
              <a:rPr lang="en-US" sz="2573">
                <a:solidFill>
                  <a:srgbClr val="006763"/>
                </a:solidFill>
                <a:latin typeface="Roboto"/>
                <a:ea typeface="Roboto"/>
                <a:cs typeface="Roboto"/>
                <a:sym typeface="Roboto"/>
              </a:rPr>
              <a:t>Citing an outdated GO(Government Order) in a new policy note can cause massive financial discrepancies.</a:t>
            </a:r>
          </a:p>
        </p:txBody>
      </p:sp>
      <p:sp>
        <p:nvSpPr>
          <p:cNvPr name="TextBox 17" id="17"/>
          <p:cNvSpPr txBox="true"/>
          <p:nvPr/>
        </p:nvSpPr>
        <p:spPr>
          <a:xfrm rot="0">
            <a:off x="261064" y="1001613"/>
            <a:ext cx="10253505" cy="984885"/>
          </a:xfrm>
          <a:prstGeom prst="rect">
            <a:avLst/>
          </a:prstGeom>
        </p:spPr>
        <p:txBody>
          <a:bodyPr anchor="t" rtlCol="false" tIns="0" lIns="0" bIns="0" rIns="0">
            <a:spAutoFit/>
          </a:bodyPr>
          <a:lstStyle/>
          <a:p>
            <a:pPr algn="l">
              <a:lnSpc>
                <a:spcPts val="7560"/>
              </a:lnSpc>
            </a:pPr>
            <a:r>
              <a:rPr lang="en-US" sz="7200" b="true">
                <a:solidFill>
                  <a:srgbClr val="006763"/>
                </a:solidFill>
                <a:latin typeface="Bebas Neue Bold"/>
                <a:ea typeface="Bebas Neue Bold"/>
                <a:cs typeface="Bebas Neue Bold"/>
                <a:sym typeface="Bebas Neue Bold"/>
              </a:rPr>
              <a:t>THE "SUPERSEDED ORDER" TRAP</a:t>
            </a:r>
          </a:p>
        </p:txBody>
      </p:sp>
      <p:sp>
        <p:nvSpPr>
          <p:cNvPr name="TextBox 18" id="18"/>
          <p:cNvSpPr txBox="true"/>
          <p:nvPr/>
        </p:nvSpPr>
        <p:spPr>
          <a:xfrm rot="0">
            <a:off x="261064" y="3111715"/>
            <a:ext cx="655517"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01</a:t>
            </a:r>
          </a:p>
        </p:txBody>
      </p:sp>
      <p:sp>
        <p:nvSpPr>
          <p:cNvPr name="TextBox 19" id="19"/>
          <p:cNvSpPr txBox="true"/>
          <p:nvPr/>
        </p:nvSpPr>
        <p:spPr>
          <a:xfrm rot="0">
            <a:off x="348839" y="5108740"/>
            <a:ext cx="479966"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02</a:t>
            </a:r>
          </a:p>
        </p:txBody>
      </p:sp>
      <p:sp>
        <p:nvSpPr>
          <p:cNvPr name="TextBox 20" id="20"/>
          <p:cNvSpPr txBox="true"/>
          <p:nvPr/>
        </p:nvSpPr>
        <p:spPr>
          <a:xfrm rot="0">
            <a:off x="303901" y="6611740"/>
            <a:ext cx="565952"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03</a:t>
            </a:r>
          </a:p>
        </p:txBody>
      </p:sp>
      <p:sp>
        <p:nvSpPr>
          <p:cNvPr name="TextBox 21" id="21"/>
          <p:cNvSpPr txBox="true"/>
          <p:nvPr/>
        </p:nvSpPr>
        <p:spPr>
          <a:xfrm rot="0">
            <a:off x="1273910" y="4988787"/>
            <a:ext cx="6166038" cy="912450"/>
          </a:xfrm>
          <a:prstGeom prst="rect">
            <a:avLst/>
          </a:prstGeom>
        </p:spPr>
        <p:txBody>
          <a:bodyPr anchor="t" rtlCol="false" tIns="0" lIns="0" bIns="0" rIns="0">
            <a:spAutoFit/>
          </a:bodyPr>
          <a:lstStyle/>
          <a:p>
            <a:pPr algn="l">
              <a:lnSpc>
                <a:spcPts val="3628"/>
              </a:lnSpc>
            </a:pPr>
            <a:r>
              <a:rPr lang="en-US" sz="2573" b="true">
                <a:solidFill>
                  <a:srgbClr val="006763"/>
                </a:solidFill>
                <a:latin typeface="Roboto Bold"/>
                <a:ea typeface="Roboto Bold"/>
                <a:cs typeface="Roboto Bold"/>
                <a:sym typeface="Roboto Bold"/>
              </a:rPr>
              <a:t>Our Solution: </a:t>
            </a:r>
          </a:p>
          <a:p>
            <a:pPr algn="l">
              <a:lnSpc>
                <a:spcPts val="3628"/>
              </a:lnSpc>
            </a:pPr>
            <a:r>
              <a:rPr lang="en-US" sz="2573">
                <a:solidFill>
                  <a:srgbClr val="006763"/>
                </a:solidFill>
                <a:latin typeface="Roboto"/>
                <a:ea typeface="Roboto"/>
                <a:cs typeface="Roboto"/>
                <a:sym typeface="Roboto"/>
              </a:rPr>
              <a:t>We built a dynamic lineage graph.</a:t>
            </a:r>
          </a:p>
        </p:txBody>
      </p:sp>
      <p:sp>
        <p:nvSpPr>
          <p:cNvPr name="TextBox 22" id="22"/>
          <p:cNvSpPr txBox="true"/>
          <p:nvPr/>
        </p:nvSpPr>
        <p:spPr>
          <a:xfrm rot="0">
            <a:off x="1273910" y="6395262"/>
            <a:ext cx="6533094" cy="2741250"/>
          </a:xfrm>
          <a:prstGeom prst="rect">
            <a:avLst/>
          </a:prstGeom>
        </p:spPr>
        <p:txBody>
          <a:bodyPr anchor="t" rtlCol="false" tIns="0" lIns="0" bIns="0" rIns="0">
            <a:spAutoFit/>
          </a:bodyPr>
          <a:lstStyle/>
          <a:p>
            <a:pPr algn="l">
              <a:lnSpc>
                <a:spcPts val="3628"/>
              </a:lnSpc>
            </a:pPr>
            <a:r>
              <a:rPr lang="en-US" sz="2573" b="true">
                <a:solidFill>
                  <a:srgbClr val="006763"/>
                </a:solidFill>
                <a:latin typeface="Roboto Bold"/>
                <a:ea typeface="Roboto Bold"/>
                <a:cs typeface="Roboto Bold"/>
                <a:sym typeface="Roboto Bold"/>
              </a:rPr>
              <a:t>How it Works: </a:t>
            </a:r>
          </a:p>
          <a:p>
            <a:pPr algn="l">
              <a:lnSpc>
                <a:spcPts val="3628"/>
              </a:lnSpc>
            </a:pPr>
            <a:r>
              <a:rPr lang="en-US" sz="2573">
                <a:solidFill>
                  <a:srgbClr val="006763"/>
                </a:solidFill>
                <a:latin typeface="Roboto"/>
                <a:ea typeface="Roboto"/>
                <a:cs typeface="Roboto"/>
                <a:sym typeface="Roboto"/>
              </a:rPr>
              <a:t>If an official searches for a policy, the AI actively intercepts superseded orders and applies a massive SUPERSEDED warning, forcing the AI to only cite active, current orders.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0" y="2805274"/>
            <a:ext cx="18288000" cy="7260727"/>
          </a:xfrm>
          <a:custGeom>
            <a:avLst/>
            <a:gdLst/>
            <a:ahLst/>
            <a:cxnLst/>
            <a:rect r="r" b="b" t="t" l="l"/>
            <a:pathLst>
              <a:path h="7260727" w="18288000">
                <a:moveTo>
                  <a:pt x="0" y="0"/>
                </a:moveTo>
                <a:lnTo>
                  <a:pt x="18288000" y="0"/>
                </a:lnTo>
                <a:lnTo>
                  <a:pt x="18288000" y="7260727"/>
                </a:lnTo>
                <a:lnTo>
                  <a:pt x="0" y="7260727"/>
                </a:lnTo>
                <a:lnTo>
                  <a:pt x="0" y="0"/>
                </a:lnTo>
                <a:close/>
              </a:path>
            </a:pathLst>
          </a:custGeom>
          <a:blipFill>
            <a:blip r:embed="rId3"/>
            <a:stretch>
              <a:fillRect l="-13520" t="-252397" r="-11815" b="0"/>
            </a:stretch>
          </a:blipFill>
        </p:spPr>
      </p:sp>
      <p:sp>
        <p:nvSpPr>
          <p:cNvPr name="Freeform 4" id="4"/>
          <p:cNvSpPr/>
          <p:nvPr/>
        </p:nvSpPr>
        <p:spPr>
          <a:xfrm flipH="false" flipV="false" rot="0">
            <a:off x="0" y="430690"/>
            <a:ext cx="11380844" cy="1877379"/>
          </a:xfrm>
          <a:custGeom>
            <a:avLst/>
            <a:gdLst/>
            <a:ahLst/>
            <a:cxnLst/>
            <a:rect r="r" b="b" t="t" l="l"/>
            <a:pathLst>
              <a:path h="1877379" w="11380844">
                <a:moveTo>
                  <a:pt x="0" y="0"/>
                </a:moveTo>
                <a:lnTo>
                  <a:pt x="11380844" y="0"/>
                </a:lnTo>
                <a:lnTo>
                  <a:pt x="11380844" y="1877379"/>
                </a:lnTo>
                <a:lnTo>
                  <a:pt x="0" y="1877379"/>
                </a:lnTo>
                <a:lnTo>
                  <a:pt x="0" y="0"/>
                </a:lnTo>
                <a:close/>
              </a:path>
            </a:pathLst>
          </a:custGeom>
          <a:blipFill>
            <a:blip r:embed="rId4"/>
            <a:stretch>
              <a:fillRect l="-33836" t="-61844" r="0" b="-58229"/>
            </a:stretch>
          </a:blipFill>
        </p:spPr>
      </p:sp>
      <p:grpSp>
        <p:nvGrpSpPr>
          <p:cNvPr name="Group 5" id="5"/>
          <p:cNvGrpSpPr/>
          <p:nvPr/>
        </p:nvGrpSpPr>
        <p:grpSpPr>
          <a:xfrm rot="0">
            <a:off x="146748" y="3184339"/>
            <a:ext cx="590270" cy="905439"/>
            <a:chOff x="0" y="0"/>
            <a:chExt cx="141055" cy="216371"/>
          </a:xfrm>
        </p:grpSpPr>
        <p:sp>
          <p:nvSpPr>
            <p:cNvPr name="Freeform 6" id="6"/>
            <p:cNvSpPr/>
            <p:nvPr/>
          </p:nvSpPr>
          <p:spPr>
            <a:xfrm flipH="false" flipV="false" rot="0">
              <a:off x="0" y="0"/>
              <a:ext cx="141055" cy="216371"/>
            </a:xfrm>
            <a:custGeom>
              <a:avLst/>
              <a:gdLst/>
              <a:ahLst/>
              <a:cxnLst/>
              <a:rect r="r" b="b" t="t" l="l"/>
              <a:pathLst>
                <a:path h="216371" w="141055">
                  <a:moveTo>
                    <a:pt x="70528" y="0"/>
                  </a:moveTo>
                  <a:lnTo>
                    <a:pt x="70528" y="0"/>
                  </a:lnTo>
                  <a:cubicBezTo>
                    <a:pt x="89233" y="0"/>
                    <a:pt x="107172" y="7431"/>
                    <a:pt x="120398" y="20657"/>
                  </a:cubicBezTo>
                  <a:cubicBezTo>
                    <a:pt x="133625" y="33884"/>
                    <a:pt x="141055" y="51823"/>
                    <a:pt x="141055" y="70528"/>
                  </a:cubicBezTo>
                  <a:lnTo>
                    <a:pt x="141055" y="145843"/>
                  </a:lnTo>
                  <a:cubicBezTo>
                    <a:pt x="141055" y="164548"/>
                    <a:pt x="133625" y="182487"/>
                    <a:pt x="120398" y="195713"/>
                  </a:cubicBezTo>
                  <a:cubicBezTo>
                    <a:pt x="107172" y="208940"/>
                    <a:pt x="89233" y="216371"/>
                    <a:pt x="70528" y="216371"/>
                  </a:cubicBezTo>
                  <a:lnTo>
                    <a:pt x="70528" y="216371"/>
                  </a:lnTo>
                  <a:cubicBezTo>
                    <a:pt x="51823" y="216371"/>
                    <a:pt x="33884" y="208940"/>
                    <a:pt x="20657" y="195713"/>
                  </a:cubicBezTo>
                  <a:cubicBezTo>
                    <a:pt x="7431" y="182487"/>
                    <a:pt x="0" y="164548"/>
                    <a:pt x="0" y="145843"/>
                  </a:cubicBezTo>
                  <a:lnTo>
                    <a:pt x="0" y="70528"/>
                  </a:lnTo>
                  <a:cubicBezTo>
                    <a:pt x="0" y="51823"/>
                    <a:pt x="7431" y="33884"/>
                    <a:pt x="20657" y="20657"/>
                  </a:cubicBezTo>
                  <a:cubicBezTo>
                    <a:pt x="33884" y="7431"/>
                    <a:pt x="51823" y="0"/>
                    <a:pt x="70528" y="0"/>
                  </a:cubicBezTo>
                  <a:close/>
                </a:path>
              </a:pathLst>
            </a:custGeom>
            <a:solidFill>
              <a:srgbClr val="4EA069"/>
            </a:solidFill>
          </p:spPr>
        </p:sp>
        <p:sp>
          <p:nvSpPr>
            <p:cNvPr name="TextBox 7" id="7"/>
            <p:cNvSpPr txBox="true"/>
            <p:nvPr/>
          </p:nvSpPr>
          <p:spPr>
            <a:xfrm>
              <a:off x="0" y="-38100"/>
              <a:ext cx="141055"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6748" y="5003090"/>
            <a:ext cx="590270" cy="905439"/>
            <a:chOff x="0" y="0"/>
            <a:chExt cx="141055" cy="216371"/>
          </a:xfrm>
        </p:grpSpPr>
        <p:sp>
          <p:nvSpPr>
            <p:cNvPr name="Freeform 9" id="9"/>
            <p:cNvSpPr/>
            <p:nvPr/>
          </p:nvSpPr>
          <p:spPr>
            <a:xfrm flipH="false" flipV="false" rot="0">
              <a:off x="0" y="0"/>
              <a:ext cx="141055" cy="216371"/>
            </a:xfrm>
            <a:custGeom>
              <a:avLst/>
              <a:gdLst/>
              <a:ahLst/>
              <a:cxnLst/>
              <a:rect r="r" b="b" t="t" l="l"/>
              <a:pathLst>
                <a:path h="216371" w="141055">
                  <a:moveTo>
                    <a:pt x="70528" y="0"/>
                  </a:moveTo>
                  <a:lnTo>
                    <a:pt x="70528" y="0"/>
                  </a:lnTo>
                  <a:cubicBezTo>
                    <a:pt x="89233" y="0"/>
                    <a:pt x="107172" y="7431"/>
                    <a:pt x="120398" y="20657"/>
                  </a:cubicBezTo>
                  <a:cubicBezTo>
                    <a:pt x="133625" y="33884"/>
                    <a:pt x="141055" y="51823"/>
                    <a:pt x="141055" y="70528"/>
                  </a:cubicBezTo>
                  <a:lnTo>
                    <a:pt x="141055" y="145843"/>
                  </a:lnTo>
                  <a:cubicBezTo>
                    <a:pt x="141055" y="164548"/>
                    <a:pt x="133625" y="182487"/>
                    <a:pt x="120398" y="195713"/>
                  </a:cubicBezTo>
                  <a:cubicBezTo>
                    <a:pt x="107172" y="208940"/>
                    <a:pt x="89233" y="216371"/>
                    <a:pt x="70528" y="216371"/>
                  </a:cubicBezTo>
                  <a:lnTo>
                    <a:pt x="70528" y="216371"/>
                  </a:lnTo>
                  <a:cubicBezTo>
                    <a:pt x="51823" y="216371"/>
                    <a:pt x="33884" y="208940"/>
                    <a:pt x="20657" y="195713"/>
                  </a:cubicBezTo>
                  <a:cubicBezTo>
                    <a:pt x="7431" y="182487"/>
                    <a:pt x="0" y="164548"/>
                    <a:pt x="0" y="145843"/>
                  </a:cubicBezTo>
                  <a:lnTo>
                    <a:pt x="0" y="70528"/>
                  </a:lnTo>
                  <a:cubicBezTo>
                    <a:pt x="0" y="51823"/>
                    <a:pt x="7431" y="33884"/>
                    <a:pt x="20657" y="20657"/>
                  </a:cubicBezTo>
                  <a:cubicBezTo>
                    <a:pt x="33884" y="7431"/>
                    <a:pt x="51823" y="0"/>
                    <a:pt x="70528" y="0"/>
                  </a:cubicBezTo>
                  <a:close/>
                </a:path>
              </a:pathLst>
            </a:custGeom>
            <a:solidFill>
              <a:srgbClr val="4EA069"/>
            </a:solidFill>
          </p:spPr>
        </p:sp>
        <p:sp>
          <p:nvSpPr>
            <p:cNvPr name="TextBox 10" id="10"/>
            <p:cNvSpPr txBox="true"/>
            <p:nvPr/>
          </p:nvSpPr>
          <p:spPr>
            <a:xfrm>
              <a:off x="0" y="-38100"/>
              <a:ext cx="141055"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9700" y="7132578"/>
            <a:ext cx="594194" cy="905439"/>
            <a:chOff x="0" y="0"/>
            <a:chExt cx="141993" cy="216371"/>
          </a:xfrm>
        </p:grpSpPr>
        <p:sp>
          <p:nvSpPr>
            <p:cNvPr name="Freeform 12" id="12"/>
            <p:cNvSpPr/>
            <p:nvPr/>
          </p:nvSpPr>
          <p:spPr>
            <a:xfrm flipH="false" flipV="false" rot="0">
              <a:off x="0" y="0"/>
              <a:ext cx="141993" cy="216371"/>
            </a:xfrm>
            <a:custGeom>
              <a:avLst/>
              <a:gdLst/>
              <a:ahLst/>
              <a:cxnLst/>
              <a:rect r="r" b="b" t="t" l="l"/>
              <a:pathLst>
                <a:path h="216371" w="141993">
                  <a:moveTo>
                    <a:pt x="70997" y="0"/>
                  </a:moveTo>
                  <a:lnTo>
                    <a:pt x="70997" y="0"/>
                  </a:lnTo>
                  <a:cubicBezTo>
                    <a:pt x="110207" y="0"/>
                    <a:pt x="141993" y="31786"/>
                    <a:pt x="141993" y="70997"/>
                  </a:cubicBezTo>
                  <a:lnTo>
                    <a:pt x="141993" y="145374"/>
                  </a:lnTo>
                  <a:cubicBezTo>
                    <a:pt x="141993" y="184584"/>
                    <a:pt x="110207" y="216371"/>
                    <a:pt x="70997" y="216371"/>
                  </a:cubicBezTo>
                  <a:lnTo>
                    <a:pt x="70997" y="216371"/>
                  </a:lnTo>
                  <a:cubicBezTo>
                    <a:pt x="31786" y="216371"/>
                    <a:pt x="0" y="184584"/>
                    <a:pt x="0" y="145374"/>
                  </a:cubicBezTo>
                  <a:lnTo>
                    <a:pt x="0" y="70997"/>
                  </a:lnTo>
                  <a:cubicBezTo>
                    <a:pt x="0" y="31786"/>
                    <a:pt x="31786" y="0"/>
                    <a:pt x="70997" y="0"/>
                  </a:cubicBezTo>
                  <a:close/>
                </a:path>
              </a:pathLst>
            </a:custGeom>
            <a:solidFill>
              <a:srgbClr val="4EA069"/>
            </a:solidFill>
          </p:spPr>
        </p:sp>
        <p:sp>
          <p:nvSpPr>
            <p:cNvPr name="TextBox 13" id="13"/>
            <p:cNvSpPr txBox="true"/>
            <p:nvPr/>
          </p:nvSpPr>
          <p:spPr>
            <a:xfrm>
              <a:off x="0" y="-38100"/>
              <a:ext cx="141993" cy="254471"/>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7459380" y="3184339"/>
            <a:ext cx="10783393" cy="6034618"/>
          </a:xfrm>
          <a:custGeom>
            <a:avLst/>
            <a:gdLst/>
            <a:ahLst/>
            <a:cxnLst/>
            <a:rect r="r" b="b" t="t" l="l"/>
            <a:pathLst>
              <a:path h="6034618" w="10783393">
                <a:moveTo>
                  <a:pt x="0" y="0"/>
                </a:moveTo>
                <a:lnTo>
                  <a:pt x="10783393" y="0"/>
                </a:lnTo>
                <a:lnTo>
                  <a:pt x="10783393" y="6034618"/>
                </a:lnTo>
                <a:lnTo>
                  <a:pt x="0" y="6034618"/>
                </a:lnTo>
                <a:lnTo>
                  <a:pt x="0" y="0"/>
                </a:lnTo>
                <a:close/>
              </a:path>
            </a:pathLst>
          </a:custGeom>
          <a:blipFill>
            <a:blip r:embed="rId5"/>
            <a:stretch>
              <a:fillRect l="-16704" t="-17304" r="0" b="0"/>
            </a:stretch>
          </a:blipFill>
        </p:spPr>
      </p:sp>
      <p:sp>
        <p:nvSpPr>
          <p:cNvPr name="TextBox 15" id="15"/>
          <p:cNvSpPr txBox="true"/>
          <p:nvPr/>
        </p:nvSpPr>
        <p:spPr>
          <a:xfrm rot="0">
            <a:off x="968000" y="3117664"/>
            <a:ext cx="7962666" cy="940935"/>
          </a:xfrm>
          <a:prstGeom prst="rect">
            <a:avLst/>
          </a:prstGeom>
        </p:spPr>
        <p:txBody>
          <a:bodyPr anchor="t" rtlCol="false" tIns="0" lIns="0" bIns="0" rIns="0">
            <a:spAutoFit/>
          </a:bodyPr>
          <a:lstStyle/>
          <a:p>
            <a:pPr algn="l">
              <a:lnSpc>
                <a:spcPts val="3729"/>
              </a:lnSpc>
            </a:pPr>
            <a:r>
              <a:rPr lang="en-US" sz="2645" b="true">
                <a:solidFill>
                  <a:srgbClr val="006763"/>
                </a:solidFill>
                <a:latin typeface="Roboto Bold"/>
                <a:ea typeface="Roboto Bold"/>
                <a:cs typeface="Roboto Bold"/>
                <a:sym typeface="Roboto Bold"/>
              </a:rPr>
              <a:t>The Requirement: </a:t>
            </a:r>
          </a:p>
          <a:p>
            <a:pPr algn="l">
              <a:lnSpc>
                <a:spcPts val="3729"/>
              </a:lnSpc>
            </a:pPr>
            <a:r>
              <a:rPr lang="en-US" sz="2645">
                <a:solidFill>
                  <a:srgbClr val="006763"/>
                </a:solidFill>
                <a:latin typeface="Roboto"/>
                <a:ea typeface="Roboto"/>
                <a:cs typeface="Roboto"/>
                <a:sym typeface="Roboto"/>
              </a:rPr>
              <a:t>Voice interaction for ease of use.</a:t>
            </a:r>
          </a:p>
        </p:txBody>
      </p:sp>
      <p:sp>
        <p:nvSpPr>
          <p:cNvPr name="TextBox 16" id="16"/>
          <p:cNvSpPr txBox="true"/>
          <p:nvPr/>
        </p:nvSpPr>
        <p:spPr>
          <a:xfrm rot="0">
            <a:off x="454216" y="929324"/>
            <a:ext cx="9291853" cy="984885"/>
          </a:xfrm>
          <a:prstGeom prst="rect">
            <a:avLst/>
          </a:prstGeom>
        </p:spPr>
        <p:txBody>
          <a:bodyPr anchor="t" rtlCol="false" tIns="0" lIns="0" bIns="0" rIns="0">
            <a:spAutoFit/>
          </a:bodyPr>
          <a:lstStyle/>
          <a:p>
            <a:pPr algn="l">
              <a:lnSpc>
                <a:spcPts val="7560"/>
              </a:lnSpc>
            </a:pPr>
            <a:r>
              <a:rPr lang="en-US" sz="7200" b="true">
                <a:solidFill>
                  <a:srgbClr val="006763"/>
                </a:solidFill>
                <a:latin typeface="Bebas Neue Bold"/>
                <a:ea typeface="Bebas Neue Bold"/>
                <a:cs typeface="Bebas Neue Bold"/>
                <a:sym typeface="Bebas Neue Bold"/>
              </a:rPr>
              <a:t> OFFLINE AUDIO INTERACTION</a:t>
            </a:r>
          </a:p>
        </p:txBody>
      </p:sp>
      <p:sp>
        <p:nvSpPr>
          <p:cNvPr name="TextBox 17" id="17"/>
          <p:cNvSpPr txBox="true"/>
          <p:nvPr/>
        </p:nvSpPr>
        <p:spPr>
          <a:xfrm rot="0">
            <a:off x="157319" y="3326961"/>
            <a:ext cx="593794" cy="494937"/>
          </a:xfrm>
          <a:prstGeom prst="rect">
            <a:avLst/>
          </a:prstGeom>
        </p:spPr>
        <p:txBody>
          <a:bodyPr anchor="t" rtlCol="false" tIns="0" lIns="0" bIns="0" rIns="0">
            <a:spAutoFit/>
          </a:bodyPr>
          <a:lstStyle/>
          <a:p>
            <a:pPr algn="ctr">
              <a:lnSpc>
                <a:spcPts val="3998"/>
              </a:lnSpc>
            </a:pPr>
            <a:r>
              <a:rPr lang="en-US" sz="2835" b="true">
                <a:solidFill>
                  <a:srgbClr val="FFFFFF"/>
                </a:solidFill>
                <a:latin typeface="Roboto Bold"/>
                <a:ea typeface="Roboto Bold"/>
                <a:cs typeface="Roboto Bold"/>
                <a:sym typeface="Roboto Bold"/>
              </a:rPr>
              <a:t>01</a:t>
            </a:r>
          </a:p>
        </p:txBody>
      </p:sp>
      <p:sp>
        <p:nvSpPr>
          <p:cNvPr name="TextBox 18" id="18"/>
          <p:cNvSpPr txBox="true"/>
          <p:nvPr/>
        </p:nvSpPr>
        <p:spPr>
          <a:xfrm rot="0">
            <a:off x="139700" y="5175004"/>
            <a:ext cx="593794" cy="494937"/>
          </a:xfrm>
          <a:prstGeom prst="rect">
            <a:avLst/>
          </a:prstGeom>
        </p:spPr>
        <p:txBody>
          <a:bodyPr anchor="t" rtlCol="false" tIns="0" lIns="0" bIns="0" rIns="0">
            <a:spAutoFit/>
          </a:bodyPr>
          <a:lstStyle/>
          <a:p>
            <a:pPr algn="ctr">
              <a:lnSpc>
                <a:spcPts val="3998"/>
              </a:lnSpc>
            </a:pPr>
            <a:r>
              <a:rPr lang="en-US" sz="2835" b="true">
                <a:solidFill>
                  <a:srgbClr val="FFFFFF"/>
                </a:solidFill>
                <a:latin typeface="Roboto Bold"/>
                <a:ea typeface="Roboto Bold"/>
                <a:cs typeface="Roboto Bold"/>
                <a:sym typeface="Roboto Bold"/>
              </a:rPr>
              <a:t>02</a:t>
            </a:r>
          </a:p>
        </p:txBody>
      </p:sp>
      <p:sp>
        <p:nvSpPr>
          <p:cNvPr name="TextBox 19" id="19"/>
          <p:cNvSpPr txBox="true"/>
          <p:nvPr/>
        </p:nvSpPr>
        <p:spPr>
          <a:xfrm rot="0">
            <a:off x="173660" y="7304492"/>
            <a:ext cx="526274" cy="494937"/>
          </a:xfrm>
          <a:prstGeom prst="rect">
            <a:avLst/>
          </a:prstGeom>
        </p:spPr>
        <p:txBody>
          <a:bodyPr anchor="t" rtlCol="false" tIns="0" lIns="0" bIns="0" rIns="0">
            <a:spAutoFit/>
          </a:bodyPr>
          <a:lstStyle/>
          <a:p>
            <a:pPr algn="ctr">
              <a:lnSpc>
                <a:spcPts val="3998"/>
              </a:lnSpc>
            </a:pPr>
            <a:r>
              <a:rPr lang="en-US" sz="2835" b="true">
                <a:solidFill>
                  <a:srgbClr val="FFFFFF"/>
                </a:solidFill>
                <a:latin typeface="Roboto Bold"/>
                <a:ea typeface="Roboto Bold"/>
                <a:cs typeface="Roboto Bold"/>
                <a:sym typeface="Roboto Bold"/>
              </a:rPr>
              <a:t>03</a:t>
            </a:r>
          </a:p>
        </p:txBody>
      </p:sp>
      <p:sp>
        <p:nvSpPr>
          <p:cNvPr name="TextBox 20" id="20"/>
          <p:cNvSpPr txBox="true"/>
          <p:nvPr/>
        </p:nvSpPr>
        <p:spPr>
          <a:xfrm rot="0">
            <a:off x="964476" y="4936415"/>
            <a:ext cx="6228203" cy="2358144"/>
          </a:xfrm>
          <a:prstGeom prst="rect">
            <a:avLst/>
          </a:prstGeom>
        </p:spPr>
        <p:txBody>
          <a:bodyPr anchor="t" rtlCol="false" tIns="0" lIns="0" bIns="0" rIns="0">
            <a:spAutoFit/>
          </a:bodyPr>
          <a:lstStyle/>
          <a:p>
            <a:pPr algn="l">
              <a:lnSpc>
                <a:spcPts val="3729"/>
              </a:lnSpc>
            </a:pPr>
            <a:r>
              <a:rPr lang="en-US" sz="2645" b="true">
                <a:solidFill>
                  <a:srgbClr val="006763"/>
                </a:solidFill>
                <a:latin typeface="Roboto Bold"/>
                <a:ea typeface="Roboto Bold"/>
                <a:cs typeface="Roboto Bold"/>
                <a:sym typeface="Roboto Bold"/>
              </a:rPr>
              <a:t>The Constraint: </a:t>
            </a:r>
          </a:p>
          <a:p>
            <a:pPr algn="l">
              <a:lnSpc>
                <a:spcPts val="3729"/>
              </a:lnSpc>
            </a:pPr>
            <a:r>
              <a:rPr lang="en-US" sz="2645">
                <a:solidFill>
                  <a:srgbClr val="006763"/>
                </a:solidFill>
                <a:latin typeface="Roboto"/>
                <a:ea typeface="Roboto"/>
                <a:cs typeface="Roboto"/>
                <a:sym typeface="Roboto"/>
              </a:rPr>
              <a:t>Government financial data cannot be sent to cloud APIs like Google or OpenAI for speech-to-text.</a:t>
            </a:r>
          </a:p>
          <a:p>
            <a:pPr algn="l">
              <a:lnSpc>
                <a:spcPts val="3729"/>
              </a:lnSpc>
            </a:pPr>
          </a:p>
        </p:txBody>
      </p:sp>
      <p:sp>
        <p:nvSpPr>
          <p:cNvPr name="TextBox 21" id="21"/>
          <p:cNvSpPr txBox="true"/>
          <p:nvPr/>
        </p:nvSpPr>
        <p:spPr>
          <a:xfrm rot="0">
            <a:off x="907775" y="7084354"/>
            <a:ext cx="6284905" cy="2358144"/>
          </a:xfrm>
          <a:prstGeom prst="rect">
            <a:avLst/>
          </a:prstGeom>
        </p:spPr>
        <p:txBody>
          <a:bodyPr anchor="t" rtlCol="false" tIns="0" lIns="0" bIns="0" rIns="0">
            <a:spAutoFit/>
          </a:bodyPr>
          <a:lstStyle/>
          <a:p>
            <a:pPr algn="l">
              <a:lnSpc>
                <a:spcPts val="3729"/>
              </a:lnSpc>
            </a:pPr>
            <a:r>
              <a:rPr lang="en-US" sz="2645" b="true">
                <a:solidFill>
                  <a:srgbClr val="006763"/>
                </a:solidFill>
                <a:latin typeface="Roboto Bold"/>
                <a:ea typeface="Roboto Bold"/>
                <a:cs typeface="Roboto Bold"/>
                <a:sym typeface="Roboto Bold"/>
              </a:rPr>
              <a:t>Our Solution: </a:t>
            </a:r>
          </a:p>
          <a:p>
            <a:pPr algn="l">
              <a:lnSpc>
                <a:spcPts val="3729"/>
              </a:lnSpc>
            </a:pPr>
            <a:r>
              <a:rPr lang="en-US" sz="2645">
                <a:solidFill>
                  <a:srgbClr val="006763"/>
                </a:solidFill>
                <a:latin typeface="Roboto"/>
                <a:ea typeface="Roboto"/>
                <a:cs typeface="Roboto"/>
                <a:sym typeface="Roboto"/>
              </a:rPr>
              <a:t>We integrated a 100% local, offline Speech-to-Text adapter. Officials can dictate queries securely without any data ever leaving the local server.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0"/>
            <a:ext cx="13793869" cy="10287000"/>
          </a:xfrm>
          <a:custGeom>
            <a:avLst/>
            <a:gdLst/>
            <a:ahLst/>
            <a:cxnLst/>
            <a:rect r="r" b="b" t="t" l="l"/>
            <a:pathLst>
              <a:path h="10287000" w="13793869">
                <a:moveTo>
                  <a:pt x="0" y="0"/>
                </a:moveTo>
                <a:lnTo>
                  <a:pt x="13793869" y="0"/>
                </a:lnTo>
                <a:lnTo>
                  <a:pt x="13793869" y="10287000"/>
                </a:lnTo>
                <a:lnTo>
                  <a:pt x="0" y="10287000"/>
                </a:lnTo>
                <a:lnTo>
                  <a:pt x="0" y="0"/>
                </a:lnTo>
                <a:close/>
              </a:path>
            </a:pathLst>
          </a:custGeom>
          <a:blipFill>
            <a:blip r:embed="rId3"/>
            <a:stretch>
              <a:fillRect l="-3931" t="-2833" r="0" b="-17594"/>
            </a:stretch>
          </a:blipFill>
        </p:spPr>
      </p:sp>
      <p:sp>
        <p:nvSpPr>
          <p:cNvPr name="Freeform 4" id="4"/>
          <p:cNvSpPr/>
          <p:nvPr/>
        </p:nvSpPr>
        <p:spPr>
          <a:xfrm flipH="false" flipV="false" rot="0">
            <a:off x="-726094" y="747466"/>
            <a:ext cx="12837884" cy="2351969"/>
          </a:xfrm>
          <a:custGeom>
            <a:avLst/>
            <a:gdLst/>
            <a:ahLst/>
            <a:cxnLst/>
            <a:rect r="r" b="b" t="t" l="l"/>
            <a:pathLst>
              <a:path h="2351969" w="12837884">
                <a:moveTo>
                  <a:pt x="0" y="0"/>
                </a:moveTo>
                <a:lnTo>
                  <a:pt x="12837884" y="0"/>
                </a:lnTo>
                <a:lnTo>
                  <a:pt x="12837884" y="2351969"/>
                </a:lnTo>
                <a:lnTo>
                  <a:pt x="0" y="2351969"/>
                </a:lnTo>
                <a:lnTo>
                  <a:pt x="0" y="0"/>
                </a:lnTo>
                <a:close/>
              </a:path>
            </a:pathLst>
          </a:custGeom>
          <a:blipFill>
            <a:blip r:embed="rId4"/>
            <a:stretch>
              <a:fillRect l="-10078" t="-30082" r="0" b="-32898"/>
            </a:stretch>
          </a:blipFill>
        </p:spPr>
      </p:sp>
      <p:grpSp>
        <p:nvGrpSpPr>
          <p:cNvPr name="Group 5" id="5"/>
          <p:cNvGrpSpPr/>
          <p:nvPr/>
        </p:nvGrpSpPr>
        <p:grpSpPr>
          <a:xfrm rot="0">
            <a:off x="1028700" y="3768318"/>
            <a:ext cx="300180" cy="254782"/>
            <a:chOff x="0" y="0"/>
            <a:chExt cx="957625" cy="812800"/>
          </a:xfrm>
        </p:grpSpPr>
        <p:sp>
          <p:nvSpPr>
            <p:cNvPr name="Freeform 6" id="6"/>
            <p:cNvSpPr/>
            <p:nvPr/>
          </p:nvSpPr>
          <p:spPr>
            <a:xfrm flipH="false" flipV="false" rot="0">
              <a:off x="0" y="0"/>
              <a:ext cx="957625" cy="812800"/>
            </a:xfrm>
            <a:custGeom>
              <a:avLst/>
              <a:gdLst/>
              <a:ahLst/>
              <a:cxnLst/>
              <a:rect r="r" b="b" t="t" l="l"/>
              <a:pathLst>
                <a:path h="812800" w="957625">
                  <a:moveTo>
                    <a:pt x="478813" y="0"/>
                  </a:moveTo>
                  <a:cubicBezTo>
                    <a:pt x="214372" y="0"/>
                    <a:pt x="0" y="181951"/>
                    <a:pt x="0" y="406400"/>
                  </a:cubicBezTo>
                  <a:cubicBezTo>
                    <a:pt x="0" y="630849"/>
                    <a:pt x="214372" y="812800"/>
                    <a:pt x="478813" y="812800"/>
                  </a:cubicBezTo>
                  <a:cubicBezTo>
                    <a:pt x="743254" y="812800"/>
                    <a:pt x="957625" y="630849"/>
                    <a:pt x="957625" y="406400"/>
                  </a:cubicBezTo>
                  <a:cubicBezTo>
                    <a:pt x="957625" y="181951"/>
                    <a:pt x="743254" y="0"/>
                    <a:pt x="478813" y="0"/>
                  </a:cubicBezTo>
                  <a:close/>
                </a:path>
              </a:pathLst>
            </a:custGeom>
            <a:solidFill>
              <a:srgbClr val="3E893E"/>
            </a:solidFill>
          </p:spPr>
        </p:sp>
        <p:sp>
          <p:nvSpPr>
            <p:cNvPr name="TextBox 7" id="7"/>
            <p:cNvSpPr txBox="true"/>
            <p:nvPr/>
          </p:nvSpPr>
          <p:spPr>
            <a:xfrm>
              <a:off x="89777" y="38100"/>
              <a:ext cx="778071"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7872093"/>
            <a:ext cx="300180" cy="254782"/>
            <a:chOff x="0" y="0"/>
            <a:chExt cx="957625" cy="812800"/>
          </a:xfrm>
        </p:grpSpPr>
        <p:sp>
          <p:nvSpPr>
            <p:cNvPr name="Freeform 9" id="9"/>
            <p:cNvSpPr/>
            <p:nvPr/>
          </p:nvSpPr>
          <p:spPr>
            <a:xfrm flipH="false" flipV="false" rot="0">
              <a:off x="0" y="0"/>
              <a:ext cx="957625" cy="812800"/>
            </a:xfrm>
            <a:custGeom>
              <a:avLst/>
              <a:gdLst/>
              <a:ahLst/>
              <a:cxnLst/>
              <a:rect r="r" b="b" t="t" l="l"/>
              <a:pathLst>
                <a:path h="812800" w="957625">
                  <a:moveTo>
                    <a:pt x="478813" y="0"/>
                  </a:moveTo>
                  <a:cubicBezTo>
                    <a:pt x="214372" y="0"/>
                    <a:pt x="0" y="181951"/>
                    <a:pt x="0" y="406400"/>
                  </a:cubicBezTo>
                  <a:cubicBezTo>
                    <a:pt x="0" y="630849"/>
                    <a:pt x="214372" y="812800"/>
                    <a:pt x="478813" y="812800"/>
                  </a:cubicBezTo>
                  <a:cubicBezTo>
                    <a:pt x="743254" y="812800"/>
                    <a:pt x="957625" y="630849"/>
                    <a:pt x="957625" y="406400"/>
                  </a:cubicBezTo>
                  <a:cubicBezTo>
                    <a:pt x="957625" y="181951"/>
                    <a:pt x="743254" y="0"/>
                    <a:pt x="478813" y="0"/>
                  </a:cubicBezTo>
                  <a:close/>
                </a:path>
              </a:pathLst>
            </a:custGeom>
            <a:solidFill>
              <a:srgbClr val="3E893E"/>
            </a:solidFill>
          </p:spPr>
        </p:sp>
        <p:sp>
          <p:nvSpPr>
            <p:cNvPr name="TextBox 10" id="10"/>
            <p:cNvSpPr txBox="true"/>
            <p:nvPr/>
          </p:nvSpPr>
          <p:spPr>
            <a:xfrm>
              <a:off x="89777" y="38100"/>
              <a:ext cx="778071"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5479008"/>
            <a:ext cx="300180" cy="254782"/>
            <a:chOff x="0" y="0"/>
            <a:chExt cx="957625" cy="812800"/>
          </a:xfrm>
        </p:grpSpPr>
        <p:sp>
          <p:nvSpPr>
            <p:cNvPr name="Freeform 12" id="12"/>
            <p:cNvSpPr/>
            <p:nvPr/>
          </p:nvSpPr>
          <p:spPr>
            <a:xfrm flipH="false" flipV="false" rot="0">
              <a:off x="0" y="0"/>
              <a:ext cx="957625" cy="812800"/>
            </a:xfrm>
            <a:custGeom>
              <a:avLst/>
              <a:gdLst/>
              <a:ahLst/>
              <a:cxnLst/>
              <a:rect r="r" b="b" t="t" l="l"/>
              <a:pathLst>
                <a:path h="812800" w="957625">
                  <a:moveTo>
                    <a:pt x="478813" y="0"/>
                  </a:moveTo>
                  <a:cubicBezTo>
                    <a:pt x="214372" y="0"/>
                    <a:pt x="0" y="181951"/>
                    <a:pt x="0" y="406400"/>
                  </a:cubicBezTo>
                  <a:cubicBezTo>
                    <a:pt x="0" y="630849"/>
                    <a:pt x="214372" y="812800"/>
                    <a:pt x="478813" y="812800"/>
                  </a:cubicBezTo>
                  <a:cubicBezTo>
                    <a:pt x="743254" y="812800"/>
                    <a:pt x="957625" y="630849"/>
                    <a:pt x="957625" y="406400"/>
                  </a:cubicBezTo>
                  <a:cubicBezTo>
                    <a:pt x="957625" y="181951"/>
                    <a:pt x="743254" y="0"/>
                    <a:pt x="478813" y="0"/>
                  </a:cubicBezTo>
                  <a:close/>
                </a:path>
              </a:pathLst>
            </a:custGeom>
            <a:solidFill>
              <a:srgbClr val="3E893E"/>
            </a:solidFill>
          </p:spPr>
        </p:sp>
        <p:sp>
          <p:nvSpPr>
            <p:cNvPr name="TextBox 13" id="13"/>
            <p:cNvSpPr txBox="true"/>
            <p:nvPr/>
          </p:nvSpPr>
          <p:spPr>
            <a:xfrm>
              <a:off x="89777" y="38100"/>
              <a:ext cx="778071"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7878381" y="3489960"/>
            <a:ext cx="10409619" cy="6223549"/>
          </a:xfrm>
          <a:custGeom>
            <a:avLst/>
            <a:gdLst/>
            <a:ahLst/>
            <a:cxnLst/>
            <a:rect r="r" b="b" t="t" l="l"/>
            <a:pathLst>
              <a:path h="6223549" w="10409619">
                <a:moveTo>
                  <a:pt x="0" y="0"/>
                </a:moveTo>
                <a:lnTo>
                  <a:pt x="10409619" y="0"/>
                </a:lnTo>
                <a:lnTo>
                  <a:pt x="10409619" y="6223549"/>
                </a:lnTo>
                <a:lnTo>
                  <a:pt x="0" y="6223549"/>
                </a:lnTo>
                <a:lnTo>
                  <a:pt x="0" y="0"/>
                </a:lnTo>
                <a:close/>
              </a:path>
            </a:pathLst>
          </a:custGeom>
          <a:blipFill>
            <a:blip r:embed="rId5"/>
            <a:stretch>
              <a:fillRect l="0" t="-14987" r="-23695" b="-1390"/>
            </a:stretch>
          </a:blipFill>
        </p:spPr>
      </p:sp>
      <p:sp>
        <p:nvSpPr>
          <p:cNvPr name="TextBox 15" id="15"/>
          <p:cNvSpPr txBox="true"/>
          <p:nvPr/>
        </p:nvSpPr>
        <p:spPr>
          <a:xfrm rot="0">
            <a:off x="430639" y="1104900"/>
            <a:ext cx="10678462" cy="984885"/>
          </a:xfrm>
          <a:prstGeom prst="rect">
            <a:avLst/>
          </a:prstGeom>
        </p:spPr>
        <p:txBody>
          <a:bodyPr anchor="t" rtlCol="false" tIns="0" lIns="0" bIns="0" rIns="0">
            <a:spAutoFit/>
          </a:bodyPr>
          <a:lstStyle/>
          <a:p>
            <a:pPr algn="l">
              <a:lnSpc>
                <a:spcPts val="7560"/>
              </a:lnSpc>
            </a:pPr>
            <a:r>
              <a:rPr lang="en-US" sz="7200" b="true">
                <a:solidFill>
                  <a:srgbClr val="006763"/>
                </a:solidFill>
                <a:latin typeface="Bebas Neue Bold"/>
                <a:ea typeface="Bebas Neue Bold"/>
                <a:cs typeface="Bebas Neue Bold"/>
                <a:sym typeface="Bebas Neue Bold"/>
              </a:rPr>
              <a:t>TRACEABLE POLICY-NOTE DRAFTING</a:t>
            </a:r>
          </a:p>
        </p:txBody>
      </p:sp>
      <p:sp>
        <p:nvSpPr>
          <p:cNvPr name="TextBox 16" id="16"/>
          <p:cNvSpPr txBox="true"/>
          <p:nvPr/>
        </p:nvSpPr>
        <p:spPr>
          <a:xfrm rot="0">
            <a:off x="1446631" y="3667562"/>
            <a:ext cx="6713462" cy="1234440"/>
          </a:xfrm>
          <a:prstGeom prst="rect">
            <a:avLst/>
          </a:prstGeom>
        </p:spPr>
        <p:txBody>
          <a:bodyPr anchor="t" rtlCol="false" tIns="0" lIns="0" bIns="0" rIns="0">
            <a:spAutoFit/>
          </a:bodyPr>
          <a:lstStyle/>
          <a:p>
            <a:pPr algn="l">
              <a:lnSpc>
                <a:spcPts val="3359"/>
              </a:lnSpc>
            </a:pPr>
            <a:r>
              <a:rPr lang="en-US" sz="2400" b="true">
                <a:solidFill>
                  <a:srgbClr val="006763"/>
                </a:solidFill>
                <a:latin typeface="Canva Sans Bold"/>
                <a:ea typeface="Canva Sans Bold"/>
                <a:cs typeface="Canva Sans Bold"/>
                <a:sym typeface="Canva Sans Bold"/>
              </a:rPr>
              <a:t>Beyond Ch</a:t>
            </a:r>
            <a:r>
              <a:rPr lang="en-US" b="true" sz="2400">
                <a:solidFill>
                  <a:srgbClr val="006763"/>
                </a:solidFill>
                <a:latin typeface="Canva Sans Bold"/>
                <a:ea typeface="Canva Sans Bold"/>
                <a:cs typeface="Canva Sans Bold"/>
                <a:sym typeface="Canva Sans Bold"/>
              </a:rPr>
              <a:t>atbots: </a:t>
            </a:r>
          </a:p>
          <a:p>
            <a:pPr algn="l">
              <a:lnSpc>
                <a:spcPts val="3359"/>
              </a:lnSpc>
            </a:pPr>
            <a:r>
              <a:rPr lang="en-US" sz="2400">
                <a:solidFill>
                  <a:srgbClr val="006763"/>
                </a:solidFill>
                <a:latin typeface="Canva Sans"/>
                <a:ea typeface="Canva Sans"/>
                <a:cs typeface="Canva Sans"/>
                <a:sym typeface="Canva Sans"/>
              </a:rPr>
              <a:t>An official doesn't just need a chat answer; they need an official Secretariat draft.</a:t>
            </a:r>
          </a:p>
        </p:txBody>
      </p:sp>
      <p:sp>
        <p:nvSpPr>
          <p:cNvPr name="TextBox 17" id="17"/>
          <p:cNvSpPr txBox="true"/>
          <p:nvPr/>
        </p:nvSpPr>
        <p:spPr>
          <a:xfrm rot="0">
            <a:off x="1446631" y="5378252"/>
            <a:ext cx="6040131" cy="2072640"/>
          </a:xfrm>
          <a:prstGeom prst="rect">
            <a:avLst/>
          </a:prstGeom>
        </p:spPr>
        <p:txBody>
          <a:bodyPr anchor="t" rtlCol="false" tIns="0" lIns="0" bIns="0" rIns="0">
            <a:spAutoFit/>
          </a:bodyPr>
          <a:lstStyle/>
          <a:p>
            <a:pPr algn="just">
              <a:lnSpc>
                <a:spcPts val="3359"/>
              </a:lnSpc>
              <a:spcBef>
                <a:spcPct val="0"/>
              </a:spcBef>
            </a:pPr>
            <a:r>
              <a:rPr lang="en-US" b="true" sz="2400">
                <a:solidFill>
                  <a:srgbClr val="006763"/>
                </a:solidFill>
                <a:latin typeface="Canva Sans Bold"/>
                <a:ea typeface="Canva Sans Bold"/>
                <a:cs typeface="Canva Sans Bold"/>
                <a:sym typeface="Canva Sans Bold"/>
              </a:rPr>
              <a:t>The Agent</a:t>
            </a:r>
            <a:r>
              <a:rPr lang="en-US" b="true" sz="2400">
                <a:solidFill>
                  <a:srgbClr val="006763"/>
                </a:solidFill>
                <a:latin typeface="Canva Sans Bold"/>
                <a:ea typeface="Canva Sans Bold"/>
                <a:cs typeface="Canva Sans Bold"/>
                <a:sym typeface="Canva Sans Bold"/>
              </a:rPr>
              <a:t> Workflow:</a:t>
            </a:r>
          </a:p>
          <a:p>
            <a:pPr algn="just">
              <a:lnSpc>
                <a:spcPts val="3359"/>
              </a:lnSpc>
              <a:spcBef>
                <a:spcPct val="0"/>
              </a:spcBef>
            </a:pPr>
            <a:r>
              <a:rPr lang="en-US" sz="2400">
                <a:solidFill>
                  <a:srgbClr val="006763"/>
                </a:solidFill>
                <a:latin typeface="Canva Sans"/>
                <a:ea typeface="Canva Sans"/>
                <a:cs typeface="Canva Sans"/>
                <a:sym typeface="Canva Sans"/>
              </a:rPr>
              <a:t>Retrieves active GOs.</a:t>
            </a:r>
          </a:p>
          <a:p>
            <a:pPr algn="just">
              <a:lnSpc>
                <a:spcPts val="3359"/>
              </a:lnSpc>
              <a:spcBef>
                <a:spcPct val="0"/>
              </a:spcBef>
            </a:pPr>
            <a:r>
              <a:rPr lang="en-US" sz="2400">
                <a:solidFill>
                  <a:srgbClr val="006763"/>
                </a:solidFill>
                <a:latin typeface="Canva Sans"/>
                <a:ea typeface="Canva Sans"/>
                <a:cs typeface="Canva Sans"/>
                <a:sym typeface="Canva Sans"/>
              </a:rPr>
              <a:t>Extracts financial figures.</a:t>
            </a:r>
          </a:p>
          <a:p>
            <a:pPr algn="just">
              <a:lnSpc>
                <a:spcPts val="3359"/>
              </a:lnSpc>
              <a:spcBef>
                <a:spcPct val="0"/>
              </a:spcBef>
            </a:pPr>
            <a:r>
              <a:rPr lang="en-US" sz="2400">
                <a:solidFill>
                  <a:srgbClr val="006763"/>
                </a:solidFill>
                <a:latin typeface="Canva Sans"/>
                <a:ea typeface="Canva Sans"/>
                <a:cs typeface="Canva Sans"/>
                <a:sym typeface="Canva Sans"/>
              </a:rPr>
              <a:t>Formats the data directly into the official Kerala Secretariat manual template.</a:t>
            </a:r>
          </a:p>
        </p:txBody>
      </p:sp>
      <p:sp>
        <p:nvSpPr>
          <p:cNvPr name="TextBox 18" id="18"/>
          <p:cNvSpPr txBox="true"/>
          <p:nvPr/>
        </p:nvSpPr>
        <p:spPr>
          <a:xfrm rot="0">
            <a:off x="1446631" y="7833993"/>
            <a:ext cx="6040131" cy="1234440"/>
          </a:xfrm>
          <a:prstGeom prst="rect">
            <a:avLst/>
          </a:prstGeom>
        </p:spPr>
        <p:txBody>
          <a:bodyPr anchor="t" rtlCol="false" tIns="0" lIns="0" bIns="0" rIns="0">
            <a:spAutoFit/>
          </a:bodyPr>
          <a:lstStyle/>
          <a:p>
            <a:pPr algn="just">
              <a:lnSpc>
                <a:spcPts val="3359"/>
              </a:lnSpc>
              <a:spcBef>
                <a:spcPct val="0"/>
              </a:spcBef>
            </a:pPr>
            <a:r>
              <a:rPr lang="en-US" b="true" sz="2400">
                <a:solidFill>
                  <a:srgbClr val="006763"/>
                </a:solidFill>
                <a:latin typeface="Canva Sans Bold"/>
                <a:ea typeface="Canva Sans Bold"/>
                <a:cs typeface="Canva Sans Bold"/>
                <a:sym typeface="Canva Sans Bold"/>
              </a:rPr>
              <a:t>The Resu</a:t>
            </a:r>
            <a:r>
              <a:rPr lang="en-US" b="true" sz="2400">
                <a:solidFill>
                  <a:srgbClr val="006763"/>
                </a:solidFill>
                <a:latin typeface="Canva Sans Bold"/>
                <a:ea typeface="Canva Sans Bold"/>
                <a:cs typeface="Canva Sans Bold"/>
                <a:sym typeface="Canva Sans Bold"/>
              </a:rPr>
              <a:t>lt: </a:t>
            </a:r>
          </a:p>
          <a:p>
            <a:pPr algn="just">
              <a:lnSpc>
                <a:spcPts val="3359"/>
              </a:lnSpc>
              <a:spcBef>
                <a:spcPct val="0"/>
              </a:spcBef>
            </a:pPr>
            <a:r>
              <a:rPr lang="en-US" sz="2400">
                <a:solidFill>
                  <a:srgbClr val="006763"/>
                </a:solidFill>
                <a:latin typeface="Canva Sans"/>
                <a:ea typeface="Canva Sans"/>
                <a:cs typeface="Canva Sans"/>
                <a:sym typeface="Canva Sans"/>
              </a:rPr>
              <a:t>Hours of manual drafting reduced to a 5-second, fully traceable process.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0">
            <a:off x="0" y="318097"/>
            <a:ext cx="13545752" cy="2103199"/>
          </a:xfrm>
          <a:custGeom>
            <a:avLst/>
            <a:gdLst/>
            <a:ahLst/>
            <a:cxnLst/>
            <a:rect r="r" b="b" t="t" l="l"/>
            <a:pathLst>
              <a:path h="2103199" w="13545752">
                <a:moveTo>
                  <a:pt x="13545752" y="0"/>
                </a:moveTo>
                <a:lnTo>
                  <a:pt x="0" y="0"/>
                </a:lnTo>
                <a:lnTo>
                  <a:pt x="0" y="2103199"/>
                </a:lnTo>
                <a:lnTo>
                  <a:pt x="13545752" y="2103199"/>
                </a:lnTo>
                <a:lnTo>
                  <a:pt x="13545752" y="0"/>
                </a:lnTo>
                <a:close/>
              </a:path>
            </a:pathLst>
          </a:custGeom>
          <a:blipFill>
            <a:blip r:embed="rId3"/>
            <a:stretch>
              <a:fillRect l="0" t="-64086" r="-18109" b="-42250"/>
            </a:stretch>
          </a:blipFill>
        </p:spPr>
      </p:sp>
      <p:sp>
        <p:nvSpPr>
          <p:cNvPr name="Freeform 4" id="4"/>
          <p:cNvSpPr/>
          <p:nvPr/>
        </p:nvSpPr>
        <p:spPr>
          <a:xfrm flipH="false" flipV="false" rot="0">
            <a:off x="0" y="2634930"/>
            <a:ext cx="18288000" cy="7504208"/>
          </a:xfrm>
          <a:custGeom>
            <a:avLst/>
            <a:gdLst/>
            <a:ahLst/>
            <a:cxnLst/>
            <a:rect r="r" b="b" t="t" l="l"/>
            <a:pathLst>
              <a:path h="7504208" w="18288000">
                <a:moveTo>
                  <a:pt x="0" y="0"/>
                </a:moveTo>
                <a:lnTo>
                  <a:pt x="18288000" y="0"/>
                </a:lnTo>
                <a:lnTo>
                  <a:pt x="18288000" y="7504208"/>
                </a:lnTo>
                <a:lnTo>
                  <a:pt x="0" y="7504208"/>
                </a:lnTo>
                <a:lnTo>
                  <a:pt x="0" y="0"/>
                </a:lnTo>
                <a:close/>
              </a:path>
            </a:pathLst>
          </a:custGeom>
          <a:blipFill>
            <a:blip r:embed="rId4"/>
            <a:stretch>
              <a:fillRect l="-15650" t="-252397" r="-13888" b="0"/>
            </a:stretch>
          </a:blipFill>
        </p:spPr>
      </p:sp>
      <p:grpSp>
        <p:nvGrpSpPr>
          <p:cNvPr name="Group 5" id="5"/>
          <p:cNvGrpSpPr/>
          <p:nvPr/>
        </p:nvGrpSpPr>
        <p:grpSpPr>
          <a:xfrm rot="0">
            <a:off x="8981679" y="3044673"/>
            <a:ext cx="651627" cy="821532"/>
            <a:chOff x="0" y="0"/>
            <a:chExt cx="171622" cy="216371"/>
          </a:xfrm>
        </p:grpSpPr>
        <p:sp>
          <p:nvSpPr>
            <p:cNvPr name="Freeform 6" id="6"/>
            <p:cNvSpPr/>
            <p:nvPr/>
          </p:nvSpPr>
          <p:spPr>
            <a:xfrm flipH="false" flipV="false" rot="0">
              <a:off x="0" y="0"/>
              <a:ext cx="171622" cy="216371"/>
            </a:xfrm>
            <a:custGeom>
              <a:avLst/>
              <a:gdLst/>
              <a:ahLst/>
              <a:cxnLst/>
              <a:rect r="r" b="b" t="t" l="l"/>
              <a:pathLst>
                <a:path h="216371" w="171622">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name="TextBox 7" id="7"/>
            <p:cNvSpPr txBox="true"/>
            <p:nvPr/>
          </p:nvSpPr>
          <p:spPr>
            <a:xfrm>
              <a:off x="0" y="-38100"/>
              <a:ext cx="171622"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8981679" y="4600805"/>
            <a:ext cx="651627" cy="821532"/>
            <a:chOff x="0" y="0"/>
            <a:chExt cx="171622" cy="216371"/>
          </a:xfrm>
        </p:grpSpPr>
        <p:sp>
          <p:nvSpPr>
            <p:cNvPr name="Freeform 9" id="9"/>
            <p:cNvSpPr/>
            <p:nvPr/>
          </p:nvSpPr>
          <p:spPr>
            <a:xfrm flipH="false" flipV="false" rot="0">
              <a:off x="0" y="0"/>
              <a:ext cx="171622" cy="216371"/>
            </a:xfrm>
            <a:custGeom>
              <a:avLst/>
              <a:gdLst/>
              <a:ahLst/>
              <a:cxnLst/>
              <a:rect r="r" b="b" t="t" l="l"/>
              <a:pathLst>
                <a:path h="216371" w="171622">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name="TextBox 10" id="10"/>
            <p:cNvSpPr txBox="true"/>
            <p:nvPr/>
          </p:nvSpPr>
          <p:spPr>
            <a:xfrm>
              <a:off x="0" y="-38100"/>
              <a:ext cx="171622"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8981679" y="7071337"/>
            <a:ext cx="651627" cy="821532"/>
            <a:chOff x="0" y="0"/>
            <a:chExt cx="171622" cy="216371"/>
          </a:xfrm>
        </p:grpSpPr>
        <p:sp>
          <p:nvSpPr>
            <p:cNvPr name="Freeform 12" id="12"/>
            <p:cNvSpPr/>
            <p:nvPr/>
          </p:nvSpPr>
          <p:spPr>
            <a:xfrm flipH="false" flipV="false" rot="0">
              <a:off x="0" y="0"/>
              <a:ext cx="171622" cy="216371"/>
            </a:xfrm>
            <a:custGeom>
              <a:avLst/>
              <a:gdLst/>
              <a:ahLst/>
              <a:cxnLst/>
              <a:rect r="r" b="b" t="t" l="l"/>
              <a:pathLst>
                <a:path h="216371" w="171622">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name="TextBox 13" id="13"/>
            <p:cNvSpPr txBox="true"/>
            <p:nvPr/>
          </p:nvSpPr>
          <p:spPr>
            <a:xfrm>
              <a:off x="0" y="-38100"/>
              <a:ext cx="171622" cy="254471"/>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409479" y="2634930"/>
            <a:ext cx="7929355" cy="7105684"/>
          </a:xfrm>
          <a:custGeom>
            <a:avLst/>
            <a:gdLst/>
            <a:ahLst/>
            <a:cxnLst/>
            <a:rect r="r" b="b" t="t" l="l"/>
            <a:pathLst>
              <a:path h="7105684" w="7929355">
                <a:moveTo>
                  <a:pt x="0" y="0"/>
                </a:moveTo>
                <a:lnTo>
                  <a:pt x="7929355" y="0"/>
                </a:lnTo>
                <a:lnTo>
                  <a:pt x="7929355" y="7105684"/>
                </a:lnTo>
                <a:lnTo>
                  <a:pt x="0" y="7105684"/>
                </a:lnTo>
                <a:lnTo>
                  <a:pt x="0" y="0"/>
                </a:lnTo>
                <a:close/>
              </a:path>
            </a:pathLst>
          </a:custGeom>
          <a:blipFill>
            <a:blip r:embed="rId5"/>
            <a:stretch>
              <a:fillRect l="-53738" t="-21838" r="-54221" b="-8699"/>
            </a:stretch>
          </a:blipFill>
        </p:spPr>
      </p:sp>
      <p:sp>
        <p:nvSpPr>
          <p:cNvPr name="TextBox 15" id="15"/>
          <p:cNvSpPr txBox="true"/>
          <p:nvPr/>
        </p:nvSpPr>
        <p:spPr>
          <a:xfrm rot="0">
            <a:off x="409479" y="1036458"/>
            <a:ext cx="12041027" cy="984885"/>
          </a:xfrm>
          <a:prstGeom prst="rect">
            <a:avLst/>
          </a:prstGeom>
        </p:spPr>
        <p:txBody>
          <a:bodyPr anchor="t" rtlCol="false" tIns="0" lIns="0" bIns="0" rIns="0">
            <a:spAutoFit/>
          </a:bodyPr>
          <a:lstStyle/>
          <a:p>
            <a:pPr algn="l">
              <a:lnSpc>
                <a:spcPts val="7560"/>
              </a:lnSpc>
            </a:pPr>
            <a:r>
              <a:rPr lang="en-US" sz="7200" b="true">
                <a:solidFill>
                  <a:srgbClr val="006763"/>
                </a:solidFill>
                <a:latin typeface="Bebas Neue Bold"/>
                <a:ea typeface="Bebas Neue Bold"/>
                <a:cs typeface="Bebas Neue Bold"/>
                <a:sym typeface="Bebas Neue Bold"/>
              </a:rPr>
              <a:t>ZERO-TRUST SECURITY &amp; PERSONALIZATION</a:t>
            </a:r>
          </a:p>
        </p:txBody>
      </p:sp>
      <p:sp>
        <p:nvSpPr>
          <p:cNvPr name="TextBox 16" id="16"/>
          <p:cNvSpPr txBox="true"/>
          <p:nvPr/>
        </p:nvSpPr>
        <p:spPr>
          <a:xfrm rot="0">
            <a:off x="9994525" y="2977998"/>
            <a:ext cx="7402077" cy="1369650"/>
          </a:xfrm>
          <a:prstGeom prst="rect">
            <a:avLst/>
          </a:prstGeom>
        </p:spPr>
        <p:txBody>
          <a:bodyPr anchor="t" rtlCol="false" tIns="0" lIns="0" bIns="0" rIns="0">
            <a:spAutoFit/>
          </a:bodyPr>
          <a:lstStyle/>
          <a:p>
            <a:pPr algn="l">
              <a:lnSpc>
                <a:spcPts val="3628"/>
              </a:lnSpc>
            </a:pPr>
            <a:r>
              <a:rPr lang="en-US" sz="2573" b="true">
                <a:solidFill>
                  <a:srgbClr val="006763"/>
                </a:solidFill>
                <a:latin typeface="Roboto Bold"/>
                <a:ea typeface="Roboto Bold"/>
                <a:cs typeface="Roboto Bold"/>
                <a:sym typeface="Roboto Bold"/>
              </a:rPr>
              <a:t>Role-Based Access Control: </a:t>
            </a:r>
          </a:p>
          <a:p>
            <a:pPr algn="l">
              <a:lnSpc>
                <a:spcPts val="3628"/>
              </a:lnSpc>
            </a:pPr>
            <a:r>
              <a:rPr lang="en-US" sz="2573">
                <a:solidFill>
                  <a:srgbClr val="006763"/>
                </a:solidFill>
                <a:latin typeface="Roboto"/>
                <a:ea typeface="Roboto"/>
                <a:cs typeface="Roboto"/>
                <a:sym typeface="Roboto"/>
              </a:rPr>
              <a:t>Not all documents are public. Some are highly sensitive internal audits.</a:t>
            </a:r>
          </a:p>
        </p:txBody>
      </p:sp>
      <p:sp>
        <p:nvSpPr>
          <p:cNvPr name="TextBox 17" id="17"/>
          <p:cNvSpPr txBox="true"/>
          <p:nvPr/>
        </p:nvSpPr>
        <p:spPr>
          <a:xfrm rot="0">
            <a:off x="8981679" y="3194476"/>
            <a:ext cx="655517"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01</a:t>
            </a:r>
          </a:p>
        </p:txBody>
      </p:sp>
      <p:sp>
        <p:nvSpPr>
          <p:cNvPr name="TextBox 18" id="18"/>
          <p:cNvSpPr txBox="true"/>
          <p:nvPr/>
        </p:nvSpPr>
        <p:spPr>
          <a:xfrm rot="0">
            <a:off x="8981679" y="4750609"/>
            <a:ext cx="655517"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02</a:t>
            </a:r>
          </a:p>
        </p:txBody>
      </p:sp>
      <p:sp>
        <p:nvSpPr>
          <p:cNvPr name="TextBox 19" id="19"/>
          <p:cNvSpPr txBox="true"/>
          <p:nvPr/>
        </p:nvSpPr>
        <p:spPr>
          <a:xfrm rot="0">
            <a:off x="8981679" y="7221141"/>
            <a:ext cx="655517" cy="455250"/>
          </a:xfrm>
          <a:prstGeom prst="rect">
            <a:avLst/>
          </a:prstGeom>
        </p:spPr>
        <p:txBody>
          <a:bodyPr anchor="t" rtlCol="false" tIns="0" lIns="0" bIns="0" rIns="0">
            <a:spAutoFit/>
          </a:bodyPr>
          <a:lstStyle/>
          <a:p>
            <a:pPr algn="ctr">
              <a:lnSpc>
                <a:spcPts val="3628"/>
              </a:lnSpc>
            </a:pPr>
            <a:r>
              <a:rPr lang="en-US" sz="2573" b="true">
                <a:solidFill>
                  <a:srgbClr val="FFFFFF"/>
                </a:solidFill>
                <a:latin typeface="Roboto Bold"/>
                <a:ea typeface="Roboto Bold"/>
                <a:cs typeface="Roboto Bold"/>
                <a:sym typeface="Roboto Bold"/>
              </a:rPr>
              <a:t>03</a:t>
            </a:r>
          </a:p>
        </p:txBody>
      </p:sp>
      <p:sp>
        <p:nvSpPr>
          <p:cNvPr name="TextBox 20" id="20"/>
          <p:cNvSpPr txBox="true"/>
          <p:nvPr/>
        </p:nvSpPr>
        <p:spPr>
          <a:xfrm rot="0">
            <a:off x="9994525" y="4534130"/>
            <a:ext cx="7102454" cy="2284050"/>
          </a:xfrm>
          <a:prstGeom prst="rect">
            <a:avLst/>
          </a:prstGeom>
        </p:spPr>
        <p:txBody>
          <a:bodyPr anchor="t" rtlCol="false" tIns="0" lIns="0" bIns="0" rIns="0">
            <a:spAutoFit/>
          </a:bodyPr>
          <a:lstStyle/>
          <a:p>
            <a:pPr algn="l">
              <a:lnSpc>
                <a:spcPts val="3628"/>
              </a:lnSpc>
            </a:pPr>
            <a:r>
              <a:rPr lang="en-US" sz="2573" b="true">
                <a:solidFill>
                  <a:srgbClr val="006763"/>
                </a:solidFill>
                <a:latin typeface="Roboto Bold"/>
                <a:ea typeface="Roboto Bold"/>
                <a:cs typeface="Roboto Bold"/>
                <a:sym typeface="Roboto Bold"/>
              </a:rPr>
              <a:t>Granular Permissions: </a:t>
            </a:r>
          </a:p>
          <a:p>
            <a:pPr algn="l">
              <a:lnSpc>
                <a:spcPts val="3628"/>
              </a:lnSpc>
            </a:pPr>
            <a:r>
              <a:rPr lang="en-US" sz="2573">
                <a:solidFill>
                  <a:srgbClr val="006763"/>
                </a:solidFill>
                <a:latin typeface="Roboto"/>
                <a:ea typeface="Roboto"/>
                <a:cs typeface="Roboto"/>
                <a:sym typeface="Roboto"/>
              </a:rPr>
              <a:t>We implemented strict RBAC. If a standard analyst searches the database, restricted documents are entirely hidden from their AI context window.</a:t>
            </a:r>
          </a:p>
        </p:txBody>
      </p:sp>
      <p:sp>
        <p:nvSpPr>
          <p:cNvPr name="TextBox 21" id="21"/>
          <p:cNvSpPr txBox="true"/>
          <p:nvPr/>
        </p:nvSpPr>
        <p:spPr>
          <a:xfrm rot="0">
            <a:off x="9994525" y="7004662"/>
            <a:ext cx="7102454" cy="1826850"/>
          </a:xfrm>
          <a:prstGeom prst="rect">
            <a:avLst/>
          </a:prstGeom>
        </p:spPr>
        <p:txBody>
          <a:bodyPr anchor="t" rtlCol="false" tIns="0" lIns="0" bIns="0" rIns="0">
            <a:spAutoFit/>
          </a:bodyPr>
          <a:lstStyle/>
          <a:p>
            <a:pPr algn="l">
              <a:lnSpc>
                <a:spcPts val="3628"/>
              </a:lnSpc>
            </a:pPr>
            <a:r>
              <a:rPr lang="en-US" sz="2573" b="true">
                <a:solidFill>
                  <a:srgbClr val="006763"/>
                </a:solidFill>
                <a:latin typeface="Roboto Bold"/>
                <a:ea typeface="Roboto Bold"/>
                <a:cs typeface="Roboto Bold"/>
                <a:sym typeface="Roboto Bold"/>
              </a:rPr>
              <a:t>Secure Viewer: </a:t>
            </a:r>
          </a:p>
          <a:p>
            <a:pPr algn="l">
              <a:lnSpc>
                <a:spcPts val="3628"/>
              </a:lnSpc>
            </a:pPr>
            <a:r>
              <a:rPr lang="en-US" sz="2573">
                <a:solidFill>
                  <a:srgbClr val="006763"/>
                </a:solidFill>
                <a:latin typeface="Roboto"/>
                <a:ea typeface="Roboto"/>
                <a:cs typeface="Roboto"/>
                <a:sym typeface="Roboto"/>
              </a:rPr>
              <a:t>Raw PDFs cannot be downloaded; they are viewed through a secure, tracked internal vault viewer.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0" y="2695192"/>
            <a:ext cx="18288000" cy="7260727"/>
          </a:xfrm>
          <a:custGeom>
            <a:avLst/>
            <a:gdLst/>
            <a:ahLst/>
            <a:cxnLst/>
            <a:rect r="r" b="b" t="t" l="l"/>
            <a:pathLst>
              <a:path h="7260727" w="18288000">
                <a:moveTo>
                  <a:pt x="0" y="0"/>
                </a:moveTo>
                <a:lnTo>
                  <a:pt x="18288000" y="0"/>
                </a:lnTo>
                <a:lnTo>
                  <a:pt x="18288000" y="7260726"/>
                </a:lnTo>
                <a:lnTo>
                  <a:pt x="0" y="7260726"/>
                </a:lnTo>
                <a:lnTo>
                  <a:pt x="0" y="0"/>
                </a:lnTo>
                <a:close/>
              </a:path>
            </a:pathLst>
          </a:custGeom>
          <a:blipFill>
            <a:blip r:embed="rId3"/>
            <a:stretch>
              <a:fillRect l="-13520" t="-252397" r="-11815" b="0"/>
            </a:stretch>
          </a:blipFill>
        </p:spPr>
      </p:sp>
      <p:sp>
        <p:nvSpPr>
          <p:cNvPr name="Freeform 4" id="4"/>
          <p:cNvSpPr/>
          <p:nvPr/>
        </p:nvSpPr>
        <p:spPr>
          <a:xfrm flipH="false" flipV="false" rot="0">
            <a:off x="-298488" y="787391"/>
            <a:ext cx="8747747" cy="1907801"/>
          </a:xfrm>
          <a:custGeom>
            <a:avLst/>
            <a:gdLst/>
            <a:ahLst/>
            <a:cxnLst/>
            <a:rect r="r" b="b" t="t" l="l"/>
            <a:pathLst>
              <a:path h="1907801" w="8747747">
                <a:moveTo>
                  <a:pt x="0" y="0"/>
                </a:moveTo>
                <a:lnTo>
                  <a:pt x="8747747" y="0"/>
                </a:lnTo>
                <a:lnTo>
                  <a:pt x="8747747" y="1907801"/>
                </a:lnTo>
                <a:lnTo>
                  <a:pt x="0" y="1907801"/>
                </a:lnTo>
                <a:lnTo>
                  <a:pt x="0" y="0"/>
                </a:lnTo>
                <a:close/>
              </a:path>
            </a:pathLst>
          </a:custGeom>
          <a:blipFill>
            <a:blip r:embed="rId4"/>
            <a:stretch>
              <a:fillRect l="-15090" t="-43858" r="-574" b="0"/>
            </a:stretch>
          </a:blipFill>
        </p:spPr>
      </p:sp>
      <p:grpSp>
        <p:nvGrpSpPr>
          <p:cNvPr name="Group 5" id="5"/>
          <p:cNvGrpSpPr/>
          <p:nvPr/>
        </p:nvGrpSpPr>
        <p:grpSpPr>
          <a:xfrm rot="0">
            <a:off x="175893" y="3191749"/>
            <a:ext cx="623471" cy="786035"/>
            <a:chOff x="0" y="0"/>
            <a:chExt cx="171622" cy="216371"/>
          </a:xfrm>
        </p:grpSpPr>
        <p:sp>
          <p:nvSpPr>
            <p:cNvPr name="Freeform 6" id="6"/>
            <p:cNvSpPr/>
            <p:nvPr/>
          </p:nvSpPr>
          <p:spPr>
            <a:xfrm flipH="false" flipV="false" rot="0">
              <a:off x="0" y="0"/>
              <a:ext cx="171622" cy="216371"/>
            </a:xfrm>
            <a:custGeom>
              <a:avLst/>
              <a:gdLst/>
              <a:ahLst/>
              <a:cxnLst/>
              <a:rect r="r" b="b" t="t" l="l"/>
              <a:pathLst>
                <a:path h="216371" w="171622">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name="TextBox 7" id="7"/>
            <p:cNvSpPr txBox="true"/>
            <p:nvPr/>
          </p:nvSpPr>
          <p:spPr>
            <a:xfrm>
              <a:off x="0" y="-38100"/>
              <a:ext cx="171622"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5893" y="5098782"/>
            <a:ext cx="585810" cy="786035"/>
            <a:chOff x="0" y="0"/>
            <a:chExt cx="161255" cy="216371"/>
          </a:xfrm>
        </p:grpSpPr>
        <p:sp>
          <p:nvSpPr>
            <p:cNvPr name="Freeform 9" id="9"/>
            <p:cNvSpPr/>
            <p:nvPr/>
          </p:nvSpPr>
          <p:spPr>
            <a:xfrm flipH="false" flipV="false" rot="0">
              <a:off x="0" y="0"/>
              <a:ext cx="161255" cy="216371"/>
            </a:xfrm>
            <a:custGeom>
              <a:avLst/>
              <a:gdLst/>
              <a:ahLst/>
              <a:cxnLst/>
              <a:rect r="r" b="b" t="t" l="l"/>
              <a:pathLst>
                <a:path h="216371" w="161255">
                  <a:moveTo>
                    <a:pt x="80627" y="0"/>
                  </a:moveTo>
                  <a:lnTo>
                    <a:pt x="80627" y="0"/>
                  </a:lnTo>
                  <a:cubicBezTo>
                    <a:pt x="102011" y="0"/>
                    <a:pt x="122519" y="8495"/>
                    <a:pt x="137640" y="23615"/>
                  </a:cubicBezTo>
                  <a:cubicBezTo>
                    <a:pt x="152760" y="38736"/>
                    <a:pt x="161255" y="59244"/>
                    <a:pt x="161255" y="80627"/>
                  </a:cubicBezTo>
                  <a:lnTo>
                    <a:pt x="161255" y="135743"/>
                  </a:lnTo>
                  <a:cubicBezTo>
                    <a:pt x="161255" y="180272"/>
                    <a:pt x="125157" y="216371"/>
                    <a:pt x="80627" y="216371"/>
                  </a:cubicBezTo>
                  <a:lnTo>
                    <a:pt x="80627" y="216371"/>
                  </a:lnTo>
                  <a:cubicBezTo>
                    <a:pt x="36098" y="216371"/>
                    <a:pt x="0" y="180272"/>
                    <a:pt x="0" y="135743"/>
                  </a:cubicBezTo>
                  <a:lnTo>
                    <a:pt x="0" y="80627"/>
                  </a:lnTo>
                  <a:cubicBezTo>
                    <a:pt x="0" y="36098"/>
                    <a:pt x="36098" y="0"/>
                    <a:pt x="80627" y="0"/>
                  </a:cubicBezTo>
                  <a:close/>
                </a:path>
              </a:pathLst>
            </a:custGeom>
            <a:solidFill>
              <a:srgbClr val="4EA069"/>
            </a:solidFill>
          </p:spPr>
        </p:sp>
        <p:sp>
          <p:nvSpPr>
            <p:cNvPr name="TextBox 10" id="10"/>
            <p:cNvSpPr txBox="true"/>
            <p:nvPr/>
          </p:nvSpPr>
          <p:spPr>
            <a:xfrm>
              <a:off x="0" y="-38100"/>
              <a:ext cx="161255" cy="25447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75893" y="7095470"/>
            <a:ext cx="627193" cy="786035"/>
            <a:chOff x="0" y="0"/>
            <a:chExt cx="172646" cy="216371"/>
          </a:xfrm>
        </p:grpSpPr>
        <p:sp>
          <p:nvSpPr>
            <p:cNvPr name="Freeform 12" id="12"/>
            <p:cNvSpPr/>
            <p:nvPr/>
          </p:nvSpPr>
          <p:spPr>
            <a:xfrm flipH="false" flipV="false" rot="0">
              <a:off x="0" y="0"/>
              <a:ext cx="172646" cy="216371"/>
            </a:xfrm>
            <a:custGeom>
              <a:avLst/>
              <a:gdLst/>
              <a:ahLst/>
              <a:cxnLst/>
              <a:rect r="r" b="b" t="t" l="l"/>
              <a:pathLst>
                <a:path h="216371" w="172646">
                  <a:moveTo>
                    <a:pt x="86323" y="0"/>
                  </a:moveTo>
                  <a:lnTo>
                    <a:pt x="86323" y="0"/>
                  </a:lnTo>
                  <a:cubicBezTo>
                    <a:pt x="133998" y="0"/>
                    <a:pt x="172646" y="38648"/>
                    <a:pt x="172646" y="86323"/>
                  </a:cubicBezTo>
                  <a:lnTo>
                    <a:pt x="172646" y="130047"/>
                  </a:lnTo>
                  <a:cubicBezTo>
                    <a:pt x="172646" y="152942"/>
                    <a:pt x="163552" y="174898"/>
                    <a:pt x="147363" y="191087"/>
                  </a:cubicBezTo>
                  <a:cubicBezTo>
                    <a:pt x="131174" y="207276"/>
                    <a:pt x="109218" y="216371"/>
                    <a:pt x="86323" y="216371"/>
                  </a:cubicBezTo>
                  <a:lnTo>
                    <a:pt x="86323" y="216371"/>
                  </a:lnTo>
                  <a:cubicBezTo>
                    <a:pt x="63429" y="216371"/>
                    <a:pt x="41472" y="207276"/>
                    <a:pt x="25283" y="191087"/>
                  </a:cubicBezTo>
                  <a:cubicBezTo>
                    <a:pt x="9095" y="174898"/>
                    <a:pt x="0" y="152942"/>
                    <a:pt x="0" y="130047"/>
                  </a:cubicBezTo>
                  <a:lnTo>
                    <a:pt x="0" y="86323"/>
                  </a:lnTo>
                  <a:cubicBezTo>
                    <a:pt x="0" y="63429"/>
                    <a:pt x="9095" y="41472"/>
                    <a:pt x="25283" y="25283"/>
                  </a:cubicBezTo>
                  <a:cubicBezTo>
                    <a:pt x="41472" y="9095"/>
                    <a:pt x="63429" y="0"/>
                    <a:pt x="86323" y="0"/>
                  </a:cubicBezTo>
                  <a:close/>
                </a:path>
              </a:pathLst>
            </a:custGeom>
            <a:solidFill>
              <a:srgbClr val="4EA069"/>
            </a:solidFill>
          </p:spPr>
        </p:sp>
        <p:sp>
          <p:nvSpPr>
            <p:cNvPr name="TextBox 13" id="13"/>
            <p:cNvSpPr txBox="true"/>
            <p:nvPr/>
          </p:nvSpPr>
          <p:spPr>
            <a:xfrm>
              <a:off x="0" y="-38100"/>
              <a:ext cx="172646" cy="254471"/>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6514813" y="6854221"/>
            <a:ext cx="817254" cy="876882"/>
          </a:xfrm>
          <a:custGeom>
            <a:avLst/>
            <a:gdLst/>
            <a:ahLst/>
            <a:cxnLst/>
            <a:rect r="r" b="b" t="t" l="l"/>
            <a:pathLst>
              <a:path h="876882" w="817254">
                <a:moveTo>
                  <a:pt x="0" y="0"/>
                </a:moveTo>
                <a:lnTo>
                  <a:pt x="817255" y="0"/>
                </a:lnTo>
                <a:lnTo>
                  <a:pt x="817255" y="876882"/>
                </a:lnTo>
                <a:lnTo>
                  <a:pt x="0" y="8768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7109111" y="3398874"/>
            <a:ext cx="11257206" cy="5694036"/>
          </a:xfrm>
          <a:custGeom>
            <a:avLst/>
            <a:gdLst/>
            <a:ahLst/>
            <a:cxnLst/>
            <a:rect r="r" b="b" t="t" l="l"/>
            <a:pathLst>
              <a:path h="5694036" w="11257206">
                <a:moveTo>
                  <a:pt x="0" y="0"/>
                </a:moveTo>
                <a:lnTo>
                  <a:pt x="11257206" y="0"/>
                </a:lnTo>
                <a:lnTo>
                  <a:pt x="11257206" y="5694035"/>
                </a:lnTo>
                <a:lnTo>
                  <a:pt x="0" y="5694035"/>
                </a:lnTo>
                <a:lnTo>
                  <a:pt x="0" y="0"/>
                </a:lnTo>
                <a:close/>
              </a:path>
            </a:pathLst>
          </a:custGeom>
          <a:blipFill>
            <a:blip r:embed="rId7"/>
            <a:stretch>
              <a:fillRect l="-1063" t="-15821" r="-3086" b="0"/>
            </a:stretch>
          </a:blipFill>
        </p:spPr>
      </p:sp>
      <p:sp>
        <p:nvSpPr>
          <p:cNvPr name="TextBox 16" id="16"/>
          <p:cNvSpPr txBox="true"/>
          <p:nvPr/>
        </p:nvSpPr>
        <p:spPr>
          <a:xfrm rot="0">
            <a:off x="1144976" y="3100178"/>
            <a:ext cx="5964135" cy="1338246"/>
          </a:xfrm>
          <a:prstGeom prst="rect">
            <a:avLst/>
          </a:prstGeom>
        </p:spPr>
        <p:txBody>
          <a:bodyPr anchor="t" rtlCol="false" tIns="0" lIns="0" bIns="0" rIns="0">
            <a:spAutoFit/>
          </a:bodyPr>
          <a:lstStyle/>
          <a:p>
            <a:pPr algn="l">
              <a:lnSpc>
                <a:spcPts val="3567"/>
              </a:lnSpc>
            </a:pPr>
            <a:r>
              <a:rPr lang="en-US" sz="2529" b="true">
                <a:solidFill>
                  <a:srgbClr val="006763"/>
                </a:solidFill>
                <a:latin typeface="Roboto Bold"/>
                <a:ea typeface="Roboto Bold"/>
                <a:cs typeface="Roboto Bold"/>
                <a:sym typeface="Roboto Bold"/>
              </a:rPr>
              <a:t>Specialized Intelligence: </a:t>
            </a:r>
          </a:p>
          <a:p>
            <a:pPr algn="l">
              <a:lnSpc>
                <a:spcPts val="3567"/>
              </a:lnSpc>
            </a:pPr>
            <a:r>
              <a:rPr lang="en-US" sz="2529">
                <a:solidFill>
                  <a:srgbClr val="006763"/>
                </a:solidFill>
                <a:latin typeface="Roboto"/>
                <a:ea typeface="Roboto"/>
                <a:cs typeface="Roboto"/>
                <a:sym typeface="Roboto"/>
              </a:rPr>
              <a:t>We deployed a dedicated AI agent solely for navigating complex tax queries.</a:t>
            </a:r>
          </a:p>
        </p:txBody>
      </p:sp>
      <p:sp>
        <p:nvSpPr>
          <p:cNvPr name="TextBox 17" id="17"/>
          <p:cNvSpPr txBox="true"/>
          <p:nvPr/>
        </p:nvSpPr>
        <p:spPr>
          <a:xfrm rot="0">
            <a:off x="482953" y="1167382"/>
            <a:ext cx="6907638" cy="984885"/>
          </a:xfrm>
          <a:prstGeom prst="rect">
            <a:avLst/>
          </a:prstGeom>
        </p:spPr>
        <p:txBody>
          <a:bodyPr anchor="t" rtlCol="false" tIns="0" lIns="0" bIns="0" rIns="0">
            <a:spAutoFit/>
          </a:bodyPr>
          <a:lstStyle/>
          <a:p>
            <a:pPr algn="l">
              <a:lnSpc>
                <a:spcPts val="7560"/>
              </a:lnSpc>
            </a:pPr>
            <a:r>
              <a:rPr lang="en-US" sz="7200" b="true">
                <a:solidFill>
                  <a:srgbClr val="006763"/>
                </a:solidFill>
                <a:latin typeface="Bebas Neue Bold"/>
                <a:ea typeface="Bebas Neue Bold"/>
                <a:cs typeface="Bebas Neue Bold"/>
                <a:sym typeface="Bebas Neue Bold"/>
              </a:rPr>
              <a:t>GST POLICY ASSISTANT</a:t>
            </a:r>
          </a:p>
        </p:txBody>
      </p:sp>
      <p:sp>
        <p:nvSpPr>
          <p:cNvPr name="TextBox 18" id="18"/>
          <p:cNvSpPr txBox="true"/>
          <p:nvPr/>
        </p:nvSpPr>
        <p:spPr>
          <a:xfrm rot="0">
            <a:off x="175893" y="3341724"/>
            <a:ext cx="627193" cy="428935"/>
          </a:xfrm>
          <a:prstGeom prst="rect">
            <a:avLst/>
          </a:prstGeom>
        </p:spPr>
        <p:txBody>
          <a:bodyPr anchor="t" rtlCol="false" tIns="0" lIns="0" bIns="0" rIns="0">
            <a:spAutoFit/>
          </a:bodyPr>
          <a:lstStyle/>
          <a:p>
            <a:pPr algn="ctr">
              <a:lnSpc>
                <a:spcPts val="3471"/>
              </a:lnSpc>
            </a:pPr>
            <a:r>
              <a:rPr lang="en-US" sz="2461" b="true">
                <a:solidFill>
                  <a:srgbClr val="FFFFFF"/>
                </a:solidFill>
                <a:latin typeface="Roboto Bold"/>
                <a:ea typeface="Roboto Bold"/>
                <a:cs typeface="Roboto Bold"/>
                <a:sym typeface="Roboto Bold"/>
              </a:rPr>
              <a:t>01</a:t>
            </a:r>
          </a:p>
        </p:txBody>
      </p:sp>
      <p:sp>
        <p:nvSpPr>
          <p:cNvPr name="TextBox 19" id="19"/>
          <p:cNvSpPr txBox="true"/>
          <p:nvPr/>
        </p:nvSpPr>
        <p:spPr>
          <a:xfrm rot="0">
            <a:off x="175893" y="5248757"/>
            <a:ext cx="589307" cy="428935"/>
          </a:xfrm>
          <a:prstGeom prst="rect">
            <a:avLst/>
          </a:prstGeom>
        </p:spPr>
        <p:txBody>
          <a:bodyPr anchor="t" rtlCol="false" tIns="0" lIns="0" bIns="0" rIns="0">
            <a:spAutoFit/>
          </a:bodyPr>
          <a:lstStyle/>
          <a:p>
            <a:pPr algn="ctr">
              <a:lnSpc>
                <a:spcPts val="3471"/>
              </a:lnSpc>
            </a:pPr>
            <a:r>
              <a:rPr lang="en-US" sz="2461" b="true">
                <a:solidFill>
                  <a:srgbClr val="FFFFFF"/>
                </a:solidFill>
                <a:latin typeface="Roboto Bold"/>
                <a:ea typeface="Roboto Bold"/>
                <a:cs typeface="Roboto Bold"/>
                <a:sym typeface="Roboto Bold"/>
              </a:rPr>
              <a:t>02</a:t>
            </a:r>
          </a:p>
        </p:txBody>
      </p:sp>
      <p:sp>
        <p:nvSpPr>
          <p:cNvPr name="TextBox 20" id="20"/>
          <p:cNvSpPr txBox="true"/>
          <p:nvPr/>
        </p:nvSpPr>
        <p:spPr>
          <a:xfrm rot="0">
            <a:off x="216879" y="7245445"/>
            <a:ext cx="541499" cy="428935"/>
          </a:xfrm>
          <a:prstGeom prst="rect">
            <a:avLst/>
          </a:prstGeom>
        </p:spPr>
        <p:txBody>
          <a:bodyPr anchor="t" rtlCol="false" tIns="0" lIns="0" bIns="0" rIns="0">
            <a:spAutoFit/>
          </a:bodyPr>
          <a:lstStyle/>
          <a:p>
            <a:pPr algn="ctr">
              <a:lnSpc>
                <a:spcPts val="3471"/>
              </a:lnSpc>
            </a:pPr>
            <a:r>
              <a:rPr lang="en-US" sz="2461" b="true">
                <a:solidFill>
                  <a:srgbClr val="FFFFFF"/>
                </a:solidFill>
                <a:latin typeface="Roboto Bold"/>
                <a:ea typeface="Roboto Bold"/>
                <a:cs typeface="Roboto Bold"/>
                <a:sym typeface="Roboto Bold"/>
              </a:rPr>
              <a:t>03</a:t>
            </a:r>
          </a:p>
        </p:txBody>
      </p:sp>
      <p:sp>
        <p:nvSpPr>
          <p:cNvPr name="TextBox 21" id="21"/>
          <p:cNvSpPr txBox="true"/>
          <p:nvPr/>
        </p:nvSpPr>
        <p:spPr>
          <a:xfrm rot="0">
            <a:off x="1086438" y="5041632"/>
            <a:ext cx="5620506" cy="1741271"/>
          </a:xfrm>
          <a:prstGeom prst="rect">
            <a:avLst/>
          </a:prstGeom>
        </p:spPr>
        <p:txBody>
          <a:bodyPr anchor="t" rtlCol="false" tIns="0" lIns="0" bIns="0" rIns="0">
            <a:spAutoFit/>
          </a:bodyPr>
          <a:lstStyle/>
          <a:p>
            <a:pPr algn="l">
              <a:lnSpc>
                <a:spcPts val="3471"/>
              </a:lnSpc>
            </a:pPr>
            <a:r>
              <a:rPr lang="en-US" sz="2461" b="true">
                <a:solidFill>
                  <a:srgbClr val="006763"/>
                </a:solidFill>
                <a:latin typeface="Roboto Bold"/>
                <a:ea typeface="Roboto Bold"/>
                <a:cs typeface="Roboto Bold"/>
                <a:sym typeface="Roboto Bold"/>
              </a:rPr>
              <a:t>Direct Citations: </a:t>
            </a:r>
          </a:p>
          <a:p>
            <a:pPr algn="l">
              <a:lnSpc>
                <a:spcPts val="3471"/>
              </a:lnSpc>
            </a:pPr>
            <a:r>
              <a:rPr lang="en-US" sz="2461">
                <a:solidFill>
                  <a:srgbClr val="006763"/>
                </a:solidFill>
                <a:latin typeface="Roboto"/>
                <a:ea typeface="Roboto"/>
                <a:cs typeface="Roboto"/>
                <a:sym typeface="Roboto"/>
              </a:rPr>
              <a:t>When an official asks for the GST rate on government works contracts, the AI doesn't just say "18%".</a:t>
            </a:r>
          </a:p>
        </p:txBody>
      </p:sp>
      <p:sp>
        <p:nvSpPr>
          <p:cNvPr name="TextBox 22" id="22"/>
          <p:cNvSpPr txBox="true"/>
          <p:nvPr/>
        </p:nvSpPr>
        <p:spPr>
          <a:xfrm rot="0">
            <a:off x="1144976" y="7038320"/>
            <a:ext cx="5964135" cy="2178716"/>
          </a:xfrm>
          <a:prstGeom prst="rect">
            <a:avLst/>
          </a:prstGeom>
        </p:spPr>
        <p:txBody>
          <a:bodyPr anchor="t" rtlCol="false" tIns="0" lIns="0" bIns="0" rIns="0">
            <a:spAutoFit/>
          </a:bodyPr>
          <a:lstStyle/>
          <a:p>
            <a:pPr algn="l">
              <a:lnSpc>
                <a:spcPts val="3471"/>
              </a:lnSpc>
            </a:pPr>
            <a:r>
              <a:rPr lang="en-US" sz="2461" b="true">
                <a:solidFill>
                  <a:srgbClr val="006763"/>
                </a:solidFill>
                <a:latin typeface="Roboto Bold"/>
                <a:ea typeface="Roboto Bold"/>
                <a:cs typeface="Roboto Bold"/>
                <a:sym typeface="Roboto Bold"/>
              </a:rPr>
              <a:t>Verifiability: </a:t>
            </a:r>
          </a:p>
          <a:p>
            <a:pPr algn="l">
              <a:lnSpc>
                <a:spcPts val="3471"/>
              </a:lnSpc>
            </a:pPr>
            <a:r>
              <a:rPr lang="en-US" sz="2461">
                <a:solidFill>
                  <a:srgbClr val="006763"/>
                </a:solidFill>
                <a:latin typeface="Roboto"/>
                <a:ea typeface="Roboto"/>
                <a:cs typeface="Roboto"/>
                <a:sym typeface="Roboto"/>
              </a:rPr>
              <a:t>It provides the exact HSN code and a clickable citation directly to Circular 34/2023, allowing instant human verification.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0" y="2832926"/>
            <a:ext cx="18288000" cy="7260727"/>
          </a:xfrm>
          <a:custGeom>
            <a:avLst/>
            <a:gdLst/>
            <a:ahLst/>
            <a:cxnLst/>
            <a:rect r="r" b="b" t="t" l="l"/>
            <a:pathLst>
              <a:path h="7260727" w="18288000">
                <a:moveTo>
                  <a:pt x="0" y="0"/>
                </a:moveTo>
                <a:lnTo>
                  <a:pt x="18288000" y="0"/>
                </a:lnTo>
                <a:lnTo>
                  <a:pt x="18288000" y="7260727"/>
                </a:lnTo>
                <a:lnTo>
                  <a:pt x="0" y="7260727"/>
                </a:lnTo>
                <a:lnTo>
                  <a:pt x="0" y="0"/>
                </a:lnTo>
                <a:close/>
              </a:path>
            </a:pathLst>
          </a:custGeom>
          <a:blipFill>
            <a:blip r:embed="rId3"/>
            <a:stretch>
              <a:fillRect l="-13520" t="-252397" r="-11815" b="0"/>
            </a:stretch>
          </a:blipFill>
        </p:spPr>
      </p:sp>
      <p:sp>
        <p:nvSpPr>
          <p:cNvPr name="Freeform 4" id="4"/>
          <p:cNvSpPr/>
          <p:nvPr/>
        </p:nvSpPr>
        <p:spPr>
          <a:xfrm flipH="false" flipV="false" rot="0">
            <a:off x="8730623" y="439510"/>
            <a:ext cx="11411934" cy="2393416"/>
          </a:xfrm>
          <a:custGeom>
            <a:avLst/>
            <a:gdLst/>
            <a:ahLst/>
            <a:cxnLst/>
            <a:rect r="r" b="b" t="t" l="l"/>
            <a:pathLst>
              <a:path h="2393416" w="11411934">
                <a:moveTo>
                  <a:pt x="0" y="0"/>
                </a:moveTo>
                <a:lnTo>
                  <a:pt x="11411934" y="0"/>
                </a:lnTo>
                <a:lnTo>
                  <a:pt x="11411934" y="2393416"/>
                </a:lnTo>
                <a:lnTo>
                  <a:pt x="0" y="2393416"/>
                </a:lnTo>
                <a:lnTo>
                  <a:pt x="0" y="0"/>
                </a:lnTo>
                <a:close/>
              </a:path>
            </a:pathLst>
          </a:custGeom>
          <a:blipFill>
            <a:blip r:embed="rId4"/>
            <a:stretch>
              <a:fillRect l="0" t="-17802" r="0" b="-11530"/>
            </a:stretch>
          </a:blipFill>
        </p:spPr>
      </p:sp>
      <p:grpSp>
        <p:nvGrpSpPr>
          <p:cNvPr name="Group 5" id="5"/>
          <p:cNvGrpSpPr/>
          <p:nvPr/>
        </p:nvGrpSpPr>
        <p:grpSpPr>
          <a:xfrm rot="0">
            <a:off x="10064762" y="3404816"/>
            <a:ext cx="2441544" cy="761037"/>
            <a:chOff x="0" y="0"/>
            <a:chExt cx="643040" cy="200438"/>
          </a:xfrm>
        </p:grpSpPr>
        <p:sp>
          <p:nvSpPr>
            <p:cNvPr name="Freeform 6" id="6"/>
            <p:cNvSpPr/>
            <p:nvPr/>
          </p:nvSpPr>
          <p:spPr>
            <a:xfrm flipH="false" flipV="false" rot="0">
              <a:off x="0" y="0"/>
              <a:ext cx="643040" cy="200438"/>
            </a:xfrm>
            <a:custGeom>
              <a:avLst/>
              <a:gdLst/>
              <a:ahLst/>
              <a:cxnLst/>
              <a:rect r="r" b="b" t="t" l="l"/>
              <a:pathLst>
                <a:path h="200438" w="643040">
                  <a:moveTo>
                    <a:pt x="44393" y="0"/>
                  </a:moveTo>
                  <a:lnTo>
                    <a:pt x="598648" y="0"/>
                  </a:lnTo>
                  <a:cubicBezTo>
                    <a:pt x="610421" y="0"/>
                    <a:pt x="621713" y="4677"/>
                    <a:pt x="630038" y="13002"/>
                  </a:cubicBezTo>
                  <a:cubicBezTo>
                    <a:pt x="638363" y="21328"/>
                    <a:pt x="643040" y="32619"/>
                    <a:pt x="643040" y="44393"/>
                  </a:cubicBezTo>
                  <a:lnTo>
                    <a:pt x="643040" y="156045"/>
                  </a:lnTo>
                  <a:cubicBezTo>
                    <a:pt x="643040" y="167819"/>
                    <a:pt x="638363" y="179110"/>
                    <a:pt x="630038" y="187435"/>
                  </a:cubicBezTo>
                  <a:cubicBezTo>
                    <a:pt x="621713" y="195761"/>
                    <a:pt x="610421" y="200438"/>
                    <a:pt x="598648" y="200438"/>
                  </a:cubicBezTo>
                  <a:lnTo>
                    <a:pt x="44393" y="200438"/>
                  </a:lnTo>
                  <a:cubicBezTo>
                    <a:pt x="32619" y="200438"/>
                    <a:pt x="21328" y="195761"/>
                    <a:pt x="13002" y="187435"/>
                  </a:cubicBezTo>
                  <a:cubicBezTo>
                    <a:pt x="4677" y="179110"/>
                    <a:pt x="0" y="167819"/>
                    <a:pt x="0" y="156045"/>
                  </a:cubicBezTo>
                  <a:lnTo>
                    <a:pt x="0" y="44393"/>
                  </a:lnTo>
                  <a:cubicBezTo>
                    <a:pt x="0" y="32619"/>
                    <a:pt x="4677" y="21328"/>
                    <a:pt x="13002" y="13002"/>
                  </a:cubicBezTo>
                  <a:cubicBezTo>
                    <a:pt x="21328" y="4677"/>
                    <a:pt x="32619" y="0"/>
                    <a:pt x="44393" y="0"/>
                  </a:cubicBezTo>
                  <a:close/>
                </a:path>
              </a:pathLst>
            </a:custGeom>
            <a:solidFill>
              <a:srgbClr val="4EA069"/>
            </a:solidFill>
          </p:spPr>
        </p:sp>
        <p:sp>
          <p:nvSpPr>
            <p:cNvPr name="TextBox 7" id="7"/>
            <p:cNvSpPr txBox="true"/>
            <p:nvPr/>
          </p:nvSpPr>
          <p:spPr>
            <a:xfrm>
              <a:off x="0" y="-38100"/>
              <a:ext cx="643040" cy="23853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172566" y="3404816"/>
            <a:ext cx="4836718" cy="761037"/>
            <a:chOff x="0" y="0"/>
            <a:chExt cx="1273868" cy="200438"/>
          </a:xfrm>
        </p:grpSpPr>
        <p:sp>
          <p:nvSpPr>
            <p:cNvPr name="Freeform 9" id="9"/>
            <p:cNvSpPr/>
            <p:nvPr/>
          </p:nvSpPr>
          <p:spPr>
            <a:xfrm flipH="false" flipV="false" rot="0">
              <a:off x="0" y="0"/>
              <a:ext cx="1273868" cy="200438"/>
            </a:xfrm>
            <a:custGeom>
              <a:avLst/>
              <a:gdLst/>
              <a:ahLst/>
              <a:cxnLst/>
              <a:rect r="r" b="b" t="t" l="l"/>
              <a:pathLst>
                <a:path h="200438" w="1273868">
                  <a:moveTo>
                    <a:pt x="22409" y="0"/>
                  </a:moveTo>
                  <a:lnTo>
                    <a:pt x="1251459" y="0"/>
                  </a:lnTo>
                  <a:cubicBezTo>
                    <a:pt x="1257402" y="0"/>
                    <a:pt x="1263102" y="2361"/>
                    <a:pt x="1267305" y="6563"/>
                  </a:cubicBezTo>
                  <a:cubicBezTo>
                    <a:pt x="1271507" y="10766"/>
                    <a:pt x="1273868" y="16466"/>
                    <a:pt x="1273868" y="22409"/>
                  </a:cubicBezTo>
                  <a:lnTo>
                    <a:pt x="1273868" y="178029"/>
                  </a:lnTo>
                  <a:cubicBezTo>
                    <a:pt x="1273868" y="183972"/>
                    <a:pt x="1271507" y="189672"/>
                    <a:pt x="1267305" y="193874"/>
                  </a:cubicBezTo>
                  <a:cubicBezTo>
                    <a:pt x="1263102" y="198077"/>
                    <a:pt x="1257402" y="200438"/>
                    <a:pt x="1251459" y="200438"/>
                  </a:cubicBezTo>
                  <a:lnTo>
                    <a:pt x="22409" y="200438"/>
                  </a:lnTo>
                  <a:cubicBezTo>
                    <a:pt x="10033" y="200438"/>
                    <a:pt x="0" y="190405"/>
                    <a:pt x="0" y="178029"/>
                  </a:cubicBezTo>
                  <a:lnTo>
                    <a:pt x="0" y="22409"/>
                  </a:lnTo>
                  <a:cubicBezTo>
                    <a:pt x="0" y="10033"/>
                    <a:pt x="10033" y="0"/>
                    <a:pt x="22409" y="0"/>
                  </a:cubicBezTo>
                  <a:close/>
                </a:path>
              </a:pathLst>
            </a:custGeom>
            <a:solidFill>
              <a:srgbClr val="4EA069"/>
            </a:solidFill>
          </p:spPr>
        </p:sp>
        <p:sp>
          <p:nvSpPr>
            <p:cNvPr name="TextBox 10" id="10"/>
            <p:cNvSpPr txBox="true"/>
            <p:nvPr/>
          </p:nvSpPr>
          <p:spPr>
            <a:xfrm>
              <a:off x="0" y="-38100"/>
              <a:ext cx="1273868" cy="23853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141320" y="6146989"/>
            <a:ext cx="4836718" cy="761037"/>
            <a:chOff x="0" y="0"/>
            <a:chExt cx="1273868" cy="200438"/>
          </a:xfrm>
        </p:grpSpPr>
        <p:sp>
          <p:nvSpPr>
            <p:cNvPr name="Freeform 12" id="12"/>
            <p:cNvSpPr/>
            <p:nvPr/>
          </p:nvSpPr>
          <p:spPr>
            <a:xfrm flipH="false" flipV="false" rot="0">
              <a:off x="0" y="0"/>
              <a:ext cx="1273868" cy="200438"/>
            </a:xfrm>
            <a:custGeom>
              <a:avLst/>
              <a:gdLst/>
              <a:ahLst/>
              <a:cxnLst/>
              <a:rect r="r" b="b" t="t" l="l"/>
              <a:pathLst>
                <a:path h="200438" w="1273868">
                  <a:moveTo>
                    <a:pt x="22409" y="0"/>
                  </a:moveTo>
                  <a:lnTo>
                    <a:pt x="1251459" y="0"/>
                  </a:lnTo>
                  <a:cubicBezTo>
                    <a:pt x="1257402" y="0"/>
                    <a:pt x="1263102" y="2361"/>
                    <a:pt x="1267305" y="6563"/>
                  </a:cubicBezTo>
                  <a:cubicBezTo>
                    <a:pt x="1271507" y="10766"/>
                    <a:pt x="1273868" y="16466"/>
                    <a:pt x="1273868" y="22409"/>
                  </a:cubicBezTo>
                  <a:lnTo>
                    <a:pt x="1273868" y="178029"/>
                  </a:lnTo>
                  <a:cubicBezTo>
                    <a:pt x="1273868" y="183972"/>
                    <a:pt x="1271507" y="189672"/>
                    <a:pt x="1267305" y="193874"/>
                  </a:cubicBezTo>
                  <a:cubicBezTo>
                    <a:pt x="1263102" y="198077"/>
                    <a:pt x="1257402" y="200438"/>
                    <a:pt x="1251459" y="200438"/>
                  </a:cubicBezTo>
                  <a:lnTo>
                    <a:pt x="22409" y="200438"/>
                  </a:lnTo>
                  <a:cubicBezTo>
                    <a:pt x="10033" y="200438"/>
                    <a:pt x="0" y="190405"/>
                    <a:pt x="0" y="178029"/>
                  </a:cubicBezTo>
                  <a:lnTo>
                    <a:pt x="0" y="22409"/>
                  </a:lnTo>
                  <a:cubicBezTo>
                    <a:pt x="0" y="10033"/>
                    <a:pt x="10033" y="0"/>
                    <a:pt x="22409" y="0"/>
                  </a:cubicBezTo>
                  <a:close/>
                </a:path>
              </a:pathLst>
            </a:custGeom>
            <a:solidFill>
              <a:srgbClr val="4EA069"/>
            </a:solidFill>
          </p:spPr>
        </p:sp>
        <p:sp>
          <p:nvSpPr>
            <p:cNvPr name="TextBox 13" id="13"/>
            <p:cNvSpPr txBox="true"/>
            <p:nvPr/>
          </p:nvSpPr>
          <p:spPr>
            <a:xfrm>
              <a:off x="0" y="-38100"/>
              <a:ext cx="1273868" cy="238538"/>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49855" y="439510"/>
            <a:ext cx="9089729" cy="4360712"/>
          </a:xfrm>
          <a:custGeom>
            <a:avLst/>
            <a:gdLst/>
            <a:ahLst/>
            <a:cxnLst/>
            <a:rect r="r" b="b" t="t" l="l"/>
            <a:pathLst>
              <a:path h="4360712" w="9089729">
                <a:moveTo>
                  <a:pt x="0" y="0"/>
                </a:moveTo>
                <a:lnTo>
                  <a:pt x="9089729" y="0"/>
                </a:lnTo>
                <a:lnTo>
                  <a:pt x="9089729" y="4360712"/>
                </a:lnTo>
                <a:lnTo>
                  <a:pt x="0" y="4360712"/>
                </a:lnTo>
                <a:lnTo>
                  <a:pt x="0" y="0"/>
                </a:lnTo>
                <a:close/>
              </a:path>
            </a:pathLst>
          </a:custGeom>
          <a:blipFill>
            <a:blip r:embed="rId5"/>
            <a:stretch>
              <a:fillRect l="0" t="-17250" r="0" b="0"/>
            </a:stretch>
          </a:blipFill>
        </p:spPr>
      </p:sp>
      <p:sp>
        <p:nvSpPr>
          <p:cNvPr name="Freeform 15" id="15"/>
          <p:cNvSpPr/>
          <p:nvPr/>
        </p:nvSpPr>
        <p:spPr>
          <a:xfrm flipH="false" flipV="false" rot="0">
            <a:off x="149855" y="5423581"/>
            <a:ext cx="9089729" cy="4140011"/>
          </a:xfrm>
          <a:custGeom>
            <a:avLst/>
            <a:gdLst/>
            <a:ahLst/>
            <a:cxnLst/>
            <a:rect r="r" b="b" t="t" l="l"/>
            <a:pathLst>
              <a:path h="4140011" w="9089729">
                <a:moveTo>
                  <a:pt x="0" y="0"/>
                </a:moveTo>
                <a:lnTo>
                  <a:pt x="9089729" y="0"/>
                </a:lnTo>
                <a:lnTo>
                  <a:pt x="9089729" y="4140011"/>
                </a:lnTo>
                <a:lnTo>
                  <a:pt x="0" y="4140011"/>
                </a:lnTo>
                <a:lnTo>
                  <a:pt x="0" y="0"/>
                </a:lnTo>
                <a:close/>
              </a:path>
            </a:pathLst>
          </a:custGeom>
          <a:blipFill>
            <a:blip r:embed="rId6"/>
            <a:stretch>
              <a:fillRect l="0" t="-17870" r="0" b="-5630"/>
            </a:stretch>
          </a:blipFill>
        </p:spPr>
      </p:sp>
      <p:sp>
        <p:nvSpPr>
          <p:cNvPr name="TextBox 16" id="16"/>
          <p:cNvSpPr txBox="true"/>
          <p:nvPr/>
        </p:nvSpPr>
        <p:spPr>
          <a:xfrm rot="0">
            <a:off x="9760093" y="719913"/>
            <a:ext cx="8296816" cy="1937385"/>
          </a:xfrm>
          <a:prstGeom prst="rect">
            <a:avLst/>
          </a:prstGeom>
        </p:spPr>
        <p:txBody>
          <a:bodyPr anchor="t" rtlCol="false" tIns="0" lIns="0" bIns="0" rIns="0">
            <a:spAutoFit/>
          </a:bodyPr>
          <a:lstStyle/>
          <a:p>
            <a:pPr algn="l">
              <a:lnSpc>
                <a:spcPts val="7560"/>
              </a:lnSpc>
            </a:pPr>
            <a:r>
              <a:rPr lang="en-US" sz="7200" b="true">
                <a:solidFill>
                  <a:srgbClr val="006763"/>
                </a:solidFill>
                <a:latin typeface="Bebas Neue Bold"/>
                <a:ea typeface="Bebas Neue Bold"/>
                <a:cs typeface="Bebas Neue Bold"/>
                <a:sym typeface="Bebas Neue Bold"/>
              </a:rPr>
              <a:t>OPERATIONAL ANALYTICS &amp; AUDIT DRILL-DOWNS</a:t>
            </a:r>
          </a:p>
        </p:txBody>
      </p:sp>
      <p:sp>
        <p:nvSpPr>
          <p:cNvPr name="TextBox 17" id="17"/>
          <p:cNvSpPr txBox="true"/>
          <p:nvPr/>
        </p:nvSpPr>
        <p:spPr>
          <a:xfrm rot="0">
            <a:off x="9582484" y="4341049"/>
            <a:ext cx="3367961" cy="1234440"/>
          </a:xfrm>
          <a:prstGeom prst="rect">
            <a:avLst/>
          </a:prstGeom>
        </p:spPr>
        <p:txBody>
          <a:bodyPr anchor="t" rtlCol="false" tIns="0" lIns="0" bIns="0" rIns="0">
            <a:spAutoFit/>
          </a:bodyPr>
          <a:lstStyle/>
          <a:p>
            <a:pPr algn="ctr">
              <a:lnSpc>
                <a:spcPts val="3359"/>
              </a:lnSpc>
            </a:pPr>
            <a:r>
              <a:rPr lang="en-US" sz="2400">
                <a:solidFill>
                  <a:srgbClr val="006763"/>
                </a:solidFill>
                <a:latin typeface="Canva Sans"/>
                <a:ea typeface="Canva Sans"/>
                <a:cs typeface="Canva Sans"/>
                <a:sym typeface="Canva Sans"/>
              </a:rPr>
              <a:t>We built a comprehensive Admin Dashboard.</a:t>
            </a:r>
          </a:p>
        </p:txBody>
      </p:sp>
      <p:sp>
        <p:nvSpPr>
          <p:cNvPr name="TextBox 18" id="18"/>
          <p:cNvSpPr txBox="true"/>
          <p:nvPr/>
        </p:nvSpPr>
        <p:spPr>
          <a:xfrm rot="0">
            <a:off x="13247289" y="4341049"/>
            <a:ext cx="4809620" cy="1234440"/>
          </a:xfrm>
          <a:prstGeom prst="rect">
            <a:avLst/>
          </a:prstGeom>
        </p:spPr>
        <p:txBody>
          <a:bodyPr anchor="t" rtlCol="false" tIns="0" lIns="0" bIns="0" rIns="0">
            <a:spAutoFit/>
          </a:bodyPr>
          <a:lstStyle/>
          <a:p>
            <a:pPr algn="ctr">
              <a:lnSpc>
                <a:spcPts val="3359"/>
              </a:lnSpc>
            </a:pPr>
            <a:r>
              <a:rPr lang="en-US" sz="2400">
                <a:solidFill>
                  <a:srgbClr val="006763"/>
                </a:solidFill>
                <a:latin typeface="Canva Sans"/>
                <a:ea typeface="Canva Sans"/>
                <a:cs typeface="Canva Sans"/>
                <a:sym typeface="Canva Sans"/>
              </a:rPr>
              <a:t> Track total documents, active vs. superseded orders, and daily query volume.</a:t>
            </a:r>
          </a:p>
        </p:txBody>
      </p:sp>
      <p:sp>
        <p:nvSpPr>
          <p:cNvPr name="TextBox 19" id="19"/>
          <p:cNvSpPr txBox="true"/>
          <p:nvPr/>
        </p:nvSpPr>
        <p:spPr>
          <a:xfrm rot="0">
            <a:off x="8973250" y="3568164"/>
            <a:ext cx="458642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Tr</a:t>
            </a:r>
            <a:r>
              <a:rPr lang="en-US" b="true" sz="2400">
                <a:solidFill>
                  <a:srgbClr val="FFFFFF"/>
                </a:solidFill>
                <a:latin typeface="Canva Sans Bold"/>
                <a:ea typeface="Canva Sans Bold"/>
                <a:cs typeface="Canva Sans Bold"/>
                <a:sym typeface="Canva Sans Bold"/>
              </a:rPr>
              <a:t>ansparency</a:t>
            </a:r>
          </a:p>
        </p:txBody>
      </p:sp>
      <p:sp>
        <p:nvSpPr>
          <p:cNvPr name="TextBox 20" id="20"/>
          <p:cNvSpPr txBox="true"/>
          <p:nvPr/>
        </p:nvSpPr>
        <p:spPr>
          <a:xfrm rot="0">
            <a:off x="13297710" y="3568164"/>
            <a:ext cx="458642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Re</a:t>
            </a:r>
            <a:r>
              <a:rPr lang="en-US" b="true" sz="2400">
                <a:solidFill>
                  <a:srgbClr val="FFFFFF"/>
                </a:solidFill>
                <a:latin typeface="Canva Sans Bold"/>
                <a:ea typeface="Canva Sans Bold"/>
                <a:cs typeface="Canva Sans Bold"/>
                <a:sym typeface="Canva Sans Bold"/>
              </a:rPr>
              <a:t>al-Time Metrics</a:t>
            </a:r>
          </a:p>
        </p:txBody>
      </p:sp>
      <p:sp>
        <p:nvSpPr>
          <p:cNvPr name="TextBox 21" id="21"/>
          <p:cNvSpPr txBox="true"/>
          <p:nvPr/>
        </p:nvSpPr>
        <p:spPr>
          <a:xfrm rot="0">
            <a:off x="11266465" y="6318439"/>
            <a:ext cx="458642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Tamper-Proof Audit Log</a:t>
            </a:r>
          </a:p>
        </p:txBody>
      </p:sp>
      <p:sp>
        <p:nvSpPr>
          <p:cNvPr name="TextBox 22" id="22"/>
          <p:cNvSpPr txBox="true"/>
          <p:nvPr/>
        </p:nvSpPr>
        <p:spPr>
          <a:xfrm rot="0">
            <a:off x="10887645" y="7079476"/>
            <a:ext cx="5344068" cy="2072640"/>
          </a:xfrm>
          <a:prstGeom prst="rect">
            <a:avLst/>
          </a:prstGeom>
        </p:spPr>
        <p:txBody>
          <a:bodyPr anchor="t" rtlCol="false" tIns="0" lIns="0" bIns="0" rIns="0">
            <a:spAutoFit/>
          </a:bodyPr>
          <a:lstStyle/>
          <a:p>
            <a:pPr algn="ctr">
              <a:lnSpc>
                <a:spcPts val="3359"/>
              </a:lnSpc>
            </a:pPr>
            <a:r>
              <a:rPr lang="en-US" sz="2400">
                <a:solidFill>
                  <a:srgbClr val="006763"/>
                </a:solidFill>
                <a:latin typeface="Canva Sans"/>
                <a:ea typeface="Canva Sans"/>
                <a:cs typeface="Canva Sans"/>
                <a:sym typeface="Canva Sans"/>
              </a:rPr>
              <a:t> </a:t>
            </a:r>
            <a:r>
              <a:rPr lang="en-US" sz="2400">
                <a:solidFill>
                  <a:srgbClr val="006763"/>
                </a:solidFill>
                <a:latin typeface="Canva Sans"/>
                <a:ea typeface="Canva Sans"/>
                <a:cs typeface="Canva Sans"/>
                <a:sym typeface="Canva Sans"/>
              </a:rPr>
              <a:t>Every search query, document view, and permission denial is permanently logged with the User ID and timestamp, ensuring full government compliance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TextBox 3" id="3"/>
          <p:cNvSpPr txBox="true"/>
          <p:nvPr/>
        </p:nvSpPr>
        <p:spPr>
          <a:xfrm rot="0">
            <a:off x="1028700" y="2657943"/>
            <a:ext cx="16023628" cy="6125227"/>
          </a:xfrm>
          <a:prstGeom prst="rect">
            <a:avLst/>
          </a:prstGeom>
        </p:spPr>
        <p:txBody>
          <a:bodyPr anchor="t" rtlCol="false" tIns="0" lIns="0" bIns="0" rIns="0">
            <a:spAutoFit/>
          </a:bodyPr>
          <a:lstStyle/>
          <a:p>
            <a:pPr algn="just">
              <a:lnSpc>
                <a:spcPts val="6693"/>
              </a:lnSpc>
              <a:spcBef>
                <a:spcPct val="0"/>
              </a:spcBef>
            </a:pPr>
            <a:r>
              <a:rPr lang="en-US" b="true" sz="4780">
                <a:solidFill>
                  <a:srgbClr val="006763"/>
                </a:solidFill>
                <a:latin typeface="Canva Sans Bold"/>
                <a:ea typeface="Canva Sans Bold"/>
                <a:cs typeface="Canva Sans Bold"/>
                <a:sym typeface="Canva Sans Bold"/>
              </a:rPr>
              <a:t>From Documents to Trusted Decisions</a:t>
            </a:r>
          </a:p>
          <a:p>
            <a:pPr algn="just">
              <a:lnSpc>
                <a:spcPts val="4350"/>
              </a:lnSpc>
              <a:spcBef>
                <a:spcPct val="0"/>
              </a:spcBef>
            </a:pPr>
            <a:r>
              <a:rPr lang="en-US" sz="3107">
                <a:solidFill>
                  <a:srgbClr val="006763"/>
                </a:solidFill>
                <a:latin typeface="Canva Sans"/>
                <a:ea typeface="Canva Sans"/>
                <a:cs typeface="Canva Sans"/>
                <a:sym typeface="Canva Sans"/>
              </a:rPr>
              <a:t>A secure Knowledge Intelligence Platform for the Kerala Finance Department that transforms scattered finance policies and Government Orders into searchable, traceable, and actionable knowledge.</a:t>
            </a:r>
          </a:p>
          <a:p>
            <a:pPr algn="just">
              <a:lnSpc>
                <a:spcPts val="4350"/>
              </a:lnSpc>
              <a:spcBef>
                <a:spcPct val="0"/>
              </a:spcBef>
            </a:pPr>
          </a:p>
          <a:p>
            <a:pPr algn="just" marL="636525" indent="-318262" lvl="1">
              <a:lnSpc>
                <a:spcPts val="4127"/>
              </a:lnSpc>
              <a:buFont typeface="Arial"/>
              <a:buChar char="•"/>
            </a:pPr>
            <a:r>
              <a:rPr lang="en-US" sz="2948">
                <a:solidFill>
                  <a:srgbClr val="006763"/>
                </a:solidFill>
                <a:latin typeface="Canva Sans"/>
                <a:ea typeface="Canva Sans"/>
                <a:cs typeface="Canva Sans"/>
                <a:sym typeface="Canva Sans"/>
              </a:rPr>
              <a:t>Find the right information faster</a:t>
            </a:r>
          </a:p>
          <a:p>
            <a:pPr algn="just" marL="636525" indent="-318262" lvl="1">
              <a:lnSpc>
                <a:spcPts val="4127"/>
              </a:lnSpc>
              <a:buFont typeface="Arial"/>
              <a:buChar char="•"/>
            </a:pPr>
            <a:r>
              <a:rPr lang="en-US" sz="2948">
                <a:solidFill>
                  <a:srgbClr val="006763"/>
                </a:solidFill>
                <a:latin typeface="Canva Sans"/>
                <a:ea typeface="Canva Sans"/>
                <a:cs typeface="Canva Sans"/>
                <a:sym typeface="Canva Sans"/>
              </a:rPr>
              <a:t>Verify it against authoritative and current sources</a:t>
            </a:r>
          </a:p>
          <a:p>
            <a:pPr algn="just" marL="636525" indent="-318262" lvl="1">
              <a:lnSpc>
                <a:spcPts val="4127"/>
              </a:lnSpc>
              <a:buFont typeface="Arial"/>
              <a:buChar char="•"/>
            </a:pPr>
            <a:r>
              <a:rPr lang="en-US" sz="2948">
                <a:solidFill>
                  <a:srgbClr val="006763"/>
                </a:solidFill>
                <a:latin typeface="Canva Sans"/>
                <a:ea typeface="Canva Sans"/>
                <a:cs typeface="Canva Sans"/>
                <a:sym typeface="Canva Sans"/>
              </a:rPr>
              <a:t>Draft policy notes with traceable evidence</a:t>
            </a:r>
          </a:p>
          <a:p>
            <a:pPr algn="just" marL="636525" indent="-318262" lvl="1">
              <a:lnSpc>
                <a:spcPts val="4127"/>
              </a:lnSpc>
              <a:buFont typeface="Arial"/>
              <a:buChar char="•"/>
            </a:pPr>
            <a:r>
              <a:rPr lang="en-US" sz="2948">
                <a:solidFill>
                  <a:srgbClr val="006763"/>
                </a:solidFill>
                <a:latin typeface="Canva Sans"/>
                <a:ea typeface="Canva Sans"/>
                <a:cs typeface="Canva Sans"/>
                <a:sym typeface="Canva Sans"/>
              </a:rPr>
              <a:t>Govern access, usage, and decisions through auditability</a:t>
            </a:r>
          </a:p>
          <a:p>
            <a:pPr algn="just">
              <a:lnSpc>
                <a:spcPts val="4127"/>
              </a:lnSpc>
            </a:pPr>
          </a:p>
          <a:p>
            <a:pPr algn="just">
              <a:lnSpc>
                <a:spcPts val="4127"/>
              </a:lnSpc>
              <a:spcBef>
                <a:spcPct val="0"/>
              </a:spcBef>
            </a:pPr>
            <a:r>
              <a:rPr lang="en-US" sz="2948">
                <a:solidFill>
                  <a:srgbClr val="006763"/>
                </a:solidFill>
                <a:latin typeface="Canva Sans"/>
                <a:ea typeface="Canva Sans"/>
                <a:cs typeface="Canva Sans"/>
                <a:sym typeface="Canva Sans"/>
              </a:rPr>
              <a:t>Enabling faster, safer, and more accountable financial decision-making.</a:t>
            </a:r>
          </a:p>
        </p:txBody>
      </p:sp>
      <p:sp>
        <p:nvSpPr>
          <p:cNvPr name="Freeform 4" id="4"/>
          <p:cNvSpPr/>
          <p:nvPr/>
        </p:nvSpPr>
        <p:spPr>
          <a:xfrm flipH="false" flipV="false" rot="0">
            <a:off x="14524562" y="6958975"/>
            <a:ext cx="3356164" cy="2980363"/>
          </a:xfrm>
          <a:custGeom>
            <a:avLst/>
            <a:gdLst/>
            <a:ahLst/>
            <a:cxnLst/>
            <a:rect r="r" b="b" t="t" l="l"/>
            <a:pathLst>
              <a:path h="2980363" w="3356164">
                <a:moveTo>
                  <a:pt x="0" y="0"/>
                </a:moveTo>
                <a:lnTo>
                  <a:pt x="3356164" y="0"/>
                </a:lnTo>
                <a:lnTo>
                  <a:pt x="3356164" y="2980363"/>
                </a:lnTo>
                <a:lnTo>
                  <a:pt x="0" y="29803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15285">
            <a:off x="15961808" y="-500238"/>
            <a:ext cx="2594984" cy="3430868"/>
          </a:xfrm>
          <a:custGeom>
            <a:avLst/>
            <a:gdLst/>
            <a:ahLst/>
            <a:cxnLst/>
            <a:rect r="r" b="b" t="t" l="l"/>
            <a:pathLst>
              <a:path h="3430868" w="2594984">
                <a:moveTo>
                  <a:pt x="0" y="0"/>
                </a:moveTo>
                <a:lnTo>
                  <a:pt x="2594984" y="0"/>
                </a:lnTo>
                <a:lnTo>
                  <a:pt x="2594984" y="3430868"/>
                </a:lnTo>
                <a:lnTo>
                  <a:pt x="0" y="34308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585614">
            <a:off x="14684363" y="-322766"/>
            <a:ext cx="1524393" cy="2015423"/>
          </a:xfrm>
          <a:custGeom>
            <a:avLst/>
            <a:gdLst/>
            <a:ahLst/>
            <a:cxnLst/>
            <a:rect r="r" b="b" t="t" l="l"/>
            <a:pathLst>
              <a:path h="2015423" w="1524393">
                <a:moveTo>
                  <a:pt x="0" y="0"/>
                </a:moveTo>
                <a:lnTo>
                  <a:pt x="1524392" y="0"/>
                </a:lnTo>
                <a:lnTo>
                  <a:pt x="1524392" y="2015423"/>
                </a:lnTo>
                <a:lnTo>
                  <a:pt x="0" y="20154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17509" y="8783170"/>
            <a:ext cx="2447061" cy="1503830"/>
          </a:xfrm>
          <a:custGeom>
            <a:avLst/>
            <a:gdLst/>
            <a:ahLst/>
            <a:cxnLst/>
            <a:rect r="r" b="b" t="t" l="l"/>
            <a:pathLst>
              <a:path h="1503830" w="2447061">
                <a:moveTo>
                  <a:pt x="0" y="0"/>
                </a:moveTo>
                <a:lnTo>
                  <a:pt x="2447061" y="0"/>
                </a:lnTo>
                <a:lnTo>
                  <a:pt x="2447061" y="1503830"/>
                </a:lnTo>
                <a:lnTo>
                  <a:pt x="0" y="15038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2502433" y="114833"/>
            <a:ext cx="11411934" cy="2393416"/>
          </a:xfrm>
          <a:custGeom>
            <a:avLst/>
            <a:gdLst/>
            <a:ahLst/>
            <a:cxnLst/>
            <a:rect r="r" b="b" t="t" l="l"/>
            <a:pathLst>
              <a:path h="2393416" w="11411934">
                <a:moveTo>
                  <a:pt x="0" y="0"/>
                </a:moveTo>
                <a:lnTo>
                  <a:pt x="11411934" y="0"/>
                </a:lnTo>
                <a:lnTo>
                  <a:pt x="11411934" y="2393417"/>
                </a:lnTo>
                <a:lnTo>
                  <a:pt x="0" y="2393417"/>
                </a:lnTo>
                <a:lnTo>
                  <a:pt x="0" y="0"/>
                </a:lnTo>
                <a:close/>
              </a:path>
            </a:pathLst>
          </a:custGeom>
          <a:blipFill>
            <a:blip r:embed="rId9"/>
            <a:stretch>
              <a:fillRect l="0" t="-17802" r="0" b="-11530"/>
            </a:stretch>
          </a:blipFill>
        </p:spPr>
      </p:sp>
      <p:sp>
        <p:nvSpPr>
          <p:cNvPr name="AutoShape 9" id="9"/>
          <p:cNvSpPr/>
          <p:nvPr/>
        </p:nvSpPr>
        <p:spPr>
          <a:xfrm flipV="true">
            <a:off x="3588035" y="1014413"/>
            <a:ext cx="10326332" cy="0"/>
          </a:xfrm>
          <a:prstGeom prst="line">
            <a:avLst/>
          </a:prstGeom>
          <a:ln cap="flat" w="19050">
            <a:solidFill>
              <a:srgbClr val="4D994F"/>
            </a:solidFill>
            <a:prstDash val="solid"/>
            <a:headEnd type="none" len="sm" w="sm"/>
            <a:tailEnd type="none" len="sm" w="sm"/>
          </a:ln>
        </p:spPr>
      </p:sp>
      <p:sp>
        <p:nvSpPr>
          <p:cNvPr name="AutoShape 10" id="10"/>
          <p:cNvSpPr/>
          <p:nvPr/>
        </p:nvSpPr>
        <p:spPr>
          <a:xfrm flipV="true">
            <a:off x="5598267" y="9272588"/>
            <a:ext cx="8316100" cy="0"/>
          </a:xfrm>
          <a:prstGeom prst="line">
            <a:avLst/>
          </a:prstGeom>
          <a:ln cap="flat" w="19050">
            <a:solidFill>
              <a:srgbClr val="4D994F"/>
            </a:solidFill>
            <a:prstDash val="solid"/>
            <a:headEnd type="none" len="sm" w="sm"/>
            <a:tailEnd type="none" len="sm" w="sm"/>
          </a:ln>
        </p:spPr>
      </p:sp>
      <p:sp>
        <p:nvSpPr>
          <p:cNvPr name="Freeform 11" id="11"/>
          <p:cNvSpPr/>
          <p:nvPr/>
        </p:nvSpPr>
        <p:spPr>
          <a:xfrm flipH="false" flipV="false" rot="0">
            <a:off x="16794766" y="4003362"/>
            <a:ext cx="2171919" cy="2057400"/>
          </a:xfrm>
          <a:custGeom>
            <a:avLst/>
            <a:gdLst/>
            <a:ahLst/>
            <a:cxnLst/>
            <a:rect r="r" b="b" t="t" l="l"/>
            <a:pathLst>
              <a:path h="2057400" w="2171919">
                <a:moveTo>
                  <a:pt x="0" y="0"/>
                </a:moveTo>
                <a:lnTo>
                  <a:pt x="2171920" y="0"/>
                </a:lnTo>
                <a:lnTo>
                  <a:pt x="217192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1028700" y="-380467"/>
            <a:ext cx="15157843" cy="2429593"/>
          </a:xfrm>
          <a:prstGeom prst="rect">
            <a:avLst/>
          </a:prstGeom>
        </p:spPr>
        <p:txBody>
          <a:bodyPr anchor="t" rtlCol="false" tIns="0" lIns="0" bIns="0" rIns="0">
            <a:spAutoFit/>
          </a:bodyPr>
          <a:lstStyle/>
          <a:p>
            <a:pPr algn="ctr">
              <a:lnSpc>
                <a:spcPts val="17810"/>
              </a:lnSpc>
              <a:spcBef>
                <a:spcPct val="0"/>
              </a:spcBef>
            </a:pPr>
            <a:r>
              <a:rPr lang="en-US" sz="12721" spc="559">
                <a:solidFill>
                  <a:srgbClr val="006763"/>
                </a:solidFill>
                <a:latin typeface="Ballpoint"/>
                <a:ea typeface="Ballpoint"/>
                <a:cs typeface="Ballpoint"/>
                <a:sym typeface="Ballpoint"/>
              </a:rPr>
              <a:t>CONCLUSION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0">
            <a:off x="1416914" y="7182259"/>
            <a:ext cx="16871086" cy="7128034"/>
          </a:xfrm>
          <a:custGeom>
            <a:avLst/>
            <a:gdLst/>
            <a:ahLst/>
            <a:cxnLst/>
            <a:rect r="r" b="b" t="t" l="l"/>
            <a:pathLst>
              <a:path h="7128034" w="16871086">
                <a:moveTo>
                  <a:pt x="16871086" y="0"/>
                </a:moveTo>
                <a:lnTo>
                  <a:pt x="0" y="0"/>
                </a:lnTo>
                <a:lnTo>
                  <a:pt x="0" y="7128034"/>
                </a:lnTo>
                <a:lnTo>
                  <a:pt x="16871086" y="7128034"/>
                </a:lnTo>
                <a:lnTo>
                  <a:pt x="16871086" y="0"/>
                </a:lnTo>
                <a:close/>
              </a:path>
            </a:pathLst>
          </a:custGeom>
          <a:blipFill>
            <a:blip r:embed="rId3"/>
            <a:stretch>
              <a:fillRect l="0" t="0" r="0" b="0"/>
            </a:stretch>
          </a:blipFill>
        </p:spPr>
      </p:sp>
      <p:sp>
        <p:nvSpPr>
          <p:cNvPr name="Freeform 4" id="4"/>
          <p:cNvSpPr/>
          <p:nvPr/>
        </p:nvSpPr>
        <p:spPr>
          <a:xfrm flipH="false" flipV="false" rot="0">
            <a:off x="-4558336" y="2736613"/>
            <a:ext cx="14410793" cy="6088560"/>
          </a:xfrm>
          <a:custGeom>
            <a:avLst/>
            <a:gdLst/>
            <a:ahLst/>
            <a:cxnLst/>
            <a:rect r="r" b="b" t="t" l="l"/>
            <a:pathLst>
              <a:path h="6088560" w="14410793">
                <a:moveTo>
                  <a:pt x="0" y="0"/>
                </a:moveTo>
                <a:lnTo>
                  <a:pt x="14410793" y="0"/>
                </a:lnTo>
                <a:lnTo>
                  <a:pt x="14410793" y="6088560"/>
                </a:lnTo>
                <a:lnTo>
                  <a:pt x="0" y="6088560"/>
                </a:lnTo>
                <a:lnTo>
                  <a:pt x="0" y="0"/>
                </a:lnTo>
                <a:close/>
              </a:path>
            </a:pathLst>
          </a:custGeom>
          <a:blipFill>
            <a:blip r:embed="rId3">
              <a:alphaModFix amt="50000"/>
            </a:blip>
            <a:stretch>
              <a:fillRect l="0" t="0" r="0" b="0"/>
            </a:stretch>
          </a:blipFill>
        </p:spPr>
      </p:sp>
      <p:sp>
        <p:nvSpPr>
          <p:cNvPr name="Freeform 5" id="5"/>
          <p:cNvSpPr/>
          <p:nvPr/>
        </p:nvSpPr>
        <p:spPr>
          <a:xfrm flipH="false" flipV="false" rot="262225">
            <a:off x="-882545" y="4062762"/>
            <a:ext cx="8399809" cy="8214313"/>
          </a:xfrm>
          <a:custGeom>
            <a:avLst/>
            <a:gdLst/>
            <a:ahLst/>
            <a:cxnLst/>
            <a:rect r="r" b="b" t="t" l="l"/>
            <a:pathLst>
              <a:path h="8214313" w="8399809">
                <a:moveTo>
                  <a:pt x="0" y="0"/>
                </a:moveTo>
                <a:lnTo>
                  <a:pt x="8399810" y="0"/>
                </a:lnTo>
                <a:lnTo>
                  <a:pt x="8399810" y="8214314"/>
                </a:lnTo>
                <a:lnTo>
                  <a:pt x="0" y="8214314"/>
                </a:lnTo>
                <a:lnTo>
                  <a:pt x="0" y="0"/>
                </a:lnTo>
                <a:close/>
              </a:path>
            </a:pathLst>
          </a:custGeom>
          <a:blipFill>
            <a:blip r:embed="rId4"/>
            <a:stretch>
              <a:fillRect l="0" t="0" r="0" b="0"/>
            </a:stretch>
          </a:blipFill>
        </p:spPr>
      </p:sp>
      <p:sp>
        <p:nvSpPr>
          <p:cNvPr name="Freeform 6" id="6"/>
          <p:cNvSpPr/>
          <p:nvPr/>
        </p:nvSpPr>
        <p:spPr>
          <a:xfrm flipH="true" flipV="false" rot="0">
            <a:off x="10874614" y="-1471387"/>
            <a:ext cx="8882758" cy="6129103"/>
          </a:xfrm>
          <a:custGeom>
            <a:avLst/>
            <a:gdLst/>
            <a:ahLst/>
            <a:cxnLst/>
            <a:rect r="r" b="b" t="t" l="l"/>
            <a:pathLst>
              <a:path h="6129103" w="8882758">
                <a:moveTo>
                  <a:pt x="8882759" y="0"/>
                </a:moveTo>
                <a:lnTo>
                  <a:pt x="0" y="0"/>
                </a:lnTo>
                <a:lnTo>
                  <a:pt x="0" y="6129103"/>
                </a:lnTo>
                <a:lnTo>
                  <a:pt x="8882759" y="6129103"/>
                </a:lnTo>
                <a:lnTo>
                  <a:pt x="8882759" y="0"/>
                </a:lnTo>
                <a:close/>
              </a:path>
            </a:pathLst>
          </a:custGeom>
          <a:blipFill>
            <a:blip r:embed="rId5"/>
            <a:stretch>
              <a:fillRect l="0" t="0" r="0" b="0"/>
            </a:stretch>
          </a:blipFill>
        </p:spPr>
      </p:sp>
      <p:sp>
        <p:nvSpPr>
          <p:cNvPr name="Freeform 7" id="7"/>
          <p:cNvSpPr/>
          <p:nvPr/>
        </p:nvSpPr>
        <p:spPr>
          <a:xfrm flipH="false" flipV="false" rot="0">
            <a:off x="8496587" y="1162025"/>
            <a:ext cx="11845984" cy="6539970"/>
          </a:xfrm>
          <a:custGeom>
            <a:avLst/>
            <a:gdLst/>
            <a:ahLst/>
            <a:cxnLst/>
            <a:rect r="r" b="b" t="t" l="l"/>
            <a:pathLst>
              <a:path h="6539970" w="11845984">
                <a:moveTo>
                  <a:pt x="0" y="0"/>
                </a:moveTo>
                <a:lnTo>
                  <a:pt x="11845985" y="0"/>
                </a:lnTo>
                <a:lnTo>
                  <a:pt x="11845985" y="6539971"/>
                </a:lnTo>
                <a:lnTo>
                  <a:pt x="0" y="6539971"/>
                </a:lnTo>
                <a:lnTo>
                  <a:pt x="0" y="0"/>
                </a:lnTo>
                <a:close/>
              </a:path>
            </a:pathLst>
          </a:custGeom>
          <a:blipFill>
            <a:blip r:embed="rId6"/>
            <a:stretch>
              <a:fillRect l="0" t="0" r="0" b="0"/>
            </a:stretch>
          </a:blipFill>
        </p:spPr>
      </p:sp>
      <p:sp>
        <p:nvSpPr>
          <p:cNvPr name="Freeform 8" id="8"/>
          <p:cNvSpPr/>
          <p:nvPr/>
        </p:nvSpPr>
        <p:spPr>
          <a:xfrm flipH="false" flipV="false" rot="0">
            <a:off x="-3024466" y="3754654"/>
            <a:ext cx="8882758" cy="6129103"/>
          </a:xfrm>
          <a:custGeom>
            <a:avLst/>
            <a:gdLst/>
            <a:ahLst/>
            <a:cxnLst/>
            <a:rect r="r" b="b" t="t" l="l"/>
            <a:pathLst>
              <a:path h="6129103" w="8882758">
                <a:moveTo>
                  <a:pt x="0" y="0"/>
                </a:moveTo>
                <a:lnTo>
                  <a:pt x="8882759" y="0"/>
                </a:lnTo>
                <a:lnTo>
                  <a:pt x="8882759" y="6129103"/>
                </a:lnTo>
                <a:lnTo>
                  <a:pt x="0" y="6129103"/>
                </a:lnTo>
                <a:lnTo>
                  <a:pt x="0" y="0"/>
                </a:lnTo>
                <a:close/>
              </a:path>
            </a:pathLst>
          </a:custGeom>
          <a:blipFill>
            <a:blip r:embed="rId5"/>
            <a:stretch>
              <a:fillRect l="0" t="0" r="0" b="0"/>
            </a:stretch>
          </a:blipFill>
        </p:spPr>
      </p:sp>
      <p:sp>
        <p:nvSpPr>
          <p:cNvPr name="TextBox 9" id="9"/>
          <p:cNvSpPr txBox="true"/>
          <p:nvPr/>
        </p:nvSpPr>
        <p:spPr>
          <a:xfrm rot="0">
            <a:off x="2413196" y="1717676"/>
            <a:ext cx="6730804" cy="3425824"/>
          </a:xfrm>
          <a:prstGeom prst="rect">
            <a:avLst/>
          </a:prstGeom>
        </p:spPr>
        <p:txBody>
          <a:bodyPr anchor="t" rtlCol="false" tIns="0" lIns="0" bIns="0" rIns="0">
            <a:spAutoFit/>
          </a:bodyPr>
          <a:lstStyle/>
          <a:p>
            <a:pPr algn="l">
              <a:lnSpc>
                <a:spcPts val="28000"/>
              </a:lnSpc>
              <a:spcBef>
                <a:spcPct val="0"/>
              </a:spcBef>
            </a:pPr>
            <a:r>
              <a:rPr lang="en-US" sz="20000">
                <a:solidFill>
                  <a:srgbClr val="006763"/>
                </a:solidFill>
                <a:latin typeface="Andasia"/>
                <a:ea typeface="Andasia"/>
                <a:cs typeface="Andasia"/>
                <a:sym typeface="Andasia"/>
              </a:rPr>
              <a:t>Thank</a:t>
            </a:r>
          </a:p>
        </p:txBody>
      </p:sp>
      <p:sp>
        <p:nvSpPr>
          <p:cNvPr name="TextBox 10" id="10"/>
          <p:cNvSpPr txBox="true"/>
          <p:nvPr/>
        </p:nvSpPr>
        <p:spPr>
          <a:xfrm rot="0">
            <a:off x="7818036" y="5399893"/>
            <a:ext cx="3964383" cy="3425824"/>
          </a:xfrm>
          <a:prstGeom prst="rect">
            <a:avLst/>
          </a:prstGeom>
        </p:spPr>
        <p:txBody>
          <a:bodyPr anchor="t" rtlCol="false" tIns="0" lIns="0" bIns="0" rIns="0">
            <a:spAutoFit/>
          </a:bodyPr>
          <a:lstStyle/>
          <a:p>
            <a:pPr algn="l">
              <a:lnSpc>
                <a:spcPts val="28000"/>
              </a:lnSpc>
              <a:spcBef>
                <a:spcPct val="0"/>
              </a:spcBef>
            </a:pPr>
            <a:r>
              <a:rPr lang="en-US" sz="20000">
                <a:solidFill>
                  <a:srgbClr val="006763"/>
                </a:solidFill>
                <a:latin typeface="Andasia"/>
                <a:ea typeface="Andasia"/>
                <a:cs typeface="Andasia"/>
                <a:sym typeface="Andasia"/>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DAHS1sFrOIo</dc:identifier>
  <dcterms:modified xsi:type="dcterms:W3CDTF">2011-08-01T06:04:30Z</dcterms:modified>
  <cp:revision>1</cp:revision>
  <dc:title>Jacqueline Thompson</dc:title>
</cp:coreProperties>
</file>