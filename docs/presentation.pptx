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Andasia" panose="02000500000000000000" charset="0"/>
      <p:regular r:id="rId14"/>
    </p:embeddedFont>
    <p:embeddedFont>
      <p:font typeface="Ballpoint" panose="020B0604020202020204" charset="0"/>
      <p:regular r:id="rId15"/>
    </p:embeddedFont>
    <p:embeddedFont>
      <p:font typeface="Bebas Neue Bold" panose="020B0604020202020204" charset="0"/>
      <p:regular r:id="rId16"/>
    </p:embeddedFont>
    <p:embeddedFont>
      <p:font typeface="Canva Sans" panose="020B0604020202020204" charset="0"/>
      <p:regular r:id="rId17"/>
    </p:embeddedFont>
    <p:embeddedFont>
      <p:font typeface="Canva Sans Bold" panose="020B0604020202020204" charset="0"/>
      <p:regular r:id="rId18"/>
    </p:embeddedFont>
    <p:embeddedFont>
      <p:font typeface="Montserrat Bold" panose="020B0604020202020204" charset="0"/>
      <p:regular r:id="rId19"/>
    </p:embeddedFont>
    <p:embeddedFont>
      <p:font typeface="Questrial" pitchFamily="2" charset="0"/>
      <p:regular r:id="rId20"/>
    </p:embeddedFont>
    <p:embeddedFont>
      <p:font typeface="Roboto" panose="02000000000000000000" pitchFamily="2" charset="0"/>
      <p:regular r:id="rId21"/>
    </p:embeddedFont>
    <p:embeddedFont>
      <p:font typeface="Roboto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 Id="rId9" Type="http://schemas.openxmlformats.org/officeDocument/2006/relationships/image" Target="../media/image18.svg"/></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20.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22.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0" y="-243796"/>
            <a:ext cx="10948843" cy="10530796"/>
          </a:xfrm>
          <a:custGeom>
            <a:avLst/>
            <a:gdLst/>
            <a:ahLst/>
            <a:cxnLst/>
            <a:rect l="l" t="t" r="r" b="b"/>
            <a:pathLst>
              <a:path w="10948843" h="10530796">
                <a:moveTo>
                  <a:pt x="0" y="0"/>
                </a:moveTo>
                <a:lnTo>
                  <a:pt x="10948843" y="0"/>
                </a:lnTo>
                <a:lnTo>
                  <a:pt x="10948843" y="10530796"/>
                </a:lnTo>
                <a:lnTo>
                  <a:pt x="0" y="1053079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680795" y="9260997"/>
            <a:ext cx="9268826" cy="834194"/>
          </a:xfrm>
          <a:custGeom>
            <a:avLst/>
            <a:gdLst/>
            <a:ahLst/>
            <a:cxnLst/>
            <a:rect l="l" t="t" r="r" b="b"/>
            <a:pathLst>
              <a:path w="9268826" h="834194">
                <a:moveTo>
                  <a:pt x="0" y="0"/>
                </a:moveTo>
                <a:lnTo>
                  <a:pt x="9268825" y="0"/>
                </a:lnTo>
                <a:lnTo>
                  <a:pt x="9268825" y="834195"/>
                </a:lnTo>
                <a:lnTo>
                  <a:pt x="0" y="834195"/>
                </a:lnTo>
                <a:lnTo>
                  <a:pt x="0" y="0"/>
                </a:lnTo>
                <a:close/>
              </a:path>
            </a:pathLst>
          </a:custGeom>
          <a:blipFill>
            <a:blip r:embed="rId4"/>
            <a:stretch>
              <a:fillRect/>
            </a:stretch>
          </a:blipFill>
        </p:spPr>
      </p:sp>
      <p:sp>
        <p:nvSpPr>
          <p:cNvPr id="5" name="Freeform 5"/>
          <p:cNvSpPr/>
          <p:nvPr/>
        </p:nvSpPr>
        <p:spPr>
          <a:xfrm>
            <a:off x="5025042" y="6224104"/>
            <a:ext cx="11949810" cy="3241386"/>
          </a:xfrm>
          <a:custGeom>
            <a:avLst/>
            <a:gdLst/>
            <a:ahLst/>
            <a:cxnLst/>
            <a:rect l="l" t="t" r="r" b="b"/>
            <a:pathLst>
              <a:path w="11949810" h="3241386">
                <a:moveTo>
                  <a:pt x="0" y="0"/>
                </a:moveTo>
                <a:lnTo>
                  <a:pt x="11949810" y="0"/>
                </a:lnTo>
                <a:lnTo>
                  <a:pt x="11949810" y="3241386"/>
                </a:lnTo>
                <a:lnTo>
                  <a:pt x="0" y="3241386"/>
                </a:lnTo>
                <a:lnTo>
                  <a:pt x="0" y="0"/>
                </a:lnTo>
                <a:close/>
              </a:path>
            </a:pathLst>
          </a:custGeom>
          <a:blipFill>
            <a:blip r:embed="rId5"/>
            <a:stretch>
              <a:fillRect/>
            </a:stretch>
          </a:blipFill>
        </p:spPr>
      </p:sp>
      <p:sp>
        <p:nvSpPr>
          <p:cNvPr id="6" name="Freeform 6"/>
          <p:cNvSpPr/>
          <p:nvPr/>
        </p:nvSpPr>
        <p:spPr>
          <a:xfrm>
            <a:off x="1028700" y="1028700"/>
            <a:ext cx="4552930" cy="4862353"/>
          </a:xfrm>
          <a:custGeom>
            <a:avLst/>
            <a:gdLst/>
            <a:ahLst/>
            <a:cxnLst/>
            <a:rect l="l" t="t" r="r" b="b"/>
            <a:pathLst>
              <a:path w="4552930" h="4862353">
                <a:moveTo>
                  <a:pt x="0" y="0"/>
                </a:moveTo>
                <a:lnTo>
                  <a:pt x="4552930" y="0"/>
                </a:lnTo>
                <a:lnTo>
                  <a:pt x="4552930" y="4862353"/>
                </a:lnTo>
                <a:lnTo>
                  <a:pt x="0" y="4862353"/>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1028700" y="4899704"/>
            <a:ext cx="3723681" cy="2945093"/>
          </a:xfrm>
          <a:custGeom>
            <a:avLst/>
            <a:gdLst/>
            <a:ahLst/>
            <a:cxnLst/>
            <a:rect l="l" t="t" r="r" b="b"/>
            <a:pathLst>
              <a:path w="3723681" h="2945093">
                <a:moveTo>
                  <a:pt x="0" y="0"/>
                </a:moveTo>
                <a:lnTo>
                  <a:pt x="3723681" y="0"/>
                </a:lnTo>
                <a:lnTo>
                  <a:pt x="3723681" y="2945093"/>
                </a:lnTo>
                <a:lnTo>
                  <a:pt x="0" y="2945093"/>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Freeform 8"/>
          <p:cNvSpPr/>
          <p:nvPr/>
        </p:nvSpPr>
        <p:spPr>
          <a:xfrm>
            <a:off x="3623868" y="2325342"/>
            <a:ext cx="6325752" cy="4201354"/>
          </a:xfrm>
          <a:custGeom>
            <a:avLst/>
            <a:gdLst/>
            <a:ahLst/>
            <a:cxnLst/>
            <a:rect l="l" t="t" r="r" b="b"/>
            <a:pathLst>
              <a:path w="6325752" h="4201354">
                <a:moveTo>
                  <a:pt x="0" y="0"/>
                </a:moveTo>
                <a:lnTo>
                  <a:pt x="6325752" y="0"/>
                </a:lnTo>
                <a:lnTo>
                  <a:pt x="6325752" y="4201353"/>
                </a:lnTo>
                <a:lnTo>
                  <a:pt x="0" y="4201353"/>
                </a:lnTo>
                <a:lnTo>
                  <a:pt x="0" y="0"/>
                </a:lnTo>
                <a:close/>
              </a:path>
            </a:pathLst>
          </a:custGeom>
          <a:blipFill>
            <a:blip r:embed="rId8"/>
            <a:stretch>
              <a:fillRect/>
            </a:stretch>
          </a:blipFill>
        </p:spPr>
      </p:sp>
      <p:sp>
        <p:nvSpPr>
          <p:cNvPr id="9" name="TextBox 9"/>
          <p:cNvSpPr txBox="1"/>
          <p:nvPr/>
        </p:nvSpPr>
        <p:spPr>
          <a:xfrm>
            <a:off x="5843585" y="6946906"/>
            <a:ext cx="10711840" cy="3075941"/>
          </a:xfrm>
          <a:prstGeom prst="rect">
            <a:avLst/>
          </a:prstGeom>
        </p:spPr>
        <p:txBody>
          <a:bodyPr lIns="0" tIns="0" rIns="0" bIns="0" rtlCol="0" anchor="t">
            <a:spAutoFit/>
          </a:bodyPr>
          <a:lstStyle/>
          <a:p>
            <a:pPr algn="l">
              <a:lnSpc>
                <a:spcPts val="7820"/>
              </a:lnSpc>
            </a:pPr>
            <a:r>
              <a:rPr lang="en-US" sz="9200" b="1">
                <a:solidFill>
                  <a:srgbClr val="006763"/>
                </a:solidFill>
                <a:latin typeface="Bebas Neue Bold"/>
                <a:ea typeface="Bebas Neue Bold"/>
                <a:cs typeface="Bebas Neue Bold"/>
                <a:sym typeface="Bebas Neue Bold"/>
              </a:rPr>
              <a:t>KERALA FINANCE KNOWLEDGE INTELLIGENCE PLATFORM</a:t>
            </a:r>
          </a:p>
          <a:p>
            <a:pPr algn="l">
              <a:lnSpc>
                <a:spcPts val="7820"/>
              </a:lnSpc>
            </a:pPr>
            <a:endParaRPr lang="en-US" sz="9200" b="1">
              <a:solidFill>
                <a:srgbClr val="006763"/>
              </a:solidFill>
              <a:latin typeface="Bebas Neue Bold"/>
              <a:ea typeface="Bebas Neue Bold"/>
              <a:cs typeface="Bebas Neue Bold"/>
              <a:sym typeface="Bebas Neue Bold"/>
            </a:endParaRPr>
          </a:p>
        </p:txBody>
      </p:sp>
      <p:sp>
        <p:nvSpPr>
          <p:cNvPr id="10" name="Freeform 10"/>
          <p:cNvSpPr/>
          <p:nvPr/>
        </p:nvSpPr>
        <p:spPr>
          <a:xfrm>
            <a:off x="14822852" y="0"/>
            <a:ext cx="3465148" cy="4832281"/>
          </a:xfrm>
          <a:custGeom>
            <a:avLst/>
            <a:gdLst/>
            <a:ahLst/>
            <a:cxnLst/>
            <a:rect l="l" t="t" r="r" b="b"/>
            <a:pathLst>
              <a:path w="3465148" h="4832281">
                <a:moveTo>
                  <a:pt x="0" y="0"/>
                </a:moveTo>
                <a:lnTo>
                  <a:pt x="3465148" y="0"/>
                </a:lnTo>
                <a:lnTo>
                  <a:pt x="3465148" y="4832281"/>
                </a:lnTo>
                <a:lnTo>
                  <a:pt x="0" y="4832281"/>
                </a:lnTo>
                <a:lnTo>
                  <a:pt x="0" y="0"/>
                </a:lnTo>
                <a:close/>
              </a:path>
            </a:pathLst>
          </a:custGeom>
          <a:blipFill>
            <a:blip r:embed="rId9"/>
            <a:stretch>
              <a:fillRect/>
            </a:stretch>
          </a:blipFill>
        </p:spPr>
      </p:sp>
      <p:sp>
        <p:nvSpPr>
          <p:cNvPr id="11" name="TextBox 11"/>
          <p:cNvSpPr txBox="1"/>
          <p:nvPr/>
        </p:nvSpPr>
        <p:spPr>
          <a:xfrm>
            <a:off x="13097624" y="1123950"/>
            <a:ext cx="2246412" cy="381575"/>
          </a:xfrm>
          <a:prstGeom prst="rect">
            <a:avLst/>
          </a:prstGeom>
        </p:spPr>
        <p:txBody>
          <a:bodyPr lIns="0" tIns="0" rIns="0" bIns="0" rtlCol="0" anchor="t">
            <a:spAutoFit/>
          </a:bodyPr>
          <a:lstStyle/>
          <a:p>
            <a:pPr algn="l">
              <a:lnSpc>
                <a:spcPts val="2649"/>
              </a:lnSpc>
            </a:pPr>
            <a:r>
              <a:rPr lang="en-US" sz="3117" b="1">
                <a:solidFill>
                  <a:srgbClr val="000000"/>
                </a:solidFill>
                <a:latin typeface="Bebas Neue Bold"/>
                <a:ea typeface="Bebas Neue Bold"/>
                <a:cs typeface="Bebas Neue Bold"/>
                <a:sym typeface="Bebas Neue Bold"/>
              </a:rPr>
              <a:t>Presented by :</a:t>
            </a:r>
          </a:p>
        </p:txBody>
      </p:sp>
      <p:sp>
        <p:nvSpPr>
          <p:cNvPr id="12" name="TextBox 12"/>
          <p:cNvSpPr txBox="1"/>
          <p:nvPr/>
        </p:nvSpPr>
        <p:spPr>
          <a:xfrm>
            <a:off x="13097624" y="1638875"/>
            <a:ext cx="4161676" cy="510251"/>
          </a:xfrm>
          <a:prstGeom prst="rect">
            <a:avLst/>
          </a:prstGeom>
        </p:spPr>
        <p:txBody>
          <a:bodyPr lIns="0" tIns="0" rIns="0" bIns="0" rtlCol="0" anchor="t">
            <a:spAutoFit/>
          </a:bodyPr>
          <a:lstStyle/>
          <a:p>
            <a:pPr algn="l">
              <a:lnSpc>
                <a:spcPts val="3576"/>
              </a:lnSpc>
            </a:pPr>
            <a:r>
              <a:rPr lang="en-US" sz="4207" b="1">
                <a:solidFill>
                  <a:srgbClr val="000000"/>
                </a:solidFill>
                <a:latin typeface="Bebas Neue Bold"/>
                <a:ea typeface="Bebas Neue Bold"/>
                <a:cs typeface="Bebas Neue Bold"/>
                <a:sym typeface="Bebas Neue Bold"/>
              </a:rPr>
              <a:t>Neuro Pulse</a:t>
            </a:r>
          </a:p>
        </p:txBody>
      </p:sp>
      <p:sp>
        <p:nvSpPr>
          <p:cNvPr id="13" name="Freeform 13"/>
          <p:cNvSpPr/>
          <p:nvPr/>
        </p:nvSpPr>
        <p:spPr>
          <a:xfrm flipH="1">
            <a:off x="11736910" y="4272973"/>
            <a:ext cx="6551090" cy="1798085"/>
          </a:xfrm>
          <a:custGeom>
            <a:avLst/>
            <a:gdLst/>
            <a:ahLst/>
            <a:cxnLst/>
            <a:rect l="l" t="t" r="r" b="b"/>
            <a:pathLst>
              <a:path w="6551090" h="1798085">
                <a:moveTo>
                  <a:pt x="6551090" y="0"/>
                </a:moveTo>
                <a:lnTo>
                  <a:pt x="0" y="0"/>
                </a:lnTo>
                <a:lnTo>
                  <a:pt x="0" y="1798085"/>
                </a:lnTo>
                <a:lnTo>
                  <a:pt x="6551090" y="1798085"/>
                </a:lnTo>
                <a:lnTo>
                  <a:pt x="6551090" y="0"/>
                </a:lnTo>
                <a:close/>
              </a:path>
            </a:pathLst>
          </a:custGeom>
          <a:blipFill>
            <a:blip r:embed="rId5"/>
            <a:stretch>
              <a:fillRect l="-13559" t="-12226"/>
            </a:stretch>
          </a:blipFill>
        </p:spPr>
      </p:sp>
      <p:sp>
        <p:nvSpPr>
          <p:cNvPr id="14" name="Freeform 14"/>
          <p:cNvSpPr/>
          <p:nvPr/>
        </p:nvSpPr>
        <p:spPr>
          <a:xfrm>
            <a:off x="12677508" y="4102101"/>
            <a:ext cx="2175164" cy="1839002"/>
          </a:xfrm>
          <a:custGeom>
            <a:avLst/>
            <a:gdLst/>
            <a:ahLst/>
            <a:cxnLst/>
            <a:rect l="l" t="t" r="r" b="b"/>
            <a:pathLst>
              <a:path w="2175164" h="1839002">
                <a:moveTo>
                  <a:pt x="0" y="0"/>
                </a:moveTo>
                <a:lnTo>
                  <a:pt x="2175164" y="0"/>
                </a:lnTo>
                <a:lnTo>
                  <a:pt x="2175164" y="1839002"/>
                </a:lnTo>
                <a:lnTo>
                  <a:pt x="0" y="1839002"/>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15" name="Freeform 15"/>
          <p:cNvSpPr/>
          <p:nvPr/>
        </p:nvSpPr>
        <p:spPr>
          <a:xfrm>
            <a:off x="15512617" y="3992902"/>
            <a:ext cx="2497947" cy="2057400"/>
          </a:xfrm>
          <a:custGeom>
            <a:avLst/>
            <a:gdLst/>
            <a:ahLst/>
            <a:cxnLst/>
            <a:rect l="l" t="t" r="r" b="b"/>
            <a:pathLst>
              <a:path w="2497947" h="2057400">
                <a:moveTo>
                  <a:pt x="0" y="0"/>
                </a:moveTo>
                <a:lnTo>
                  <a:pt x="2497947" y="0"/>
                </a:lnTo>
                <a:lnTo>
                  <a:pt x="2497947" y="2057400"/>
                </a:lnTo>
                <a:lnTo>
                  <a:pt x="0" y="2057400"/>
                </a:lnTo>
                <a:lnTo>
                  <a:pt x="0" y="0"/>
                </a:lnTo>
                <a:close/>
              </a:path>
            </a:pathLst>
          </a:custGeom>
          <a:blipFill>
            <a:blip>
              <a:extLst>
                <a:ext uri="{96DAC541-7B7A-43D3-8B79-37D633B846F1}">
                  <asvg:svgBlip xmlns:asvg="http://schemas.microsoft.com/office/drawing/2016/SVG/main" r:embed="rId11"/>
                </a:ext>
              </a:extLst>
            </a:blip>
            <a:stretch>
              <a:fillRect/>
            </a:stretch>
          </a:blipFill>
        </p:spPr>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134197" y="1529987"/>
            <a:ext cx="16019606" cy="7227027"/>
          </a:xfrm>
          <a:custGeom>
            <a:avLst/>
            <a:gdLst/>
            <a:ahLst/>
            <a:cxnLst/>
            <a:rect l="l" t="t" r="r" b="b"/>
            <a:pathLst>
              <a:path w="16019606" h="7227027">
                <a:moveTo>
                  <a:pt x="0" y="0"/>
                </a:moveTo>
                <a:lnTo>
                  <a:pt x="16019606" y="0"/>
                </a:lnTo>
                <a:lnTo>
                  <a:pt x="16019606" y="7227026"/>
                </a:lnTo>
                <a:lnTo>
                  <a:pt x="0" y="722702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3752675" y="6684400"/>
            <a:ext cx="4310173" cy="2899571"/>
          </a:xfrm>
          <a:custGeom>
            <a:avLst/>
            <a:gdLst/>
            <a:ahLst/>
            <a:cxnLst/>
            <a:rect l="l" t="t" r="r" b="b"/>
            <a:pathLst>
              <a:path w="4310173" h="2899571">
                <a:moveTo>
                  <a:pt x="0" y="0"/>
                </a:moveTo>
                <a:lnTo>
                  <a:pt x="4310174" y="0"/>
                </a:lnTo>
                <a:lnTo>
                  <a:pt x="4310174" y="2899571"/>
                </a:lnTo>
                <a:lnTo>
                  <a:pt x="0" y="289957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1954795" y="8612281"/>
            <a:ext cx="984216" cy="971689"/>
          </a:xfrm>
          <a:custGeom>
            <a:avLst/>
            <a:gdLst/>
            <a:ahLst/>
            <a:cxnLst/>
            <a:rect l="l" t="t" r="r" b="b"/>
            <a:pathLst>
              <a:path w="984216" h="971689">
                <a:moveTo>
                  <a:pt x="0" y="0"/>
                </a:moveTo>
                <a:lnTo>
                  <a:pt x="984216" y="0"/>
                </a:lnTo>
                <a:lnTo>
                  <a:pt x="984216" y="971690"/>
                </a:lnTo>
                <a:lnTo>
                  <a:pt x="0" y="97169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930133" y="6198555"/>
            <a:ext cx="984216" cy="971689"/>
          </a:xfrm>
          <a:custGeom>
            <a:avLst/>
            <a:gdLst/>
            <a:ahLst/>
            <a:cxnLst/>
            <a:rect l="l" t="t" r="r" b="b"/>
            <a:pathLst>
              <a:path w="984216" h="971689">
                <a:moveTo>
                  <a:pt x="0" y="0"/>
                </a:moveTo>
                <a:lnTo>
                  <a:pt x="984216" y="0"/>
                </a:lnTo>
                <a:lnTo>
                  <a:pt x="984216" y="971690"/>
                </a:lnTo>
                <a:lnTo>
                  <a:pt x="0" y="97169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rot="-10800000">
            <a:off x="8096441" y="4559571"/>
            <a:ext cx="2095119" cy="426642"/>
          </a:xfrm>
          <a:custGeom>
            <a:avLst/>
            <a:gdLst/>
            <a:ahLst/>
            <a:cxnLst/>
            <a:rect l="l" t="t" r="r" b="b"/>
            <a:pathLst>
              <a:path w="2095119" h="426642">
                <a:moveTo>
                  <a:pt x="0" y="0"/>
                </a:moveTo>
                <a:lnTo>
                  <a:pt x="2095118" y="0"/>
                </a:lnTo>
                <a:lnTo>
                  <a:pt x="2095118" y="426643"/>
                </a:lnTo>
                <a:lnTo>
                  <a:pt x="0" y="426643"/>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Freeform 8"/>
          <p:cNvSpPr/>
          <p:nvPr/>
        </p:nvSpPr>
        <p:spPr>
          <a:xfrm>
            <a:off x="705248" y="719569"/>
            <a:ext cx="3691051" cy="4721111"/>
          </a:xfrm>
          <a:custGeom>
            <a:avLst/>
            <a:gdLst/>
            <a:ahLst/>
            <a:cxnLst/>
            <a:rect l="l" t="t" r="r" b="b"/>
            <a:pathLst>
              <a:path w="3691051" h="4721111">
                <a:moveTo>
                  <a:pt x="0" y="0"/>
                </a:moveTo>
                <a:lnTo>
                  <a:pt x="3691051" y="0"/>
                </a:lnTo>
                <a:lnTo>
                  <a:pt x="3691051" y="4721111"/>
                </a:lnTo>
                <a:lnTo>
                  <a:pt x="0" y="4721111"/>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9" name="Freeform 9"/>
          <p:cNvSpPr/>
          <p:nvPr/>
        </p:nvSpPr>
        <p:spPr>
          <a:xfrm>
            <a:off x="13752675" y="836582"/>
            <a:ext cx="3678891" cy="2167201"/>
          </a:xfrm>
          <a:custGeom>
            <a:avLst/>
            <a:gdLst/>
            <a:ahLst/>
            <a:cxnLst/>
            <a:rect l="l" t="t" r="r" b="b"/>
            <a:pathLst>
              <a:path w="3678891" h="2167201">
                <a:moveTo>
                  <a:pt x="0" y="0"/>
                </a:moveTo>
                <a:lnTo>
                  <a:pt x="3678891" y="0"/>
                </a:lnTo>
                <a:lnTo>
                  <a:pt x="3678891" y="2167202"/>
                </a:lnTo>
                <a:lnTo>
                  <a:pt x="0" y="216720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0" name="TextBox 10"/>
          <p:cNvSpPr txBox="1"/>
          <p:nvPr/>
        </p:nvSpPr>
        <p:spPr>
          <a:xfrm>
            <a:off x="2877412" y="2193209"/>
            <a:ext cx="12533176" cy="2429593"/>
          </a:xfrm>
          <a:prstGeom prst="rect">
            <a:avLst/>
          </a:prstGeom>
        </p:spPr>
        <p:txBody>
          <a:bodyPr lIns="0" tIns="0" rIns="0" bIns="0" rtlCol="0" anchor="t">
            <a:spAutoFit/>
          </a:bodyPr>
          <a:lstStyle/>
          <a:p>
            <a:pPr algn="ctr">
              <a:lnSpc>
                <a:spcPts val="17810"/>
              </a:lnSpc>
              <a:spcBef>
                <a:spcPct val="0"/>
              </a:spcBef>
            </a:pPr>
            <a:r>
              <a:rPr lang="en-US" sz="12721" spc="559">
                <a:solidFill>
                  <a:srgbClr val="006763"/>
                </a:solidFill>
                <a:latin typeface="Ballpoint"/>
                <a:ea typeface="Ballpoint"/>
                <a:cs typeface="Ballpoint"/>
                <a:sym typeface="Ballpoint"/>
              </a:rPr>
              <a:t>INTRODUCTION</a:t>
            </a:r>
          </a:p>
        </p:txBody>
      </p:sp>
      <p:sp>
        <p:nvSpPr>
          <p:cNvPr id="11" name="TextBox 11"/>
          <p:cNvSpPr txBox="1"/>
          <p:nvPr/>
        </p:nvSpPr>
        <p:spPr>
          <a:xfrm>
            <a:off x="4457139" y="4924110"/>
            <a:ext cx="9708971" cy="2501265"/>
          </a:xfrm>
          <a:prstGeom prst="rect">
            <a:avLst/>
          </a:prstGeom>
        </p:spPr>
        <p:txBody>
          <a:bodyPr lIns="0" tIns="0" rIns="0" bIns="0" rtlCol="0" anchor="t">
            <a:spAutoFit/>
          </a:bodyPr>
          <a:lstStyle/>
          <a:p>
            <a:pPr marL="0" lvl="0" indent="0" algn="ctr">
              <a:lnSpc>
                <a:spcPts val="3359"/>
              </a:lnSpc>
              <a:spcBef>
                <a:spcPct val="0"/>
              </a:spcBef>
            </a:pPr>
            <a:r>
              <a:rPr lang="en-US" sz="2400">
                <a:solidFill>
                  <a:srgbClr val="183937"/>
                </a:solidFill>
                <a:latin typeface="Questrial"/>
                <a:ea typeface="Questrial"/>
                <a:cs typeface="Questrial"/>
                <a:sym typeface="Questrial"/>
              </a:rPr>
              <a:t>Kerala Finance KIP is an AI-powered platform designed to make government document management easier and more efficient. It helps officials quickly find, understand, and verify important financial documents through smart search, document tracking, automated extraction, and AI assistance. The entire system runs locally, ensuring that sensitive financial information remains secure and protected.</a:t>
            </a:r>
          </a:p>
        </p:txBody>
      </p:sp>
      <p:sp>
        <p:nvSpPr>
          <p:cNvPr id="12" name="Freeform 12"/>
          <p:cNvSpPr/>
          <p:nvPr/>
        </p:nvSpPr>
        <p:spPr>
          <a:xfrm rot="-3253247" flipH="1">
            <a:off x="14700089" y="3309242"/>
            <a:ext cx="1420998" cy="1304734"/>
          </a:xfrm>
          <a:custGeom>
            <a:avLst/>
            <a:gdLst/>
            <a:ahLst/>
            <a:cxnLst/>
            <a:rect l="l" t="t" r="r" b="b"/>
            <a:pathLst>
              <a:path w="1420998" h="1304734">
                <a:moveTo>
                  <a:pt x="1420998" y="0"/>
                </a:moveTo>
                <a:lnTo>
                  <a:pt x="0" y="0"/>
                </a:lnTo>
                <a:lnTo>
                  <a:pt x="0" y="1304735"/>
                </a:lnTo>
                <a:lnTo>
                  <a:pt x="1420998" y="1304735"/>
                </a:lnTo>
                <a:lnTo>
                  <a:pt x="1420998" y="0"/>
                </a:lnTo>
                <a:close/>
              </a:path>
            </a:pathLst>
          </a:custGeom>
          <a:blipFill>
            <a:blip>
              <a:extLst>
                <a:ext uri="{96DAC541-7B7A-43D3-8B79-37D633B846F1}">
                  <asvg:svgBlip xmlns:asvg="http://schemas.microsoft.com/office/drawing/2016/SVG/main" r:embed="rId9"/>
                </a:ext>
              </a:extLst>
            </a:blip>
            <a:stretch>
              <a:fillRect/>
            </a:stretch>
          </a:blipFill>
        </p:spPr>
      </p:sp>
      <p:sp>
        <p:nvSpPr>
          <p:cNvPr id="13" name="Freeform 13"/>
          <p:cNvSpPr/>
          <p:nvPr/>
        </p:nvSpPr>
        <p:spPr>
          <a:xfrm>
            <a:off x="8582379" y="719569"/>
            <a:ext cx="984216" cy="971689"/>
          </a:xfrm>
          <a:custGeom>
            <a:avLst/>
            <a:gdLst/>
            <a:ahLst/>
            <a:cxnLst/>
            <a:rect l="l" t="t" r="r" b="b"/>
            <a:pathLst>
              <a:path w="984216" h="971689">
                <a:moveTo>
                  <a:pt x="0" y="0"/>
                </a:moveTo>
                <a:lnTo>
                  <a:pt x="984216" y="0"/>
                </a:lnTo>
                <a:lnTo>
                  <a:pt x="984216" y="971689"/>
                </a:lnTo>
                <a:lnTo>
                  <a:pt x="0" y="971689"/>
                </a:lnTo>
                <a:lnTo>
                  <a:pt x="0" y="0"/>
                </a:lnTo>
                <a:close/>
              </a:path>
            </a:pathLst>
          </a:custGeom>
          <a:blipFill>
            <a:blip>
              <a:extLst>
                <a:ext uri="{96DAC541-7B7A-43D3-8B79-37D633B846F1}">
                  <asvg:svgBlip xmlns:asvg="http://schemas.microsoft.com/office/drawing/2016/SVG/main" r:embed="rId5"/>
                </a:ext>
              </a:extLst>
            </a:blip>
            <a:stretch>
              <a:fillRect/>
            </a:stretch>
          </a:blipFill>
        </p:spPr>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0" y="0"/>
            <a:ext cx="13793869" cy="10287000"/>
          </a:xfrm>
          <a:custGeom>
            <a:avLst/>
            <a:gdLst/>
            <a:ahLst/>
            <a:cxnLst/>
            <a:rect l="l" t="t" r="r" b="b"/>
            <a:pathLst>
              <a:path w="13793869" h="10287000">
                <a:moveTo>
                  <a:pt x="0" y="0"/>
                </a:moveTo>
                <a:lnTo>
                  <a:pt x="13793869" y="0"/>
                </a:lnTo>
                <a:lnTo>
                  <a:pt x="13793869" y="10287000"/>
                </a:lnTo>
                <a:lnTo>
                  <a:pt x="0" y="10287000"/>
                </a:lnTo>
                <a:lnTo>
                  <a:pt x="0" y="0"/>
                </a:lnTo>
                <a:close/>
              </a:path>
            </a:pathLst>
          </a:custGeom>
          <a:blipFill>
            <a:blip r:embed="rId3"/>
            <a:stretch>
              <a:fillRect l="-3931" t="-2833" b="-17594"/>
            </a:stretch>
          </a:blipFill>
        </p:spPr>
      </p:sp>
      <p:sp>
        <p:nvSpPr>
          <p:cNvPr id="4" name="Freeform 4"/>
          <p:cNvSpPr/>
          <p:nvPr/>
        </p:nvSpPr>
        <p:spPr>
          <a:xfrm>
            <a:off x="-526346" y="1277668"/>
            <a:ext cx="7207551" cy="1792672"/>
          </a:xfrm>
          <a:custGeom>
            <a:avLst/>
            <a:gdLst/>
            <a:ahLst/>
            <a:cxnLst/>
            <a:rect l="l" t="t" r="r" b="b"/>
            <a:pathLst>
              <a:path w="7207551" h="1792672">
                <a:moveTo>
                  <a:pt x="0" y="0"/>
                </a:moveTo>
                <a:lnTo>
                  <a:pt x="7207551" y="0"/>
                </a:lnTo>
                <a:lnTo>
                  <a:pt x="7207551" y="1792672"/>
                </a:lnTo>
                <a:lnTo>
                  <a:pt x="0" y="1792672"/>
                </a:lnTo>
                <a:lnTo>
                  <a:pt x="0" y="0"/>
                </a:lnTo>
                <a:close/>
              </a:path>
            </a:pathLst>
          </a:custGeom>
          <a:blipFill>
            <a:blip r:embed="rId4"/>
            <a:stretch>
              <a:fillRect t="-7173" b="-1884"/>
            </a:stretch>
          </a:blipFill>
        </p:spPr>
      </p:sp>
      <p:grpSp>
        <p:nvGrpSpPr>
          <p:cNvPr id="5" name="Group 5"/>
          <p:cNvGrpSpPr/>
          <p:nvPr/>
        </p:nvGrpSpPr>
        <p:grpSpPr>
          <a:xfrm>
            <a:off x="1028700" y="3552617"/>
            <a:ext cx="254782" cy="25478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893E"/>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090767" y="6654583"/>
            <a:ext cx="254782" cy="25478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893E"/>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028700" y="5096828"/>
            <a:ext cx="254782" cy="254782"/>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893E"/>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028700" y="8203348"/>
            <a:ext cx="254782" cy="25478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893E"/>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8667943" y="1510457"/>
            <a:ext cx="8737443" cy="7601576"/>
          </a:xfrm>
          <a:custGeom>
            <a:avLst/>
            <a:gdLst/>
            <a:ahLst/>
            <a:cxnLst/>
            <a:rect l="l" t="t" r="r" b="b"/>
            <a:pathLst>
              <a:path w="8737443" h="7601576">
                <a:moveTo>
                  <a:pt x="0" y="0"/>
                </a:moveTo>
                <a:lnTo>
                  <a:pt x="8737443" y="0"/>
                </a:lnTo>
                <a:lnTo>
                  <a:pt x="8737443" y="7601575"/>
                </a:lnTo>
                <a:lnTo>
                  <a:pt x="0" y="760157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8" name="TextBox 18"/>
          <p:cNvSpPr txBox="1"/>
          <p:nvPr/>
        </p:nvSpPr>
        <p:spPr>
          <a:xfrm>
            <a:off x="1028700" y="1615232"/>
            <a:ext cx="5227853" cy="984885"/>
          </a:xfrm>
          <a:prstGeom prst="rect">
            <a:avLst/>
          </a:prstGeom>
        </p:spPr>
        <p:txBody>
          <a:bodyPr lIns="0" tIns="0" rIns="0" bIns="0" rtlCol="0" anchor="t">
            <a:spAutoFit/>
          </a:bodyPr>
          <a:lstStyle/>
          <a:p>
            <a:pPr algn="l">
              <a:lnSpc>
                <a:spcPts val="7560"/>
              </a:lnSpc>
            </a:pPr>
            <a:r>
              <a:rPr lang="en-US" sz="7200" b="1">
                <a:solidFill>
                  <a:srgbClr val="006763"/>
                </a:solidFill>
                <a:latin typeface="Bebas Neue Bold"/>
                <a:ea typeface="Bebas Neue Bold"/>
                <a:cs typeface="Bebas Neue Bold"/>
                <a:sym typeface="Bebas Neue Bold"/>
              </a:rPr>
              <a:t>THE PROBLEM</a:t>
            </a:r>
          </a:p>
        </p:txBody>
      </p:sp>
      <p:sp>
        <p:nvSpPr>
          <p:cNvPr id="19" name="TextBox 19"/>
          <p:cNvSpPr txBox="1"/>
          <p:nvPr/>
        </p:nvSpPr>
        <p:spPr>
          <a:xfrm>
            <a:off x="1383426" y="3451860"/>
            <a:ext cx="7760574" cy="1234440"/>
          </a:xfrm>
          <a:prstGeom prst="rect">
            <a:avLst/>
          </a:prstGeom>
        </p:spPr>
        <p:txBody>
          <a:bodyPr lIns="0" tIns="0" rIns="0" bIns="0" rtlCol="0" anchor="t">
            <a:spAutoFit/>
          </a:bodyPr>
          <a:lstStyle/>
          <a:p>
            <a:pPr algn="l">
              <a:lnSpc>
                <a:spcPts val="3359"/>
              </a:lnSpc>
            </a:pPr>
            <a:r>
              <a:rPr lang="en-US" sz="2400" b="1">
                <a:solidFill>
                  <a:srgbClr val="006763"/>
                </a:solidFill>
                <a:latin typeface="Canva Sans Bold"/>
                <a:ea typeface="Canva Sans Bold"/>
                <a:cs typeface="Canva Sans Bold"/>
                <a:sym typeface="Canva Sans Bold"/>
              </a:rPr>
              <a:t>Volume &amp; Complexity: </a:t>
            </a:r>
          </a:p>
          <a:p>
            <a:pPr algn="l">
              <a:lnSpc>
                <a:spcPts val="3359"/>
              </a:lnSpc>
            </a:pPr>
            <a:r>
              <a:rPr lang="en-US" sz="2400">
                <a:solidFill>
                  <a:srgbClr val="006763"/>
                </a:solidFill>
                <a:latin typeface="Canva Sans"/>
                <a:ea typeface="Canva Sans"/>
                <a:cs typeface="Canva Sans"/>
                <a:sym typeface="Canva Sans"/>
              </a:rPr>
              <a:t>Thousands of Government Orders, circulars, budget docs, and GST policies across years and formats.</a:t>
            </a:r>
          </a:p>
        </p:txBody>
      </p:sp>
      <p:sp>
        <p:nvSpPr>
          <p:cNvPr id="20" name="TextBox 20"/>
          <p:cNvSpPr txBox="1"/>
          <p:nvPr/>
        </p:nvSpPr>
        <p:spPr>
          <a:xfrm>
            <a:off x="1383426" y="4996071"/>
            <a:ext cx="7760574" cy="1234440"/>
          </a:xfrm>
          <a:prstGeom prst="rect">
            <a:avLst/>
          </a:prstGeom>
        </p:spPr>
        <p:txBody>
          <a:bodyPr lIns="0" tIns="0" rIns="0" bIns="0" rtlCol="0" anchor="t">
            <a:spAutoFit/>
          </a:bodyPr>
          <a:lstStyle/>
          <a:p>
            <a:pPr algn="just">
              <a:lnSpc>
                <a:spcPts val="3359"/>
              </a:lnSpc>
              <a:spcBef>
                <a:spcPct val="0"/>
              </a:spcBef>
            </a:pPr>
            <a:r>
              <a:rPr lang="en-US" sz="2400" b="1">
                <a:solidFill>
                  <a:srgbClr val="006763"/>
                </a:solidFill>
                <a:latin typeface="Canva Sans Bold"/>
                <a:ea typeface="Canva Sans Bold"/>
                <a:cs typeface="Canva Sans Bold"/>
                <a:sym typeface="Canva Sans Bold"/>
              </a:rPr>
              <a:t>Lineage &amp; Supersession: </a:t>
            </a:r>
          </a:p>
          <a:p>
            <a:pPr algn="just">
              <a:lnSpc>
                <a:spcPts val="3359"/>
              </a:lnSpc>
              <a:spcBef>
                <a:spcPct val="0"/>
              </a:spcBef>
            </a:pPr>
            <a:r>
              <a:rPr lang="en-US" sz="2400">
                <a:solidFill>
                  <a:srgbClr val="006763"/>
                </a:solidFill>
                <a:latin typeface="Canva Sans"/>
                <a:ea typeface="Canva Sans"/>
                <a:cs typeface="Canva Sans"/>
                <a:sym typeface="Canva Sans"/>
              </a:rPr>
              <a:t>High risk of using superseded orders, affecting financial decisions and file processing.</a:t>
            </a:r>
          </a:p>
        </p:txBody>
      </p:sp>
      <p:sp>
        <p:nvSpPr>
          <p:cNvPr id="21" name="TextBox 21"/>
          <p:cNvSpPr txBox="1"/>
          <p:nvPr/>
        </p:nvSpPr>
        <p:spPr>
          <a:xfrm>
            <a:off x="1445492" y="6540283"/>
            <a:ext cx="7690819" cy="1234440"/>
          </a:xfrm>
          <a:prstGeom prst="rect">
            <a:avLst/>
          </a:prstGeom>
        </p:spPr>
        <p:txBody>
          <a:bodyPr lIns="0" tIns="0" rIns="0" bIns="0" rtlCol="0" anchor="t">
            <a:spAutoFit/>
          </a:bodyPr>
          <a:lstStyle/>
          <a:p>
            <a:pPr algn="just">
              <a:lnSpc>
                <a:spcPts val="3359"/>
              </a:lnSpc>
              <a:spcBef>
                <a:spcPct val="0"/>
              </a:spcBef>
            </a:pPr>
            <a:r>
              <a:rPr lang="en-US" sz="2400" b="1">
                <a:solidFill>
                  <a:srgbClr val="006763"/>
                </a:solidFill>
                <a:latin typeface="Canva Sans Bold"/>
                <a:ea typeface="Canva Sans Bold"/>
                <a:cs typeface="Canva Sans Bold"/>
                <a:sym typeface="Canva Sans Bold"/>
              </a:rPr>
              <a:t>Time-Intensive Workflow: </a:t>
            </a:r>
          </a:p>
          <a:p>
            <a:pPr algn="just">
              <a:lnSpc>
                <a:spcPts val="3359"/>
              </a:lnSpc>
              <a:spcBef>
                <a:spcPct val="0"/>
              </a:spcBef>
            </a:pPr>
            <a:r>
              <a:rPr lang="en-US" sz="2400">
                <a:solidFill>
                  <a:srgbClr val="006763"/>
                </a:solidFill>
                <a:latin typeface="Canva Sans"/>
                <a:ea typeface="Canva Sans"/>
                <a:cs typeface="Canva Sans"/>
                <a:sym typeface="Canva Sans"/>
              </a:rPr>
              <a:t>Officials spend hours manually searching, extracting clauses, and drafting policy notes.</a:t>
            </a:r>
          </a:p>
        </p:txBody>
      </p:sp>
      <p:sp>
        <p:nvSpPr>
          <p:cNvPr id="22" name="TextBox 22"/>
          <p:cNvSpPr txBox="1"/>
          <p:nvPr/>
        </p:nvSpPr>
        <p:spPr>
          <a:xfrm>
            <a:off x="1383426" y="8089048"/>
            <a:ext cx="7629948" cy="1234440"/>
          </a:xfrm>
          <a:prstGeom prst="rect">
            <a:avLst/>
          </a:prstGeom>
        </p:spPr>
        <p:txBody>
          <a:bodyPr lIns="0" tIns="0" rIns="0" bIns="0" rtlCol="0" anchor="t">
            <a:spAutoFit/>
          </a:bodyPr>
          <a:lstStyle/>
          <a:p>
            <a:pPr algn="just">
              <a:lnSpc>
                <a:spcPts val="3359"/>
              </a:lnSpc>
            </a:pPr>
            <a:r>
              <a:rPr lang="en-US" sz="2400" b="1">
                <a:solidFill>
                  <a:srgbClr val="006763"/>
                </a:solidFill>
                <a:latin typeface="Canva Sans Bold"/>
                <a:ea typeface="Canva Sans Bold"/>
                <a:cs typeface="Canva Sans Bold"/>
                <a:sym typeface="Canva Sans Bold"/>
              </a:rPr>
              <a:t>Security Constraints: </a:t>
            </a:r>
          </a:p>
          <a:p>
            <a:pPr algn="just">
              <a:lnSpc>
                <a:spcPts val="3359"/>
              </a:lnSpc>
              <a:spcBef>
                <a:spcPct val="0"/>
              </a:spcBef>
            </a:pPr>
            <a:r>
              <a:rPr lang="en-US" sz="2400">
                <a:solidFill>
                  <a:srgbClr val="006763"/>
                </a:solidFill>
                <a:latin typeface="Canva Sans"/>
                <a:ea typeface="Canva Sans"/>
                <a:cs typeface="Canva Sans"/>
                <a:sym typeface="Canva Sans"/>
              </a:rPr>
              <a:t>Highly sensitive financial data cannot be sent to public cloud AI APIs.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38888" b="-38888"/>
            </a:stretch>
          </a:blipFill>
        </p:spPr>
      </p:sp>
      <p:sp>
        <p:nvSpPr>
          <p:cNvPr id="3" name="Freeform 3"/>
          <p:cNvSpPr/>
          <p:nvPr/>
        </p:nvSpPr>
        <p:spPr>
          <a:xfrm>
            <a:off x="0" y="2805274"/>
            <a:ext cx="18288000" cy="7260727"/>
          </a:xfrm>
          <a:custGeom>
            <a:avLst/>
            <a:gdLst/>
            <a:ahLst/>
            <a:cxnLst/>
            <a:rect l="l" t="t" r="r" b="b"/>
            <a:pathLst>
              <a:path w="18288000" h="7260727">
                <a:moveTo>
                  <a:pt x="0" y="0"/>
                </a:moveTo>
                <a:lnTo>
                  <a:pt x="18288000" y="0"/>
                </a:lnTo>
                <a:lnTo>
                  <a:pt x="18288000" y="7260727"/>
                </a:lnTo>
                <a:lnTo>
                  <a:pt x="0" y="7260727"/>
                </a:lnTo>
                <a:lnTo>
                  <a:pt x="0" y="0"/>
                </a:lnTo>
                <a:close/>
              </a:path>
            </a:pathLst>
          </a:custGeom>
          <a:blipFill>
            <a:blip r:embed="rId3"/>
            <a:stretch>
              <a:fillRect l="-13520" t="-252397" r="-11815"/>
            </a:stretch>
          </a:blipFill>
        </p:spPr>
      </p:sp>
      <p:sp>
        <p:nvSpPr>
          <p:cNvPr id="4" name="Freeform 4"/>
          <p:cNvSpPr/>
          <p:nvPr/>
        </p:nvSpPr>
        <p:spPr>
          <a:xfrm>
            <a:off x="-2541362" y="973583"/>
            <a:ext cx="8157958" cy="1792672"/>
          </a:xfrm>
          <a:custGeom>
            <a:avLst/>
            <a:gdLst/>
            <a:ahLst/>
            <a:cxnLst/>
            <a:rect l="l" t="t" r="r" b="b"/>
            <a:pathLst>
              <a:path w="8157958" h="1792672">
                <a:moveTo>
                  <a:pt x="0" y="0"/>
                </a:moveTo>
                <a:lnTo>
                  <a:pt x="8157958" y="0"/>
                </a:lnTo>
                <a:lnTo>
                  <a:pt x="8157958" y="1792672"/>
                </a:lnTo>
                <a:lnTo>
                  <a:pt x="0" y="1792672"/>
                </a:lnTo>
                <a:lnTo>
                  <a:pt x="0" y="0"/>
                </a:lnTo>
                <a:close/>
              </a:path>
            </a:pathLst>
          </a:custGeom>
          <a:blipFill>
            <a:blip r:embed="rId4"/>
            <a:stretch>
              <a:fillRect t="-14712" b="-8725"/>
            </a:stretch>
          </a:blipFill>
        </p:spPr>
      </p:sp>
      <p:grpSp>
        <p:nvGrpSpPr>
          <p:cNvPr id="5" name="Group 5"/>
          <p:cNvGrpSpPr/>
          <p:nvPr/>
        </p:nvGrpSpPr>
        <p:grpSpPr>
          <a:xfrm>
            <a:off x="1036480" y="3297175"/>
            <a:ext cx="651627" cy="821532"/>
            <a:chOff x="0" y="0"/>
            <a:chExt cx="171622" cy="216371"/>
          </a:xfrm>
        </p:grpSpPr>
        <p:sp>
          <p:nvSpPr>
            <p:cNvPr id="6" name="Freeform 6"/>
            <p:cNvSpPr/>
            <p:nvPr/>
          </p:nvSpPr>
          <p:spPr>
            <a:xfrm>
              <a:off x="0" y="0"/>
              <a:ext cx="171622" cy="216371"/>
            </a:xfrm>
            <a:custGeom>
              <a:avLst/>
              <a:gdLst/>
              <a:ahLst/>
              <a:cxnLst/>
              <a:rect l="l" t="t" r="r" b="b"/>
              <a:pathLst>
                <a:path w="171622" h="216371">
                  <a:moveTo>
                    <a:pt x="85811" y="0"/>
                  </a:moveTo>
                  <a:lnTo>
                    <a:pt x="85811" y="0"/>
                  </a:lnTo>
                  <a:cubicBezTo>
                    <a:pt x="108569" y="0"/>
                    <a:pt x="130396" y="9041"/>
                    <a:pt x="146488" y="25133"/>
                  </a:cubicBezTo>
                  <a:cubicBezTo>
                    <a:pt x="162581" y="41226"/>
                    <a:pt x="171622" y="63052"/>
                    <a:pt x="171622" y="85811"/>
                  </a:cubicBezTo>
                  <a:lnTo>
                    <a:pt x="171622" y="130560"/>
                  </a:lnTo>
                  <a:cubicBezTo>
                    <a:pt x="171622" y="177952"/>
                    <a:pt x="133203" y="216371"/>
                    <a:pt x="85811" y="216371"/>
                  </a:cubicBezTo>
                  <a:lnTo>
                    <a:pt x="85811" y="216371"/>
                  </a:lnTo>
                  <a:cubicBezTo>
                    <a:pt x="38419" y="216371"/>
                    <a:pt x="0" y="177952"/>
                    <a:pt x="0" y="130560"/>
                  </a:cubicBezTo>
                  <a:lnTo>
                    <a:pt x="0" y="85811"/>
                  </a:lnTo>
                  <a:cubicBezTo>
                    <a:pt x="0" y="38419"/>
                    <a:pt x="38419" y="0"/>
                    <a:pt x="85811" y="0"/>
                  </a:cubicBezTo>
                  <a:close/>
                </a:path>
              </a:pathLst>
            </a:custGeom>
            <a:solidFill>
              <a:srgbClr val="4EA069"/>
            </a:solidFill>
          </p:spPr>
        </p:sp>
        <p:sp>
          <p:nvSpPr>
            <p:cNvPr id="7" name="TextBox 7"/>
            <p:cNvSpPr txBox="1"/>
            <p:nvPr/>
          </p:nvSpPr>
          <p:spPr>
            <a:xfrm>
              <a:off x="0" y="-38100"/>
              <a:ext cx="171622" cy="254471"/>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40370" y="4511776"/>
            <a:ext cx="651627" cy="821532"/>
            <a:chOff x="0" y="0"/>
            <a:chExt cx="171622" cy="216371"/>
          </a:xfrm>
        </p:grpSpPr>
        <p:sp>
          <p:nvSpPr>
            <p:cNvPr id="9" name="Freeform 9"/>
            <p:cNvSpPr/>
            <p:nvPr/>
          </p:nvSpPr>
          <p:spPr>
            <a:xfrm>
              <a:off x="0" y="0"/>
              <a:ext cx="171622" cy="216371"/>
            </a:xfrm>
            <a:custGeom>
              <a:avLst/>
              <a:gdLst/>
              <a:ahLst/>
              <a:cxnLst/>
              <a:rect l="l" t="t" r="r" b="b"/>
              <a:pathLst>
                <a:path w="171622" h="216371">
                  <a:moveTo>
                    <a:pt x="85811" y="0"/>
                  </a:moveTo>
                  <a:lnTo>
                    <a:pt x="85811" y="0"/>
                  </a:lnTo>
                  <a:cubicBezTo>
                    <a:pt x="108569" y="0"/>
                    <a:pt x="130396" y="9041"/>
                    <a:pt x="146488" y="25133"/>
                  </a:cubicBezTo>
                  <a:cubicBezTo>
                    <a:pt x="162581" y="41226"/>
                    <a:pt x="171622" y="63052"/>
                    <a:pt x="171622" y="85811"/>
                  </a:cubicBezTo>
                  <a:lnTo>
                    <a:pt x="171622" y="130560"/>
                  </a:lnTo>
                  <a:cubicBezTo>
                    <a:pt x="171622" y="177952"/>
                    <a:pt x="133203" y="216371"/>
                    <a:pt x="85811" y="216371"/>
                  </a:cubicBezTo>
                  <a:lnTo>
                    <a:pt x="85811" y="216371"/>
                  </a:lnTo>
                  <a:cubicBezTo>
                    <a:pt x="38419" y="216371"/>
                    <a:pt x="0" y="177952"/>
                    <a:pt x="0" y="130560"/>
                  </a:cubicBezTo>
                  <a:lnTo>
                    <a:pt x="0" y="85811"/>
                  </a:lnTo>
                  <a:cubicBezTo>
                    <a:pt x="0" y="38419"/>
                    <a:pt x="38419" y="0"/>
                    <a:pt x="85811" y="0"/>
                  </a:cubicBezTo>
                  <a:close/>
                </a:path>
              </a:pathLst>
            </a:custGeom>
            <a:solidFill>
              <a:srgbClr val="4EA069"/>
            </a:solidFill>
          </p:spPr>
        </p:sp>
        <p:sp>
          <p:nvSpPr>
            <p:cNvPr id="10" name="TextBox 10"/>
            <p:cNvSpPr txBox="1"/>
            <p:nvPr/>
          </p:nvSpPr>
          <p:spPr>
            <a:xfrm>
              <a:off x="0" y="-38100"/>
              <a:ext cx="171622" cy="254471"/>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032590" y="5790508"/>
            <a:ext cx="651627" cy="821532"/>
            <a:chOff x="0" y="0"/>
            <a:chExt cx="171622" cy="216371"/>
          </a:xfrm>
        </p:grpSpPr>
        <p:sp>
          <p:nvSpPr>
            <p:cNvPr id="12" name="Freeform 12"/>
            <p:cNvSpPr/>
            <p:nvPr/>
          </p:nvSpPr>
          <p:spPr>
            <a:xfrm>
              <a:off x="0" y="0"/>
              <a:ext cx="171622" cy="216371"/>
            </a:xfrm>
            <a:custGeom>
              <a:avLst/>
              <a:gdLst/>
              <a:ahLst/>
              <a:cxnLst/>
              <a:rect l="l" t="t" r="r" b="b"/>
              <a:pathLst>
                <a:path w="171622" h="216371">
                  <a:moveTo>
                    <a:pt x="85811" y="0"/>
                  </a:moveTo>
                  <a:lnTo>
                    <a:pt x="85811" y="0"/>
                  </a:lnTo>
                  <a:cubicBezTo>
                    <a:pt x="108569" y="0"/>
                    <a:pt x="130396" y="9041"/>
                    <a:pt x="146488" y="25133"/>
                  </a:cubicBezTo>
                  <a:cubicBezTo>
                    <a:pt x="162581" y="41226"/>
                    <a:pt x="171622" y="63052"/>
                    <a:pt x="171622" y="85811"/>
                  </a:cubicBezTo>
                  <a:lnTo>
                    <a:pt x="171622" y="130560"/>
                  </a:lnTo>
                  <a:cubicBezTo>
                    <a:pt x="171622" y="177952"/>
                    <a:pt x="133203" y="216371"/>
                    <a:pt x="85811" y="216371"/>
                  </a:cubicBezTo>
                  <a:lnTo>
                    <a:pt x="85811" y="216371"/>
                  </a:lnTo>
                  <a:cubicBezTo>
                    <a:pt x="38419" y="216371"/>
                    <a:pt x="0" y="177952"/>
                    <a:pt x="0" y="130560"/>
                  </a:cubicBezTo>
                  <a:lnTo>
                    <a:pt x="0" y="85811"/>
                  </a:lnTo>
                  <a:cubicBezTo>
                    <a:pt x="0" y="38419"/>
                    <a:pt x="38419" y="0"/>
                    <a:pt x="85811" y="0"/>
                  </a:cubicBezTo>
                  <a:close/>
                </a:path>
              </a:pathLst>
            </a:custGeom>
            <a:solidFill>
              <a:srgbClr val="4EA069"/>
            </a:solidFill>
          </p:spPr>
        </p:sp>
        <p:sp>
          <p:nvSpPr>
            <p:cNvPr id="13" name="TextBox 13"/>
            <p:cNvSpPr txBox="1"/>
            <p:nvPr/>
          </p:nvSpPr>
          <p:spPr>
            <a:xfrm>
              <a:off x="0" y="-38100"/>
              <a:ext cx="171622" cy="254471"/>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044260" y="7069240"/>
            <a:ext cx="651627" cy="821532"/>
            <a:chOff x="0" y="0"/>
            <a:chExt cx="171622" cy="216371"/>
          </a:xfrm>
        </p:grpSpPr>
        <p:sp>
          <p:nvSpPr>
            <p:cNvPr id="15" name="Freeform 15"/>
            <p:cNvSpPr/>
            <p:nvPr/>
          </p:nvSpPr>
          <p:spPr>
            <a:xfrm>
              <a:off x="0" y="0"/>
              <a:ext cx="171622" cy="216371"/>
            </a:xfrm>
            <a:custGeom>
              <a:avLst/>
              <a:gdLst/>
              <a:ahLst/>
              <a:cxnLst/>
              <a:rect l="l" t="t" r="r" b="b"/>
              <a:pathLst>
                <a:path w="171622" h="216371">
                  <a:moveTo>
                    <a:pt x="85811" y="0"/>
                  </a:moveTo>
                  <a:lnTo>
                    <a:pt x="85811" y="0"/>
                  </a:lnTo>
                  <a:cubicBezTo>
                    <a:pt x="108569" y="0"/>
                    <a:pt x="130396" y="9041"/>
                    <a:pt x="146488" y="25133"/>
                  </a:cubicBezTo>
                  <a:cubicBezTo>
                    <a:pt x="162581" y="41226"/>
                    <a:pt x="171622" y="63052"/>
                    <a:pt x="171622" y="85811"/>
                  </a:cubicBezTo>
                  <a:lnTo>
                    <a:pt x="171622" y="130560"/>
                  </a:lnTo>
                  <a:cubicBezTo>
                    <a:pt x="171622" y="177952"/>
                    <a:pt x="133203" y="216371"/>
                    <a:pt x="85811" y="216371"/>
                  </a:cubicBezTo>
                  <a:lnTo>
                    <a:pt x="85811" y="216371"/>
                  </a:lnTo>
                  <a:cubicBezTo>
                    <a:pt x="38419" y="216371"/>
                    <a:pt x="0" y="177952"/>
                    <a:pt x="0" y="130560"/>
                  </a:cubicBezTo>
                  <a:lnTo>
                    <a:pt x="0" y="85811"/>
                  </a:lnTo>
                  <a:cubicBezTo>
                    <a:pt x="0" y="38419"/>
                    <a:pt x="38419" y="0"/>
                    <a:pt x="85811" y="0"/>
                  </a:cubicBezTo>
                  <a:close/>
                </a:path>
              </a:pathLst>
            </a:custGeom>
            <a:solidFill>
              <a:srgbClr val="4EA069"/>
            </a:solidFill>
          </p:spPr>
        </p:sp>
        <p:sp>
          <p:nvSpPr>
            <p:cNvPr id="16" name="TextBox 16"/>
            <p:cNvSpPr txBox="1"/>
            <p:nvPr/>
          </p:nvSpPr>
          <p:spPr>
            <a:xfrm>
              <a:off x="0" y="-38100"/>
              <a:ext cx="171622" cy="254471"/>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048150" y="8494264"/>
            <a:ext cx="651627" cy="821532"/>
            <a:chOff x="0" y="0"/>
            <a:chExt cx="171622" cy="216371"/>
          </a:xfrm>
        </p:grpSpPr>
        <p:sp>
          <p:nvSpPr>
            <p:cNvPr id="18" name="Freeform 18"/>
            <p:cNvSpPr/>
            <p:nvPr/>
          </p:nvSpPr>
          <p:spPr>
            <a:xfrm>
              <a:off x="0" y="0"/>
              <a:ext cx="171622" cy="216371"/>
            </a:xfrm>
            <a:custGeom>
              <a:avLst/>
              <a:gdLst/>
              <a:ahLst/>
              <a:cxnLst/>
              <a:rect l="l" t="t" r="r" b="b"/>
              <a:pathLst>
                <a:path w="171622" h="216371">
                  <a:moveTo>
                    <a:pt x="85811" y="0"/>
                  </a:moveTo>
                  <a:lnTo>
                    <a:pt x="85811" y="0"/>
                  </a:lnTo>
                  <a:cubicBezTo>
                    <a:pt x="108569" y="0"/>
                    <a:pt x="130396" y="9041"/>
                    <a:pt x="146488" y="25133"/>
                  </a:cubicBezTo>
                  <a:cubicBezTo>
                    <a:pt x="162581" y="41226"/>
                    <a:pt x="171622" y="63052"/>
                    <a:pt x="171622" y="85811"/>
                  </a:cubicBezTo>
                  <a:lnTo>
                    <a:pt x="171622" y="130560"/>
                  </a:lnTo>
                  <a:cubicBezTo>
                    <a:pt x="171622" y="177952"/>
                    <a:pt x="133203" y="216371"/>
                    <a:pt x="85811" y="216371"/>
                  </a:cubicBezTo>
                  <a:lnTo>
                    <a:pt x="85811" y="216371"/>
                  </a:lnTo>
                  <a:cubicBezTo>
                    <a:pt x="38419" y="216371"/>
                    <a:pt x="0" y="177952"/>
                    <a:pt x="0" y="130560"/>
                  </a:cubicBezTo>
                  <a:lnTo>
                    <a:pt x="0" y="85811"/>
                  </a:lnTo>
                  <a:cubicBezTo>
                    <a:pt x="0" y="38419"/>
                    <a:pt x="38419" y="0"/>
                    <a:pt x="85811" y="0"/>
                  </a:cubicBezTo>
                  <a:close/>
                </a:path>
              </a:pathLst>
            </a:custGeom>
            <a:solidFill>
              <a:srgbClr val="4EA069"/>
            </a:solidFill>
          </p:spPr>
        </p:sp>
        <p:sp>
          <p:nvSpPr>
            <p:cNvPr id="19" name="TextBox 19"/>
            <p:cNvSpPr txBox="1"/>
            <p:nvPr/>
          </p:nvSpPr>
          <p:spPr>
            <a:xfrm>
              <a:off x="0" y="-38100"/>
              <a:ext cx="171622" cy="254471"/>
            </a:xfrm>
            <a:prstGeom prst="rect">
              <a:avLst/>
            </a:prstGeom>
          </p:spPr>
          <p:txBody>
            <a:bodyPr lIns="50800" tIns="50800" rIns="50800" bIns="50800" rtlCol="0" anchor="ctr"/>
            <a:lstStyle/>
            <a:p>
              <a:pPr algn="ctr">
                <a:lnSpc>
                  <a:spcPts val="2659"/>
                </a:lnSpc>
                <a:spcBef>
                  <a:spcPct val="0"/>
                </a:spcBef>
              </a:pPr>
              <a:endParaRPr/>
            </a:p>
          </p:txBody>
        </p:sp>
      </p:grpSp>
      <p:sp>
        <p:nvSpPr>
          <p:cNvPr id="20" name="Freeform 20"/>
          <p:cNvSpPr/>
          <p:nvPr/>
        </p:nvSpPr>
        <p:spPr>
          <a:xfrm>
            <a:off x="10733465" y="1573982"/>
            <a:ext cx="7554535" cy="7139035"/>
          </a:xfrm>
          <a:custGeom>
            <a:avLst/>
            <a:gdLst/>
            <a:ahLst/>
            <a:cxnLst/>
            <a:rect l="l" t="t" r="r" b="b"/>
            <a:pathLst>
              <a:path w="7554535" h="7139035">
                <a:moveTo>
                  <a:pt x="0" y="0"/>
                </a:moveTo>
                <a:lnTo>
                  <a:pt x="7554535" y="0"/>
                </a:lnTo>
                <a:lnTo>
                  <a:pt x="7554535" y="7139036"/>
                </a:lnTo>
                <a:lnTo>
                  <a:pt x="0" y="713903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1" name="TextBox 21"/>
          <p:cNvSpPr txBox="1"/>
          <p:nvPr/>
        </p:nvSpPr>
        <p:spPr>
          <a:xfrm>
            <a:off x="1943100" y="3240025"/>
            <a:ext cx="9066237" cy="850392"/>
          </a:xfrm>
          <a:prstGeom prst="rect">
            <a:avLst/>
          </a:prstGeom>
        </p:spPr>
        <p:txBody>
          <a:bodyPr lIns="0" tIns="0" rIns="0" bIns="0" rtlCol="0" anchor="t">
            <a:spAutoFit/>
          </a:bodyPr>
          <a:lstStyle/>
          <a:p>
            <a:pPr algn="l">
              <a:lnSpc>
                <a:spcPts val="3383"/>
              </a:lnSpc>
            </a:pPr>
            <a:r>
              <a:rPr lang="en-US" sz="2400" b="1">
                <a:solidFill>
                  <a:srgbClr val="006763"/>
                </a:solidFill>
                <a:latin typeface="Roboto Bold"/>
                <a:ea typeface="Roboto Bold"/>
                <a:cs typeface="Roboto Bold"/>
                <a:sym typeface="Roboto Bold"/>
              </a:rPr>
              <a:t>Intelligent Search: </a:t>
            </a:r>
          </a:p>
          <a:p>
            <a:pPr algn="l">
              <a:lnSpc>
                <a:spcPts val="3383"/>
              </a:lnSpc>
            </a:pPr>
            <a:r>
              <a:rPr lang="en-US" sz="2400">
                <a:solidFill>
                  <a:srgbClr val="006763"/>
                </a:solidFill>
                <a:latin typeface="Roboto"/>
                <a:ea typeface="Roboto"/>
                <a:cs typeface="Roboto"/>
                <a:sym typeface="Roboto"/>
              </a:rPr>
              <a:t>Hybrid semantic &amp; keyword search with verifiable source citations.</a:t>
            </a:r>
          </a:p>
        </p:txBody>
      </p:sp>
      <p:sp>
        <p:nvSpPr>
          <p:cNvPr id="22" name="TextBox 22"/>
          <p:cNvSpPr txBox="1"/>
          <p:nvPr/>
        </p:nvSpPr>
        <p:spPr>
          <a:xfrm>
            <a:off x="493518" y="1391764"/>
            <a:ext cx="5227853" cy="984885"/>
          </a:xfrm>
          <a:prstGeom prst="rect">
            <a:avLst/>
          </a:prstGeom>
        </p:spPr>
        <p:txBody>
          <a:bodyPr lIns="0" tIns="0" rIns="0" bIns="0" rtlCol="0" anchor="t">
            <a:spAutoFit/>
          </a:bodyPr>
          <a:lstStyle/>
          <a:p>
            <a:pPr algn="l">
              <a:lnSpc>
                <a:spcPts val="7560"/>
              </a:lnSpc>
            </a:pPr>
            <a:r>
              <a:rPr lang="en-US" sz="7200" b="1">
                <a:solidFill>
                  <a:srgbClr val="006763"/>
                </a:solidFill>
                <a:latin typeface="Bebas Neue Bold"/>
                <a:ea typeface="Bebas Neue Bold"/>
                <a:cs typeface="Bebas Neue Bold"/>
                <a:sym typeface="Bebas Neue Bold"/>
              </a:rPr>
              <a:t>OUR SOLUTION</a:t>
            </a:r>
          </a:p>
        </p:txBody>
      </p:sp>
      <p:sp>
        <p:nvSpPr>
          <p:cNvPr id="23" name="TextBox 23"/>
          <p:cNvSpPr txBox="1"/>
          <p:nvPr/>
        </p:nvSpPr>
        <p:spPr>
          <a:xfrm>
            <a:off x="1048150" y="3420401"/>
            <a:ext cx="655517" cy="455250"/>
          </a:xfrm>
          <a:prstGeom prst="rect">
            <a:avLst/>
          </a:prstGeom>
        </p:spPr>
        <p:txBody>
          <a:bodyPr lIns="0" tIns="0" rIns="0" bIns="0" rtlCol="0" anchor="t">
            <a:spAutoFit/>
          </a:bodyPr>
          <a:lstStyle/>
          <a:p>
            <a:pPr algn="ctr">
              <a:lnSpc>
                <a:spcPts val="3628"/>
              </a:lnSpc>
            </a:pPr>
            <a:r>
              <a:rPr lang="en-US" sz="2573" b="1">
                <a:solidFill>
                  <a:srgbClr val="FFFFFF"/>
                </a:solidFill>
                <a:latin typeface="Roboto Bold"/>
                <a:ea typeface="Roboto Bold"/>
                <a:cs typeface="Roboto Bold"/>
                <a:sym typeface="Roboto Bold"/>
              </a:rPr>
              <a:t>01</a:t>
            </a:r>
          </a:p>
        </p:txBody>
      </p:sp>
      <p:sp>
        <p:nvSpPr>
          <p:cNvPr id="24" name="TextBox 24"/>
          <p:cNvSpPr txBox="1"/>
          <p:nvPr/>
        </p:nvSpPr>
        <p:spPr>
          <a:xfrm>
            <a:off x="1032590" y="4661579"/>
            <a:ext cx="655517" cy="455250"/>
          </a:xfrm>
          <a:prstGeom prst="rect">
            <a:avLst/>
          </a:prstGeom>
        </p:spPr>
        <p:txBody>
          <a:bodyPr lIns="0" tIns="0" rIns="0" bIns="0" rtlCol="0" anchor="t">
            <a:spAutoFit/>
          </a:bodyPr>
          <a:lstStyle/>
          <a:p>
            <a:pPr algn="ctr">
              <a:lnSpc>
                <a:spcPts val="3628"/>
              </a:lnSpc>
            </a:pPr>
            <a:r>
              <a:rPr lang="en-US" sz="2573" b="1">
                <a:solidFill>
                  <a:srgbClr val="FFFFFF"/>
                </a:solidFill>
                <a:latin typeface="Roboto Bold"/>
                <a:ea typeface="Roboto Bold"/>
                <a:cs typeface="Roboto Bold"/>
                <a:sym typeface="Roboto Bold"/>
              </a:rPr>
              <a:t>02</a:t>
            </a:r>
          </a:p>
        </p:txBody>
      </p:sp>
      <p:sp>
        <p:nvSpPr>
          <p:cNvPr id="25" name="TextBox 25"/>
          <p:cNvSpPr txBox="1"/>
          <p:nvPr/>
        </p:nvSpPr>
        <p:spPr>
          <a:xfrm>
            <a:off x="1028700" y="5937715"/>
            <a:ext cx="655517" cy="455250"/>
          </a:xfrm>
          <a:prstGeom prst="rect">
            <a:avLst/>
          </a:prstGeom>
        </p:spPr>
        <p:txBody>
          <a:bodyPr lIns="0" tIns="0" rIns="0" bIns="0" rtlCol="0" anchor="t">
            <a:spAutoFit/>
          </a:bodyPr>
          <a:lstStyle/>
          <a:p>
            <a:pPr algn="ctr">
              <a:lnSpc>
                <a:spcPts val="3628"/>
              </a:lnSpc>
            </a:pPr>
            <a:r>
              <a:rPr lang="en-US" sz="2573" b="1">
                <a:solidFill>
                  <a:srgbClr val="FFFFFF"/>
                </a:solidFill>
                <a:latin typeface="Roboto Bold"/>
                <a:ea typeface="Roboto Bold"/>
                <a:cs typeface="Roboto Bold"/>
                <a:sym typeface="Roboto Bold"/>
              </a:rPr>
              <a:t>03</a:t>
            </a:r>
          </a:p>
        </p:txBody>
      </p:sp>
      <p:sp>
        <p:nvSpPr>
          <p:cNvPr id="26" name="TextBox 26"/>
          <p:cNvSpPr txBox="1"/>
          <p:nvPr/>
        </p:nvSpPr>
        <p:spPr>
          <a:xfrm>
            <a:off x="1044260" y="7219043"/>
            <a:ext cx="655517" cy="455250"/>
          </a:xfrm>
          <a:prstGeom prst="rect">
            <a:avLst/>
          </a:prstGeom>
        </p:spPr>
        <p:txBody>
          <a:bodyPr lIns="0" tIns="0" rIns="0" bIns="0" rtlCol="0" anchor="t">
            <a:spAutoFit/>
          </a:bodyPr>
          <a:lstStyle/>
          <a:p>
            <a:pPr algn="ctr">
              <a:lnSpc>
                <a:spcPts val="3628"/>
              </a:lnSpc>
            </a:pPr>
            <a:r>
              <a:rPr lang="en-US" sz="2573" b="1">
                <a:solidFill>
                  <a:srgbClr val="FFFFFF"/>
                </a:solidFill>
                <a:latin typeface="Roboto Bold"/>
                <a:ea typeface="Roboto Bold"/>
                <a:cs typeface="Roboto Bold"/>
                <a:sym typeface="Roboto Bold"/>
              </a:rPr>
              <a:t>04</a:t>
            </a:r>
          </a:p>
        </p:txBody>
      </p:sp>
      <p:sp>
        <p:nvSpPr>
          <p:cNvPr id="27" name="TextBox 27"/>
          <p:cNvSpPr txBox="1"/>
          <p:nvPr/>
        </p:nvSpPr>
        <p:spPr>
          <a:xfrm>
            <a:off x="1048150" y="8644067"/>
            <a:ext cx="655517" cy="455250"/>
          </a:xfrm>
          <a:prstGeom prst="rect">
            <a:avLst/>
          </a:prstGeom>
        </p:spPr>
        <p:txBody>
          <a:bodyPr lIns="0" tIns="0" rIns="0" bIns="0" rtlCol="0" anchor="t">
            <a:spAutoFit/>
          </a:bodyPr>
          <a:lstStyle/>
          <a:p>
            <a:pPr algn="ctr">
              <a:lnSpc>
                <a:spcPts val="3628"/>
              </a:lnSpc>
            </a:pPr>
            <a:r>
              <a:rPr lang="en-US" sz="2573" b="1">
                <a:solidFill>
                  <a:srgbClr val="FFFFFF"/>
                </a:solidFill>
                <a:latin typeface="Roboto Bold"/>
                <a:ea typeface="Roboto Bold"/>
                <a:cs typeface="Roboto Bold"/>
                <a:sym typeface="Roboto Bold"/>
              </a:rPr>
              <a:t>05</a:t>
            </a:r>
          </a:p>
        </p:txBody>
      </p:sp>
      <p:sp>
        <p:nvSpPr>
          <p:cNvPr id="28" name="TextBox 28"/>
          <p:cNvSpPr txBox="1"/>
          <p:nvPr/>
        </p:nvSpPr>
        <p:spPr>
          <a:xfrm>
            <a:off x="1943100" y="4454626"/>
            <a:ext cx="9066237" cy="850392"/>
          </a:xfrm>
          <a:prstGeom prst="rect">
            <a:avLst/>
          </a:prstGeom>
        </p:spPr>
        <p:txBody>
          <a:bodyPr lIns="0" tIns="0" rIns="0" bIns="0" rtlCol="0" anchor="t">
            <a:spAutoFit/>
          </a:bodyPr>
          <a:lstStyle/>
          <a:p>
            <a:pPr algn="l">
              <a:lnSpc>
                <a:spcPts val="3383"/>
              </a:lnSpc>
            </a:pPr>
            <a:r>
              <a:rPr lang="en-US" sz="2400" b="1">
                <a:solidFill>
                  <a:srgbClr val="006763"/>
                </a:solidFill>
                <a:latin typeface="Roboto Bold"/>
                <a:ea typeface="Roboto Bold"/>
                <a:cs typeface="Roboto Bold"/>
                <a:sym typeface="Roboto Bold"/>
              </a:rPr>
              <a:t>Document Lineage Tracker: </a:t>
            </a:r>
          </a:p>
          <a:p>
            <a:pPr algn="l">
              <a:lnSpc>
                <a:spcPts val="3383"/>
              </a:lnSpc>
            </a:pPr>
            <a:r>
              <a:rPr lang="en-US" sz="2400">
                <a:solidFill>
                  <a:srgbClr val="006763"/>
                </a:solidFill>
                <a:latin typeface="Roboto"/>
                <a:ea typeface="Roboto"/>
                <a:cs typeface="Roboto"/>
                <a:sym typeface="Roboto"/>
              </a:rPr>
              <a:t>Automatically resolves active vs. superseded orders.</a:t>
            </a:r>
          </a:p>
        </p:txBody>
      </p:sp>
      <p:sp>
        <p:nvSpPr>
          <p:cNvPr id="29" name="TextBox 29"/>
          <p:cNvSpPr txBox="1"/>
          <p:nvPr/>
        </p:nvSpPr>
        <p:spPr>
          <a:xfrm>
            <a:off x="1943100" y="5744906"/>
            <a:ext cx="9066237" cy="850392"/>
          </a:xfrm>
          <a:prstGeom prst="rect">
            <a:avLst/>
          </a:prstGeom>
        </p:spPr>
        <p:txBody>
          <a:bodyPr lIns="0" tIns="0" rIns="0" bIns="0" rtlCol="0" anchor="t">
            <a:spAutoFit/>
          </a:bodyPr>
          <a:lstStyle/>
          <a:p>
            <a:pPr algn="l">
              <a:lnSpc>
                <a:spcPts val="3383"/>
              </a:lnSpc>
            </a:pPr>
            <a:r>
              <a:rPr lang="en-US" sz="2400" b="1">
                <a:solidFill>
                  <a:srgbClr val="006763"/>
                </a:solidFill>
                <a:latin typeface="Roboto Bold"/>
                <a:ea typeface="Roboto Bold"/>
                <a:cs typeface="Roboto Bold"/>
                <a:sym typeface="Roboto Bold"/>
              </a:rPr>
              <a:t>Automated Extraction: </a:t>
            </a:r>
          </a:p>
          <a:p>
            <a:pPr algn="l">
              <a:lnSpc>
                <a:spcPts val="3383"/>
              </a:lnSpc>
            </a:pPr>
            <a:r>
              <a:rPr lang="en-US" sz="2400">
                <a:solidFill>
                  <a:srgbClr val="006763"/>
                </a:solidFill>
                <a:latin typeface="Roboto"/>
                <a:ea typeface="Roboto"/>
                <a:cs typeface="Roboto"/>
                <a:sym typeface="Roboto"/>
              </a:rPr>
              <a:t>Instantly pulls structured clauses and financial figures from PDFs.</a:t>
            </a:r>
          </a:p>
        </p:txBody>
      </p:sp>
      <p:sp>
        <p:nvSpPr>
          <p:cNvPr id="30" name="TextBox 30"/>
          <p:cNvSpPr txBox="1"/>
          <p:nvPr/>
        </p:nvSpPr>
        <p:spPr>
          <a:xfrm>
            <a:off x="1943100" y="6985823"/>
            <a:ext cx="9066237" cy="1279017"/>
          </a:xfrm>
          <a:prstGeom prst="rect">
            <a:avLst/>
          </a:prstGeom>
        </p:spPr>
        <p:txBody>
          <a:bodyPr lIns="0" tIns="0" rIns="0" bIns="0" rtlCol="0" anchor="t">
            <a:spAutoFit/>
          </a:bodyPr>
          <a:lstStyle/>
          <a:p>
            <a:pPr algn="l">
              <a:lnSpc>
                <a:spcPts val="3383"/>
              </a:lnSpc>
            </a:pPr>
            <a:r>
              <a:rPr lang="en-US" sz="2400" b="1">
                <a:solidFill>
                  <a:srgbClr val="006763"/>
                </a:solidFill>
                <a:latin typeface="Roboto Bold"/>
                <a:ea typeface="Roboto Bold"/>
                <a:cs typeface="Roboto Bold"/>
                <a:sym typeface="Roboto Bold"/>
              </a:rPr>
              <a:t>Agentic Assistance: </a:t>
            </a:r>
          </a:p>
          <a:p>
            <a:pPr algn="l">
              <a:lnSpc>
                <a:spcPts val="3383"/>
              </a:lnSpc>
            </a:pPr>
            <a:r>
              <a:rPr lang="en-US" sz="2400">
                <a:solidFill>
                  <a:srgbClr val="006763"/>
                </a:solidFill>
                <a:latin typeface="Roboto"/>
                <a:ea typeface="Roboto"/>
                <a:cs typeface="Roboto"/>
                <a:sym typeface="Roboto"/>
              </a:rPr>
              <a:t>AI agents that help research GST policies and draft official policy notes.</a:t>
            </a:r>
          </a:p>
        </p:txBody>
      </p:sp>
      <p:sp>
        <p:nvSpPr>
          <p:cNvPr id="31" name="TextBox 31"/>
          <p:cNvSpPr txBox="1"/>
          <p:nvPr/>
        </p:nvSpPr>
        <p:spPr>
          <a:xfrm>
            <a:off x="1943100" y="8437114"/>
            <a:ext cx="13874997" cy="1279017"/>
          </a:xfrm>
          <a:prstGeom prst="rect">
            <a:avLst/>
          </a:prstGeom>
        </p:spPr>
        <p:txBody>
          <a:bodyPr lIns="0" tIns="0" rIns="0" bIns="0" rtlCol="0" anchor="t">
            <a:spAutoFit/>
          </a:bodyPr>
          <a:lstStyle/>
          <a:p>
            <a:pPr algn="l">
              <a:lnSpc>
                <a:spcPts val="3383"/>
              </a:lnSpc>
            </a:pPr>
            <a:r>
              <a:rPr lang="en-US" sz="2400" b="1">
                <a:solidFill>
                  <a:srgbClr val="006763"/>
                </a:solidFill>
                <a:latin typeface="Roboto Bold"/>
                <a:ea typeface="Roboto Bold"/>
                <a:cs typeface="Roboto Bold"/>
                <a:sym typeface="Roboto Bold"/>
              </a:rPr>
              <a:t>Enterprise Security: </a:t>
            </a:r>
          </a:p>
          <a:p>
            <a:pPr algn="l">
              <a:lnSpc>
                <a:spcPts val="3383"/>
              </a:lnSpc>
            </a:pPr>
            <a:r>
              <a:rPr lang="en-US" sz="2400">
                <a:solidFill>
                  <a:srgbClr val="006763"/>
                </a:solidFill>
                <a:latin typeface="Roboto"/>
                <a:ea typeface="Roboto"/>
                <a:cs typeface="Roboto"/>
                <a:sym typeface="Roboto"/>
              </a:rPr>
              <a:t>Fully local deployment (Ollama LLM) with Role-Based Access Control and tamper-evident audit logs.</a:t>
            </a:r>
          </a:p>
          <a:p>
            <a:pPr algn="l">
              <a:lnSpc>
                <a:spcPts val="3383"/>
              </a:lnSpc>
            </a:pPr>
            <a:endParaRPr lang="en-US" sz="2400">
              <a:solidFill>
                <a:srgbClr val="006763"/>
              </a:solidFill>
              <a:latin typeface="Roboto"/>
              <a:ea typeface="Roboto"/>
              <a:cs typeface="Roboto"/>
              <a:sym typeface="Roboto"/>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FFDE"/>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FFDE"/>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92469"/>
          </a:xfrm>
          <a:custGeom>
            <a:avLst/>
            <a:gdLst/>
            <a:ahLst/>
            <a:cxnLst/>
            <a:rect l="l" t="t" r="r" b="b"/>
            <a:pathLst>
              <a:path w="18288000" h="10292469">
                <a:moveTo>
                  <a:pt x="0" y="0"/>
                </a:moveTo>
                <a:lnTo>
                  <a:pt x="18288000" y="0"/>
                </a:lnTo>
                <a:lnTo>
                  <a:pt x="18288000" y="10292469"/>
                </a:lnTo>
                <a:lnTo>
                  <a:pt x="0" y="10292469"/>
                </a:lnTo>
                <a:lnTo>
                  <a:pt x="0" y="0"/>
                </a:lnTo>
                <a:close/>
              </a:path>
            </a:pathLst>
          </a:custGeom>
          <a:blipFill>
            <a:blip r:embed="rId2"/>
            <a:stretch>
              <a:fillRect/>
            </a:stretch>
          </a:blipFill>
        </p:spPr>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38888" b="-38888"/>
            </a:stretch>
          </a:blipFill>
        </p:spPr>
      </p:sp>
      <p:sp>
        <p:nvSpPr>
          <p:cNvPr id="3" name="Freeform 3"/>
          <p:cNvSpPr/>
          <p:nvPr/>
        </p:nvSpPr>
        <p:spPr>
          <a:xfrm>
            <a:off x="0" y="2832926"/>
            <a:ext cx="18288000" cy="7260727"/>
          </a:xfrm>
          <a:custGeom>
            <a:avLst/>
            <a:gdLst/>
            <a:ahLst/>
            <a:cxnLst/>
            <a:rect l="l" t="t" r="r" b="b"/>
            <a:pathLst>
              <a:path w="18288000" h="7260727">
                <a:moveTo>
                  <a:pt x="0" y="0"/>
                </a:moveTo>
                <a:lnTo>
                  <a:pt x="18288000" y="0"/>
                </a:lnTo>
                <a:lnTo>
                  <a:pt x="18288000" y="7260727"/>
                </a:lnTo>
                <a:lnTo>
                  <a:pt x="0" y="7260727"/>
                </a:lnTo>
                <a:lnTo>
                  <a:pt x="0" y="0"/>
                </a:lnTo>
                <a:close/>
              </a:path>
            </a:pathLst>
          </a:custGeom>
          <a:blipFill>
            <a:blip r:embed="rId3"/>
            <a:stretch>
              <a:fillRect l="-13520" t="-252397" r="-11815"/>
            </a:stretch>
          </a:blipFill>
        </p:spPr>
      </p:sp>
      <p:sp>
        <p:nvSpPr>
          <p:cNvPr id="4" name="Freeform 4"/>
          <p:cNvSpPr/>
          <p:nvPr/>
        </p:nvSpPr>
        <p:spPr>
          <a:xfrm>
            <a:off x="8763000" y="439510"/>
            <a:ext cx="9754019" cy="2393416"/>
          </a:xfrm>
          <a:custGeom>
            <a:avLst/>
            <a:gdLst/>
            <a:ahLst/>
            <a:cxnLst/>
            <a:rect l="l" t="t" r="r" b="b"/>
            <a:pathLst>
              <a:path w="9754019" h="2393416">
                <a:moveTo>
                  <a:pt x="0" y="0"/>
                </a:moveTo>
                <a:lnTo>
                  <a:pt x="9754019" y="0"/>
                </a:lnTo>
                <a:lnTo>
                  <a:pt x="9754019" y="2393416"/>
                </a:lnTo>
                <a:lnTo>
                  <a:pt x="0" y="2393416"/>
                </a:lnTo>
                <a:lnTo>
                  <a:pt x="0" y="0"/>
                </a:lnTo>
                <a:close/>
              </a:path>
            </a:pathLst>
          </a:custGeom>
          <a:blipFill>
            <a:blip r:embed="rId4"/>
            <a:stretch>
              <a:fillRect t="-7952" b="-2591"/>
            </a:stretch>
          </a:blipFill>
        </p:spPr>
      </p:sp>
      <p:grpSp>
        <p:nvGrpSpPr>
          <p:cNvPr id="5" name="Group 5"/>
          <p:cNvGrpSpPr/>
          <p:nvPr/>
        </p:nvGrpSpPr>
        <p:grpSpPr>
          <a:xfrm>
            <a:off x="7927344" y="3404816"/>
            <a:ext cx="4836718" cy="761037"/>
            <a:chOff x="0" y="0"/>
            <a:chExt cx="1273868" cy="200438"/>
          </a:xfrm>
        </p:grpSpPr>
        <p:sp>
          <p:nvSpPr>
            <p:cNvPr id="6" name="Freeform 6"/>
            <p:cNvSpPr/>
            <p:nvPr/>
          </p:nvSpPr>
          <p:spPr>
            <a:xfrm>
              <a:off x="0" y="0"/>
              <a:ext cx="1273868" cy="200438"/>
            </a:xfrm>
            <a:custGeom>
              <a:avLst/>
              <a:gdLst/>
              <a:ahLst/>
              <a:cxnLst/>
              <a:rect l="l" t="t" r="r" b="b"/>
              <a:pathLst>
                <a:path w="1273868" h="200438">
                  <a:moveTo>
                    <a:pt x="22409" y="0"/>
                  </a:moveTo>
                  <a:lnTo>
                    <a:pt x="1251459" y="0"/>
                  </a:lnTo>
                  <a:cubicBezTo>
                    <a:pt x="1257402" y="0"/>
                    <a:pt x="1263102" y="2361"/>
                    <a:pt x="1267305" y="6563"/>
                  </a:cubicBezTo>
                  <a:cubicBezTo>
                    <a:pt x="1271507" y="10766"/>
                    <a:pt x="1273868" y="16466"/>
                    <a:pt x="1273868" y="22409"/>
                  </a:cubicBezTo>
                  <a:lnTo>
                    <a:pt x="1273868" y="178029"/>
                  </a:lnTo>
                  <a:cubicBezTo>
                    <a:pt x="1273868" y="183972"/>
                    <a:pt x="1271507" y="189672"/>
                    <a:pt x="1267305" y="193874"/>
                  </a:cubicBezTo>
                  <a:cubicBezTo>
                    <a:pt x="1263102" y="198077"/>
                    <a:pt x="1257402" y="200438"/>
                    <a:pt x="1251459" y="200438"/>
                  </a:cubicBezTo>
                  <a:lnTo>
                    <a:pt x="22409" y="200438"/>
                  </a:lnTo>
                  <a:cubicBezTo>
                    <a:pt x="10033" y="200438"/>
                    <a:pt x="0" y="190405"/>
                    <a:pt x="0" y="178029"/>
                  </a:cubicBezTo>
                  <a:lnTo>
                    <a:pt x="0" y="22409"/>
                  </a:lnTo>
                  <a:cubicBezTo>
                    <a:pt x="0" y="10033"/>
                    <a:pt x="10033" y="0"/>
                    <a:pt x="22409" y="0"/>
                  </a:cubicBezTo>
                  <a:close/>
                </a:path>
              </a:pathLst>
            </a:custGeom>
            <a:solidFill>
              <a:srgbClr val="4EA069"/>
            </a:solidFill>
          </p:spPr>
        </p:sp>
        <p:sp>
          <p:nvSpPr>
            <p:cNvPr id="7" name="TextBox 7"/>
            <p:cNvSpPr txBox="1"/>
            <p:nvPr/>
          </p:nvSpPr>
          <p:spPr>
            <a:xfrm>
              <a:off x="0" y="-38100"/>
              <a:ext cx="1273868" cy="23853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3172566" y="3404816"/>
            <a:ext cx="4836718" cy="761037"/>
            <a:chOff x="0" y="0"/>
            <a:chExt cx="1273868" cy="200438"/>
          </a:xfrm>
        </p:grpSpPr>
        <p:sp>
          <p:nvSpPr>
            <p:cNvPr id="9" name="Freeform 9"/>
            <p:cNvSpPr/>
            <p:nvPr/>
          </p:nvSpPr>
          <p:spPr>
            <a:xfrm>
              <a:off x="0" y="0"/>
              <a:ext cx="1273868" cy="200438"/>
            </a:xfrm>
            <a:custGeom>
              <a:avLst/>
              <a:gdLst/>
              <a:ahLst/>
              <a:cxnLst/>
              <a:rect l="l" t="t" r="r" b="b"/>
              <a:pathLst>
                <a:path w="1273868" h="200438">
                  <a:moveTo>
                    <a:pt x="22409" y="0"/>
                  </a:moveTo>
                  <a:lnTo>
                    <a:pt x="1251459" y="0"/>
                  </a:lnTo>
                  <a:cubicBezTo>
                    <a:pt x="1257402" y="0"/>
                    <a:pt x="1263102" y="2361"/>
                    <a:pt x="1267305" y="6563"/>
                  </a:cubicBezTo>
                  <a:cubicBezTo>
                    <a:pt x="1271507" y="10766"/>
                    <a:pt x="1273868" y="16466"/>
                    <a:pt x="1273868" y="22409"/>
                  </a:cubicBezTo>
                  <a:lnTo>
                    <a:pt x="1273868" y="178029"/>
                  </a:lnTo>
                  <a:cubicBezTo>
                    <a:pt x="1273868" y="183972"/>
                    <a:pt x="1271507" y="189672"/>
                    <a:pt x="1267305" y="193874"/>
                  </a:cubicBezTo>
                  <a:cubicBezTo>
                    <a:pt x="1263102" y="198077"/>
                    <a:pt x="1257402" y="200438"/>
                    <a:pt x="1251459" y="200438"/>
                  </a:cubicBezTo>
                  <a:lnTo>
                    <a:pt x="22409" y="200438"/>
                  </a:lnTo>
                  <a:cubicBezTo>
                    <a:pt x="10033" y="200438"/>
                    <a:pt x="0" y="190405"/>
                    <a:pt x="0" y="178029"/>
                  </a:cubicBezTo>
                  <a:lnTo>
                    <a:pt x="0" y="22409"/>
                  </a:lnTo>
                  <a:cubicBezTo>
                    <a:pt x="0" y="10033"/>
                    <a:pt x="10033" y="0"/>
                    <a:pt x="22409" y="0"/>
                  </a:cubicBezTo>
                  <a:close/>
                </a:path>
              </a:pathLst>
            </a:custGeom>
            <a:solidFill>
              <a:srgbClr val="4EA069"/>
            </a:solidFill>
          </p:spPr>
        </p:sp>
        <p:sp>
          <p:nvSpPr>
            <p:cNvPr id="10" name="TextBox 10"/>
            <p:cNvSpPr txBox="1"/>
            <p:nvPr/>
          </p:nvSpPr>
          <p:spPr>
            <a:xfrm>
              <a:off x="0" y="-38100"/>
              <a:ext cx="1273868" cy="23853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9429243" y="5976760"/>
            <a:ext cx="4836718" cy="761037"/>
            <a:chOff x="0" y="0"/>
            <a:chExt cx="1273868" cy="200438"/>
          </a:xfrm>
        </p:grpSpPr>
        <p:sp>
          <p:nvSpPr>
            <p:cNvPr id="12" name="Freeform 12"/>
            <p:cNvSpPr/>
            <p:nvPr/>
          </p:nvSpPr>
          <p:spPr>
            <a:xfrm>
              <a:off x="0" y="0"/>
              <a:ext cx="1273868" cy="200438"/>
            </a:xfrm>
            <a:custGeom>
              <a:avLst/>
              <a:gdLst/>
              <a:ahLst/>
              <a:cxnLst/>
              <a:rect l="l" t="t" r="r" b="b"/>
              <a:pathLst>
                <a:path w="1273868" h="200438">
                  <a:moveTo>
                    <a:pt x="22409" y="0"/>
                  </a:moveTo>
                  <a:lnTo>
                    <a:pt x="1251459" y="0"/>
                  </a:lnTo>
                  <a:cubicBezTo>
                    <a:pt x="1257402" y="0"/>
                    <a:pt x="1263102" y="2361"/>
                    <a:pt x="1267305" y="6563"/>
                  </a:cubicBezTo>
                  <a:cubicBezTo>
                    <a:pt x="1271507" y="10766"/>
                    <a:pt x="1273868" y="16466"/>
                    <a:pt x="1273868" y="22409"/>
                  </a:cubicBezTo>
                  <a:lnTo>
                    <a:pt x="1273868" y="178029"/>
                  </a:lnTo>
                  <a:cubicBezTo>
                    <a:pt x="1273868" y="183972"/>
                    <a:pt x="1271507" y="189672"/>
                    <a:pt x="1267305" y="193874"/>
                  </a:cubicBezTo>
                  <a:cubicBezTo>
                    <a:pt x="1263102" y="198077"/>
                    <a:pt x="1257402" y="200438"/>
                    <a:pt x="1251459" y="200438"/>
                  </a:cubicBezTo>
                  <a:lnTo>
                    <a:pt x="22409" y="200438"/>
                  </a:lnTo>
                  <a:cubicBezTo>
                    <a:pt x="10033" y="200438"/>
                    <a:pt x="0" y="190405"/>
                    <a:pt x="0" y="178029"/>
                  </a:cubicBezTo>
                  <a:lnTo>
                    <a:pt x="0" y="22409"/>
                  </a:lnTo>
                  <a:cubicBezTo>
                    <a:pt x="0" y="10033"/>
                    <a:pt x="10033" y="0"/>
                    <a:pt x="22409" y="0"/>
                  </a:cubicBezTo>
                  <a:close/>
                </a:path>
              </a:pathLst>
            </a:custGeom>
            <a:solidFill>
              <a:srgbClr val="4EA069"/>
            </a:solidFill>
          </p:spPr>
        </p:sp>
        <p:sp>
          <p:nvSpPr>
            <p:cNvPr id="13" name="TextBox 13"/>
            <p:cNvSpPr txBox="1"/>
            <p:nvPr/>
          </p:nvSpPr>
          <p:spPr>
            <a:xfrm>
              <a:off x="0" y="-38100"/>
              <a:ext cx="1273868" cy="238538"/>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13913" y="1757959"/>
            <a:ext cx="7751505" cy="7993201"/>
          </a:xfrm>
          <a:custGeom>
            <a:avLst/>
            <a:gdLst/>
            <a:ahLst/>
            <a:cxnLst/>
            <a:rect l="l" t="t" r="r" b="b"/>
            <a:pathLst>
              <a:path w="7751505" h="7993201">
                <a:moveTo>
                  <a:pt x="0" y="0"/>
                </a:moveTo>
                <a:lnTo>
                  <a:pt x="7751506" y="0"/>
                </a:lnTo>
                <a:lnTo>
                  <a:pt x="7751506" y="7993200"/>
                </a:lnTo>
                <a:lnTo>
                  <a:pt x="0" y="7993200"/>
                </a:lnTo>
                <a:lnTo>
                  <a:pt x="0" y="0"/>
                </a:lnTo>
                <a:close/>
              </a:path>
            </a:pathLst>
          </a:custGeom>
          <a:blipFill>
            <a:blip r:embed="rId5"/>
            <a:stretch>
              <a:fillRect t="-551" b="-2069"/>
            </a:stretch>
          </a:blipFill>
        </p:spPr>
      </p:sp>
      <p:sp>
        <p:nvSpPr>
          <p:cNvPr id="15" name="TextBox 15"/>
          <p:cNvSpPr txBox="1"/>
          <p:nvPr/>
        </p:nvSpPr>
        <p:spPr>
          <a:xfrm>
            <a:off x="11389268" y="533782"/>
            <a:ext cx="8068471" cy="1937385"/>
          </a:xfrm>
          <a:prstGeom prst="rect">
            <a:avLst/>
          </a:prstGeom>
        </p:spPr>
        <p:txBody>
          <a:bodyPr lIns="0" tIns="0" rIns="0" bIns="0" rtlCol="0" anchor="t">
            <a:spAutoFit/>
          </a:bodyPr>
          <a:lstStyle/>
          <a:p>
            <a:pPr algn="l">
              <a:lnSpc>
                <a:spcPts val="7560"/>
              </a:lnSpc>
            </a:pPr>
            <a:r>
              <a:rPr lang="en-US" sz="7200" b="1" dirty="0">
                <a:solidFill>
                  <a:srgbClr val="006763"/>
                </a:solidFill>
                <a:latin typeface="Bebas Neue Bold"/>
                <a:ea typeface="Bebas Neue Bold"/>
                <a:cs typeface="Bebas Neue Bold"/>
                <a:sym typeface="Bebas Neue Bold"/>
              </a:rPr>
              <a:t>KEY FEATURE: SOURCE REVIEW LABELS</a:t>
            </a:r>
          </a:p>
        </p:txBody>
      </p:sp>
      <p:sp>
        <p:nvSpPr>
          <p:cNvPr id="16" name="TextBox 16"/>
          <p:cNvSpPr txBox="1"/>
          <p:nvPr/>
        </p:nvSpPr>
        <p:spPr>
          <a:xfrm>
            <a:off x="7984494" y="4341049"/>
            <a:ext cx="4586429" cy="1234440"/>
          </a:xfrm>
          <a:prstGeom prst="rect">
            <a:avLst/>
          </a:prstGeom>
        </p:spPr>
        <p:txBody>
          <a:bodyPr lIns="0" tIns="0" rIns="0" bIns="0" rtlCol="0" anchor="t">
            <a:spAutoFit/>
          </a:bodyPr>
          <a:lstStyle/>
          <a:p>
            <a:pPr algn="l">
              <a:lnSpc>
                <a:spcPts val="3359"/>
              </a:lnSpc>
            </a:pPr>
            <a:r>
              <a:rPr lang="en-US" sz="2400">
                <a:solidFill>
                  <a:srgbClr val="006763"/>
                </a:solidFill>
                <a:latin typeface="Canva Sans"/>
                <a:ea typeface="Canva Sans"/>
                <a:cs typeface="Canva Sans"/>
                <a:sym typeface="Canva Sans"/>
              </a:rPr>
              <a:t>Generative AI cannot be trusted blindly in government finance.</a:t>
            </a:r>
          </a:p>
        </p:txBody>
      </p:sp>
      <p:sp>
        <p:nvSpPr>
          <p:cNvPr id="17" name="TextBox 17"/>
          <p:cNvSpPr txBox="1"/>
          <p:nvPr/>
        </p:nvSpPr>
        <p:spPr>
          <a:xfrm>
            <a:off x="13247289" y="4341049"/>
            <a:ext cx="4809620" cy="815340"/>
          </a:xfrm>
          <a:prstGeom prst="rect">
            <a:avLst/>
          </a:prstGeom>
        </p:spPr>
        <p:txBody>
          <a:bodyPr lIns="0" tIns="0" rIns="0" bIns="0" rtlCol="0" anchor="t">
            <a:spAutoFit/>
          </a:bodyPr>
          <a:lstStyle/>
          <a:p>
            <a:pPr algn="l">
              <a:lnSpc>
                <a:spcPts val="3359"/>
              </a:lnSpc>
            </a:pPr>
            <a:r>
              <a:rPr lang="en-US" sz="2400">
                <a:solidFill>
                  <a:srgbClr val="006763"/>
                </a:solidFill>
                <a:latin typeface="Canva Sans"/>
                <a:ea typeface="Canva Sans"/>
                <a:cs typeface="Canva Sans"/>
                <a:sym typeface="Canva Sans"/>
              </a:rPr>
              <a:t>Every AI output includes a Source Review Label.</a:t>
            </a:r>
          </a:p>
        </p:txBody>
      </p:sp>
      <p:sp>
        <p:nvSpPr>
          <p:cNvPr id="18" name="TextBox 18"/>
          <p:cNvSpPr txBox="1"/>
          <p:nvPr/>
        </p:nvSpPr>
        <p:spPr>
          <a:xfrm>
            <a:off x="8052488" y="3568164"/>
            <a:ext cx="4586429" cy="396240"/>
          </a:xfrm>
          <a:prstGeom prst="rect">
            <a:avLst/>
          </a:prstGeom>
        </p:spPr>
        <p:txBody>
          <a:bodyPr lIns="0" tIns="0" rIns="0" bIns="0" rtlCol="0" anchor="t">
            <a:spAutoFit/>
          </a:bodyPr>
          <a:lstStyle/>
          <a:p>
            <a:pPr algn="ctr">
              <a:lnSpc>
                <a:spcPts val="3359"/>
              </a:lnSpc>
              <a:spcBef>
                <a:spcPct val="0"/>
              </a:spcBef>
            </a:pPr>
            <a:r>
              <a:rPr lang="en-US" sz="2400" b="1">
                <a:solidFill>
                  <a:srgbClr val="FFFFFF"/>
                </a:solidFill>
                <a:latin typeface="Canva Sans Bold"/>
                <a:ea typeface="Canva Sans Bold"/>
                <a:cs typeface="Canva Sans Bold"/>
                <a:sym typeface="Canva Sans Bold"/>
              </a:rPr>
              <a:t>The AI Hallucination Problem</a:t>
            </a:r>
          </a:p>
        </p:txBody>
      </p:sp>
      <p:sp>
        <p:nvSpPr>
          <p:cNvPr id="19" name="TextBox 19"/>
          <p:cNvSpPr txBox="1"/>
          <p:nvPr/>
        </p:nvSpPr>
        <p:spPr>
          <a:xfrm>
            <a:off x="13297710" y="3568164"/>
            <a:ext cx="4586429" cy="396240"/>
          </a:xfrm>
          <a:prstGeom prst="rect">
            <a:avLst/>
          </a:prstGeom>
        </p:spPr>
        <p:txBody>
          <a:bodyPr lIns="0" tIns="0" rIns="0" bIns="0" rtlCol="0" anchor="t">
            <a:spAutoFit/>
          </a:bodyPr>
          <a:lstStyle/>
          <a:p>
            <a:pPr algn="ctr">
              <a:lnSpc>
                <a:spcPts val="3359"/>
              </a:lnSpc>
              <a:spcBef>
                <a:spcPct val="0"/>
              </a:spcBef>
            </a:pPr>
            <a:r>
              <a:rPr lang="en-US" sz="2400" b="1">
                <a:solidFill>
                  <a:srgbClr val="FFFFFF"/>
                </a:solidFill>
                <a:latin typeface="Canva Sans Bold"/>
                <a:ea typeface="Canva Sans Bold"/>
                <a:cs typeface="Canva Sans Bold"/>
                <a:sym typeface="Canva Sans Bold"/>
              </a:rPr>
              <a:t>Our Approach</a:t>
            </a:r>
          </a:p>
        </p:txBody>
      </p:sp>
      <p:sp>
        <p:nvSpPr>
          <p:cNvPr id="20" name="TextBox 20"/>
          <p:cNvSpPr txBox="1"/>
          <p:nvPr/>
        </p:nvSpPr>
        <p:spPr>
          <a:xfrm>
            <a:off x="9554388" y="6148210"/>
            <a:ext cx="4586429" cy="396240"/>
          </a:xfrm>
          <a:prstGeom prst="rect">
            <a:avLst/>
          </a:prstGeom>
        </p:spPr>
        <p:txBody>
          <a:bodyPr lIns="0" tIns="0" rIns="0" bIns="0" rtlCol="0" anchor="t">
            <a:spAutoFit/>
          </a:bodyPr>
          <a:lstStyle/>
          <a:p>
            <a:pPr algn="ctr">
              <a:lnSpc>
                <a:spcPts val="3359"/>
              </a:lnSpc>
              <a:spcBef>
                <a:spcPct val="0"/>
              </a:spcBef>
            </a:pPr>
            <a:r>
              <a:rPr lang="en-US" sz="2400" b="1">
                <a:solidFill>
                  <a:srgbClr val="FFFFFF"/>
                </a:solidFill>
                <a:latin typeface="Canva Sans Bold"/>
                <a:ea typeface="Canva Sans Bold"/>
                <a:cs typeface="Canva Sans Bold"/>
                <a:sym typeface="Canva Sans Bold"/>
              </a:rPr>
              <a:t>What it Shows</a:t>
            </a:r>
          </a:p>
        </p:txBody>
      </p:sp>
      <p:sp>
        <p:nvSpPr>
          <p:cNvPr id="21" name="TextBox 21"/>
          <p:cNvSpPr txBox="1"/>
          <p:nvPr/>
        </p:nvSpPr>
        <p:spPr>
          <a:xfrm>
            <a:off x="9429243" y="7033072"/>
            <a:ext cx="513332" cy="335280"/>
          </a:xfrm>
          <a:prstGeom prst="rect">
            <a:avLst/>
          </a:prstGeom>
        </p:spPr>
        <p:txBody>
          <a:bodyPr lIns="0" tIns="0" rIns="0" bIns="0" rtlCol="0" anchor="t">
            <a:spAutoFit/>
          </a:bodyPr>
          <a:lstStyle/>
          <a:p>
            <a:pPr algn="l">
              <a:lnSpc>
                <a:spcPts val="2519"/>
              </a:lnSpc>
            </a:pPr>
            <a:r>
              <a:rPr lang="en-US" sz="2799" b="1">
                <a:solidFill>
                  <a:srgbClr val="006763"/>
                </a:solidFill>
                <a:latin typeface="Montserrat Bold"/>
                <a:ea typeface="Montserrat Bold"/>
                <a:cs typeface="Montserrat Bold"/>
                <a:sym typeface="Montserrat Bold"/>
              </a:rPr>
              <a:t>01</a:t>
            </a:r>
          </a:p>
        </p:txBody>
      </p:sp>
      <p:sp>
        <p:nvSpPr>
          <p:cNvPr id="22" name="TextBox 22"/>
          <p:cNvSpPr txBox="1"/>
          <p:nvPr/>
        </p:nvSpPr>
        <p:spPr>
          <a:xfrm>
            <a:off x="9429243" y="7917133"/>
            <a:ext cx="513332" cy="335280"/>
          </a:xfrm>
          <a:prstGeom prst="rect">
            <a:avLst/>
          </a:prstGeom>
        </p:spPr>
        <p:txBody>
          <a:bodyPr lIns="0" tIns="0" rIns="0" bIns="0" rtlCol="0" anchor="t">
            <a:spAutoFit/>
          </a:bodyPr>
          <a:lstStyle/>
          <a:p>
            <a:pPr algn="l">
              <a:lnSpc>
                <a:spcPts val="2519"/>
              </a:lnSpc>
            </a:pPr>
            <a:r>
              <a:rPr lang="en-US" sz="2799" b="1">
                <a:solidFill>
                  <a:srgbClr val="006763"/>
                </a:solidFill>
                <a:latin typeface="Montserrat Bold"/>
                <a:ea typeface="Montserrat Bold"/>
                <a:cs typeface="Montserrat Bold"/>
                <a:sym typeface="Montserrat Bold"/>
              </a:rPr>
              <a:t>02</a:t>
            </a:r>
          </a:p>
        </p:txBody>
      </p:sp>
      <p:sp>
        <p:nvSpPr>
          <p:cNvPr id="23" name="TextBox 23"/>
          <p:cNvSpPr txBox="1"/>
          <p:nvPr/>
        </p:nvSpPr>
        <p:spPr>
          <a:xfrm>
            <a:off x="9429243" y="8801194"/>
            <a:ext cx="675653" cy="335280"/>
          </a:xfrm>
          <a:prstGeom prst="rect">
            <a:avLst/>
          </a:prstGeom>
        </p:spPr>
        <p:txBody>
          <a:bodyPr lIns="0" tIns="0" rIns="0" bIns="0" rtlCol="0" anchor="t">
            <a:spAutoFit/>
          </a:bodyPr>
          <a:lstStyle/>
          <a:p>
            <a:pPr algn="l">
              <a:lnSpc>
                <a:spcPts val="2519"/>
              </a:lnSpc>
            </a:pPr>
            <a:r>
              <a:rPr lang="en-US" sz="2799" b="1">
                <a:solidFill>
                  <a:srgbClr val="006763"/>
                </a:solidFill>
                <a:latin typeface="Montserrat Bold"/>
                <a:ea typeface="Montserrat Bold"/>
                <a:cs typeface="Montserrat Bold"/>
                <a:sym typeface="Montserrat Bold"/>
              </a:rPr>
              <a:t>03</a:t>
            </a:r>
          </a:p>
        </p:txBody>
      </p:sp>
      <p:sp>
        <p:nvSpPr>
          <p:cNvPr id="24" name="TextBox 24"/>
          <p:cNvSpPr txBox="1"/>
          <p:nvPr/>
        </p:nvSpPr>
        <p:spPr>
          <a:xfrm>
            <a:off x="10104896" y="6909247"/>
            <a:ext cx="6169059" cy="396240"/>
          </a:xfrm>
          <a:prstGeom prst="rect">
            <a:avLst/>
          </a:prstGeom>
        </p:spPr>
        <p:txBody>
          <a:bodyPr lIns="0" tIns="0" rIns="0" bIns="0" rtlCol="0" anchor="t">
            <a:spAutoFit/>
          </a:bodyPr>
          <a:lstStyle/>
          <a:p>
            <a:pPr algn="l">
              <a:lnSpc>
                <a:spcPts val="3359"/>
              </a:lnSpc>
            </a:pPr>
            <a:r>
              <a:rPr lang="en-US" sz="2400">
                <a:solidFill>
                  <a:srgbClr val="006763"/>
                </a:solidFill>
                <a:latin typeface="Canva Sans"/>
                <a:ea typeface="Canva Sans"/>
                <a:cs typeface="Canva Sans"/>
                <a:sym typeface="Canva Sans"/>
              </a:rPr>
              <a:t>Exact source document and page number.</a:t>
            </a:r>
          </a:p>
        </p:txBody>
      </p:sp>
      <p:sp>
        <p:nvSpPr>
          <p:cNvPr id="25" name="TextBox 25"/>
          <p:cNvSpPr txBox="1"/>
          <p:nvPr/>
        </p:nvSpPr>
        <p:spPr>
          <a:xfrm>
            <a:off x="10104896" y="7819978"/>
            <a:ext cx="5357454" cy="396240"/>
          </a:xfrm>
          <a:prstGeom prst="rect">
            <a:avLst/>
          </a:prstGeom>
        </p:spPr>
        <p:txBody>
          <a:bodyPr lIns="0" tIns="0" rIns="0" bIns="0" rtlCol="0" anchor="t">
            <a:spAutoFit/>
          </a:bodyPr>
          <a:lstStyle/>
          <a:p>
            <a:pPr algn="l">
              <a:lnSpc>
                <a:spcPts val="3359"/>
              </a:lnSpc>
            </a:pPr>
            <a:r>
              <a:rPr lang="en-US" sz="2400">
                <a:solidFill>
                  <a:srgbClr val="006763"/>
                </a:solidFill>
                <a:latin typeface="Canva Sans"/>
                <a:ea typeface="Canva Sans"/>
                <a:cs typeface="Canva Sans"/>
                <a:sym typeface="Canva Sans"/>
              </a:rPr>
              <a:t>Active/Superseded status indicator.</a:t>
            </a:r>
          </a:p>
        </p:txBody>
      </p:sp>
      <p:sp>
        <p:nvSpPr>
          <p:cNvPr id="26" name="TextBox 26"/>
          <p:cNvSpPr txBox="1"/>
          <p:nvPr/>
        </p:nvSpPr>
        <p:spPr>
          <a:xfrm>
            <a:off x="10104896" y="8708802"/>
            <a:ext cx="5438614" cy="396240"/>
          </a:xfrm>
          <a:prstGeom prst="rect">
            <a:avLst/>
          </a:prstGeom>
        </p:spPr>
        <p:txBody>
          <a:bodyPr lIns="0" tIns="0" rIns="0" bIns="0" rtlCol="0" anchor="t">
            <a:spAutoFit/>
          </a:bodyPr>
          <a:lstStyle/>
          <a:p>
            <a:pPr algn="l">
              <a:lnSpc>
                <a:spcPts val="3359"/>
              </a:lnSpc>
            </a:pPr>
            <a:r>
              <a:rPr lang="en-US" sz="2400">
                <a:solidFill>
                  <a:srgbClr val="006763"/>
                </a:solidFill>
                <a:latin typeface="Canva Sans"/>
                <a:ea typeface="Canva Sans"/>
                <a:cs typeface="Canva Sans"/>
                <a:sym typeface="Canva Sans"/>
              </a:rPr>
              <a:t>Confidence score of the extraction.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305265" y="640319"/>
            <a:ext cx="7305773" cy="1792672"/>
          </a:xfrm>
          <a:custGeom>
            <a:avLst/>
            <a:gdLst/>
            <a:ahLst/>
            <a:cxnLst/>
            <a:rect l="l" t="t" r="r" b="b"/>
            <a:pathLst>
              <a:path w="7305773" h="1792672">
                <a:moveTo>
                  <a:pt x="0" y="0"/>
                </a:moveTo>
                <a:lnTo>
                  <a:pt x="7305773" y="0"/>
                </a:lnTo>
                <a:lnTo>
                  <a:pt x="7305773" y="1792672"/>
                </a:lnTo>
                <a:lnTo>
                  <a:pt x="0" y="1792672"/>
                </a:lnTo>
                <a:lnTo>
                  <a:pt x="0" y="0"/>
                </a:lnTo>
                <a:close/>
              </a:path>
            </a:pathLst>
          </a:custGeom>
          <a:blipFill>
            <a:blip r:embed="rId3"/>
            <a:stretch>
              <a:fillRect t="-7952" b="-2591"/>
            </a:stretch>
          </a:blipFill>
        </p:spPr>
      </p:sp>
      <p:sp>
        <p:nvSpPr>
          <p:cNvPr id="4" name="Freeform 4"/>
          <p:cNvSpPr/>
          <p:nvPr/>
        </p:nvSpPr>
        <p:spPr>
          <a:xfrm>
            <a:off x="659312" y="3264979"/>
            <a:ext cx="7595304" cy="4082188"/>
          </a:xfrm>
          <a:custGeom>
            <a:avLst/>
            <a:gdLst/>
            <a:ahLst/>
            <a:cxnLst/>
            <a:rect l="l" t="t" r="r" b="b"/>
            <a:pathLst>
              <a:path w="7595304" h="4082188">
                <a:moveTo>
                  <a:pt x="0" y="0"/>
                </a:moveTo>
                <a:lnTo>
                  <a:pt x="7595304" y="0"/>
                </a:lnTo>
                <a:lnTo>
                  <a:pt x="7595304" y="4082187"/>
                </a:lnTo>
                <a:lnTo>
                  <a:pt x="0" y="4082187"/>
                </a:lnTo>
                <a:lnTo>
                  <a:pt x="0" y="0"/>
                </a:lnTo>
                <a:close/>
              </a:path>
            </a:pathLst>
          </a:custGeom>
          <a:blipFill>
            <a:blip r:embed="rId4"/>
            <a:stretch>
              <a:fillRect l="-19728" t="-20192" r="-27769" b="-12471"/>
            </a:stretch>
          </a:blipFill>
        </p:spPr>
      </p:sp>
      <p:sp>
        <p:nvSpPr>
          <p:cNvPr id="5" name="Freeform 5"/>
          <p:cNvSpPr/>
          <p:nvPr/>
        </p:nvSpPr>
        <p:spPr>
          <a:xfrm>
            <a:off x="8818187" y="1072117"/>
            <a:ext cx="8719217" cy="4233956"/>
          </a:xfrm>
          <a:custGeom>
            <a:avLst/>
            <a:gdLst/>
            <a:ahLst/>
            <a:cxnLst/>
            <a:rect l="l" t="t" r="r" b="b"/>
            <a:pathLst>
              <a:path w="8719217" h="4233956">
                <a:moveTo>
                  <a:pt x="0" y="0"/>
                </a:moveTo>
                <a:lnTo>
                  <a:pt x="8719217" y="0"/>
                </a:lnTo>
                <a:lnTo>
                  <a:pt x="8719217" y="4233956"/>
                </a:lnTo>
                <a:lnTo>
                  <a:pt x="0" y="4233956"/>
                </a:lnTo>
                <a:lnTo>
                  <a:pt x="0" y="0"/>
                </a:lnTo>
                <a:close/>
              </a:path>
            </a:pathLst>
          </a:custGeom>
          <a:blipFill>
            <a:blip r:embed="rId5"/>
            <a:stretch>
              <a:fillRect/>
            </a:stretch>
          </a:blipFill>
        </p:spPr>
      </p:sp>
      <p:sp>
        <p:nvSpPr>
          <p:cNvPr id="6" name="Freeform 6"/>
          <p:cNvSpPr/>
          <p:nvPr/>
        </p:nvSpPr>
        <p:spPr>
          <a:xfrm>
            <a:off x="8818187" y="6184754"/>
            <a:ext cx="8719217" cy="4209653"/>
          </a:xfrm>
          <a:custGeom>
            <a:avLst/>
            <a:gdLst/>
            <a:ahLst/>
            <a:cxnLst/>
            <a:rect l="l" t="t" r="r" b="b"/>
            <a:pathLst>
              <a:path w="8719217" h="4209653">
                <a:moveTo>
                  <a:pt x="0" y="0"/>
                </a:moveTo>
                <a:lnTo>
                  <a:pt x="8719217" y="0"/>
                </a:lnTo>
                <a:lnTo>
                  <a:pt x="8719217" y="4209654"/>
                </a:lnTo>
                <a:lnTo>
                  <a:pt x="0" y="4209654"/>
                </a:lnTo>
                <a:lnTo>
                  <a:pt x="0" y="0"/>
                </a:lnTo>
                <a:close/>
              </a:path>
            </a:pathLst>
          </a:custGeom>
          <a:blipFill>
            <a:blip r:embed="rId6"/>
            <a:stretch>
              <a:fillRect/>
            </a:stretch>
          </a:blipFill>
        </p:spPr>
      </p:sp>
      <p:sp>
        <p:nvSpPr>
          <p:cNvPr id="7" name="TextBox 7"/>
          <p:cNvSpPr txBox="1"/>
          <p:nvPr/>
        </p:nvSpPr>
        <p:spPr>
          <a:xfrm>
            <a:off x="517281" y="948565"/>
            <a:ext cx="5227853" cy="992505"/>
          </a:xfrm>
          <a:prstGeom prst="rect">
            <a:avLst/>
          </a:prstGeom>
        </p:spPr>
        <p:txBody>
          <a:bodyPr lIns="0" tIns="0" rIns="0" bIns="0" rtlCol="0" anchor="t">
            <a:spAutoFit/>
          </a:bodyPr>
          <a:lstStyle/>
          <a:p>
            <a:pPr algn="l">
              <a:lnSpc>
                <a:spcPts val="7560"/>
              </a:lnSpc>
            </a:pPr>
            <a:r>
              <a:rPr lang="en-US" sz="7200" b="1" dirty="0">
                <a:solidFill>
                  <a:srgbClr val="006763"/>
                </a:solidFill>
                <a:latin typeface="Bebas Neue Bold"/>
                <a:ea typeface="Bebas Neue Bold"/>
                <a:cs typeface="Bebas Neue Bold"/>
                <a:sym typeface="Bebas Neue Bold"/>
              </a:rPr>
              <a:t>FEATURE DEMO</a:t>
            </a:r>
          </a:p>
        </p:txBody>
      </p:sp>
      <p:grpSp>
        <p:nvGrpSpPr>
          <p:cNvPr id="8" name="Group 8"/>
          <p:cNvGrpSpPr/>
          <p:nvPr/>
        </p:nvGrpSpPr>
        <p:grpSpPr>
          <a:xfrm>
            <a:off x="679602" y="2358089"/>
            <a:ext cx="651627" cy="821532"/>
            <a:chOff x="0" y="0"/>
            <a:chExt cx="171622" cy="216371"/>
          </a:xfrm>
        </p:grpSpPr>
        <p:sp>
          <p:nvSpPr>
            <p:cNvPr id="9" name="Freeform 9"/>
            <p:cNvSpPr/>
            <p:nvPr/>
          </p:nvSpPr>
          <p:spPr>
            <a:xfrm>
              <a:off x="0" y="0"/>
              <a:ext cx="171622" cy="216371"/>
            </a:xfrm>
            <a:custGeom>
              <a:avLst/>
              <a:gdLst/>
              <a:ahLst/>
              <a:cxnLst/>
              <a:rect l="l" t="t" r="r" b="b"/>
              <a:pathLst>
                <a:path w="171622" h="216371">
                  <a:moveTo>
                    <a:pt x="85811" y="0"/>
                  </a:moveTo>
                  <a:lnTo>
                    <a:pt x="85811" y="0"/>
                  </a:lnTo>
                  <a:cubicBezTo>
                    <a:pt x="108569" y="0"/>
                    <a:pt x="130396" y="9041"/>
                    <a:pt x="146488" y="25133"/>
                  </a:cubicBezTo>
                  <a:cubicBezTo>
                    <a:pt x="162581" y="41226"/>
                    <a:pt x="171622" y="63052"/>
                    <a:pt x="171622" y="85811"/>
                  </a:cubicBezTo>
                  <a:lnTo>
                    <a:pt x="171622" y="130560"/>
                  </a:lnTo>
                  <a:cubicBezTo>
                    <a:pt x="171622" y="177952"/>
                    <a:pt x="133203" y="216371"/>
                    <a:pt x="85811" y="216371"/>
                  </a:cubicBezTo>
                  <a:lnTo>
                    <a:pt x="85811" y="216371"/>
                  </a:lnTo>
                  <a:cubicBezTo>
                    <a:pt x="38419" y="216371"/>
                    <a:pt x="0" y="177952"/>
                    <a:pt x="0" y="130560"/>
                  </a:cubicBezTo>
                  <a:lnTo>
                    <a:pt x="0" y="85811"/>
                  </a:lnTo>
                  <a:cubicBezTo>
                    <a:pt x="0" y="38419"/>
                    <a:pt x="38419" y="0"/>
                    <a:pt x="85811" y="0"/>
                  </a:cubicBezTo>
                  <a:close/>
                </a:path>
              </a:pathLst>
            </a:custGeom>
            <a:solidFill>
              <a:srgbClr val="4EA069"/>
            </a:solidFill>
          </p:spPr>
        </p:sp>
        <p:sp>
          <p:nvSpPr>
            <p:cNvPr id="10" name="TextBox 10"/>
            <p:cNvSpPr txBox="1"/>
            <p:nvPr/>
          </p:nvSpPr>
          <p:spPr>
            <a:xfrm>
              <a:off x="0" y="-38100"/>
              <a:ext cx="171622" cy="254471"/>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679602" y="2507893"/>
            <a:ext cx="655517" cy="455250"/>
          </a:xfrm>
          <a:prstGeom prst="rect">
            <a:avLst/>
          </a:prstGeom>
        </p:spPr>
        <p:txBody>
          <a:bodyPr lIns="0" tIns="0" rIns="0" bIns="0" rtlCol="0" anchor="t">
            <a:spAutoFit/>
          </a:bodyPr>
          <a:lstStyle/>
          <a:p>
            <a:pPr algn="ctr">
              <a:lnSpc>
                <a:spcPts val="3628"/>
              </a:lnSpc>
            </a:pPr>
            <a:r>
              <a:rPr lang="en-US" sz="2573" b="1">
                <a:solidFill>
                  <a:srgbClr val="FFFFFF"/>
                </a:solidFill>
                <a:latin typeface="Roboto Bold"/>
                <a:ea typeface="Roboto Bold"/>
                <a:cs typeface="Roboto Bold"/>
                <a:sym typeface="Roboto Bold"/>
              </a:rPr>
              <a:t>01</a:t>
            </a:r>
          </a:p>
        </p:txBody>
      </p:sp>
      <p:grpSp>
        <p:nvGrpSpPr>
          <p:cNvPr id="12" name="Group 12"/>
          <p:cNvGrpSpPr/>
          <p:nvPr/>
        </p:nvGrpSpPr>
        <p:grpSpPr>
          <a:xfrm>
            <a:off x="8803003" y="226885"/>
            <a:ext cx="647760" cy="816657"/>
            <a:chOff x="0" y="0"/>
            <a:chExt cx="171622" cy="216371"/>
          </a:xfrm>
        </p:grpSpPr>
        <p:sp>
          <p:nvSpPr>
            <p:cNvPr id="13" name="Freeform 13"/>
            <p:cNvSpPr/>
            <p:nvPr/>
          </p:nvSpPr>
          <p:spPr>
            <a:xfrm>
              <a:off x="0" y="0"/>
              <a:ext cx="171622" cy="216371"/>
            </a:xfrm>
            <a:custGeom>
              <a:avLst/>
              <a:gdLst/>
              <a:ahLst/>
              <a:cxnLst/>
              <a:rect l="l" t="t" r="r" b="b"/>
              <a:pathLst>
                <a:path w="171622" h="216371">
                  <a:moveTo>
                    <a:pt x="85811" y="0"/>
                  </a:moveTo>
                  <a:lnTo>
                    <a:pt x="85811" y="0"/>
                  </a:lnTo>
                  <a:cubicBezTo>
                    <a:pt x="108569" y="0"/>
                    <a:pt x="130396" y="9041"/>
                    <a:pt x="146488" y="25133"/>
                  </a:cubicBezTo>
                  <a:cubicBezTo>
                    <a:pt x="162581" y="41226"/>
                    <a:pt x="171622" y="63052"/>
                    <a:pt x="171622" y="85811"/>
                  </a:cubicBezTo>
                  <a:lnTo>
                    <a:pt x="171622" y="130560"/>
                  </a:lnTo>
                  <a:cubicBezTo>
                    <a:pt x="171622" y="177952"/>
                    <a:pt x="133203" y="216371"/>
                    <a:pt x="85811" y="216371"/>
                  </a:cubicBezTo>
                  <a:lnTo>
                    <a:pt x="85811" y="216371"/>
                  </a:lnTo>
                  <a:cubicBezTo>
                    <a:pt x="38419" y="216371"/>
                    <a:pt x="0" y="177952"/>
                    <a:pt x="0" y="130560"/>
                  </a:cubicBezTo>
                  <a:lnTo>
                    <a:pt x="0" y="85811"/>
                  </a:lnTo>
                  <a:cubicBezTo>
                    <a:pt x="0" y="38419"/>
                    <a:pt x="38419" y="0"/>
                    <a:pt x="85811" y="0"/>
                  </a:cubicBezTo>
                  <a:close/>
                </a:path>
              </a:pathLst>
            </a:custGeom>
            <a:solidFill>
              <a:srgbClr val="4EA069"/>
            </a:solidFill>
          </p:spPr>
        </p:sp>
        <p:sp>
          <p:nvSpPr>
            <p:cNvPr id="14" name="TextBox 14"/>
            <p:cNvSpPr txBox="1"/>
            <p:nvPr/>
          </p:nvSpPr>
          <p:spPr>
            <a:xfrm>
              <a:off x="0" y="-38100"/>
              <a:ext cx="171622" cy="254471"/>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8799137" y="390846"/>
            <a:ext cx="651627" cy="452944"/>
          </a:xfrm>
          <a:prstGeom prst="rect">
            <a:avLst/>
          </a:prstGeom>
        </p:spPr>
        <p:txBody>
          <a:bodyPr lIns="0" tIns="0" rIns="0" bIns="0" rtlCol="0" anchor="t">
            <a:spAutoFit/>
          </a:bodyPr>
          <a:lstStyle/>
          <a:p>
            <a:pPr algn="ctr">
              <a:lnSpc>
                <a:spcPts val="3606"/>
              </a:lnSpc>
            </a:pPr>
            <a:r>
              <a:rPr lang="en-US" sz="2557" b="1">
                <a:solidFill>
                  <a:srgbClr val="FFFFFF"/>
                </a:solidFill>
                <a:latin typeface="Roboto Bold"/>
                <a:ea typeface="Roboto Bold"/>
                <a:cs typeface="Roboto Bold"/>
                <a:sym typeface="Roboto Bold"/>
              </a:rPr>
              <a:t>02</a:t>
            </a:r>
          </a:p>
        </p:txBody>
      </p:sp>
      <p:grpSp>
        <p:nvGrpSpPr>
          <p:cNvPr id="16" name="Group 16"/>
          <p:cNvGrpSpPr/>
          <p:nvPr/>
        </p:nvGrpSpPr>
        <p:grpSpPr>
          <a:xfrm>
            <a:off x="8818187" y="5334648"/>
            <a:ext cx="651627" cy="821532"/>
            <a:chOff x="0" y="0"/>
            <a:chExt cx="171622" cy="216371"/>
          </a:xfrm>
        </p:grpSpPr>
        <p:sp>
          <p:nvSpPr>
            <p:cNvPr id="17" name="Freeform 17"/>
            <p:cNvSpPr/>
            <p:nvPr/>
          </p:nvSpPr>
          <p:spPr>
            <a:xfrm>
              <a:off x="0" y="0"/>
              <a:ext cx="171622" cy="216371"/>
            </a:xfrm>
            <a:custGeom>
              <a:avLst/>
              <a:gdLst/>
              <a:ahLst/>
              <a:cxnLst/>
              <a:rect l="l" t="t" r="r" b="b"/>
              <a:pathLst>
                <a:path w="171622" h="216371">
                  <a:moveTo>
                    <a:pt x="85811" y="0"/>
                  </a:moveTo>
                  <a:lnTo>
                    <a:pt x="85811" y="0"/>
                  </a:lnTo>
                  <a:cubicBezTo>
                    <a:pt x="108569" y="0"/>
                    <a:pt x="130396" y="9041"/>
                    <a:pt x="146488" y="25133"/>
                  </a:cubicBezTo>
                  <a:cubicBezTo>
                    <a:pt x="162581" y="41226"/>
                    <a:pt x="171622" y="63052"/>
                    <a:pt x="171622" y="85811"/>
                  </a:cubicBezTo>
                  <a:lnTo>
                    <a:pt x="171622" y="130560"/>
                  </a:lnTo>
                  <a:cubicBezTo>
                    <a:pt x="171622" y="177952"/>
                    <a:pt x="133203" y="216371"/>
                    <a:pt x="85811" y="216371"/>
                  </a:cubicBezTo>
                  <a:lnTo>
                    <a:pt x="85811" y="216371"/>
                  </a:lnTo>
                  <a:cubicBezTo>
                    <a:pt x="38419" y="216371"/>
                    <a:pt x="0" y="177952"/>
                    <a:pt x="0" y="130560"/>
                  </a:cubicBezTo>
                  <a:lnTo>
                    <a:pt x="0" y="85811"/>
                  </a:lnTo>
                  <a:cubicBezTo>
                    <a:pt x="0" y="38419"/>
                    <a:pt x="38419" y="0"/>
                    <a:pt x="85811" y="0"/>
                  </a:cubicBezTo>
                  <a:close/>
                </a:path>
              </a:pathLst>
            </a:custGeom>
            <a:solidFill>
              <a:srgbClr val="4EA069"/>
            </a:solidFill>
          </p:spPr>
        </p:sp>
        <p:sp>
          <p:nvSpPr>
            <p:cNvPr id="18" name="TextBox 18"/>
            <p:cNvSpPr txBox="1"/>
            <p:nvPr/>
          </p:nvSpPr>
          <p:spPr>
            <a:xfrm>
              <a:off x="0" y="-38100"/>
              <a:ext cx="171622" cy="254471"/>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9"/>
          <p:cNvSpPr txBox="1"/>
          <p:nvPr/>
        </p:nvSpPr>
        <p:spPr>
          <a:xfrm>
            <a:off x="8818187" y="5484451"/>
            <a:ext cx="655517" cy="455250"/>
          </a:xfrm>
          <a:prstGeom prst="rect">
            <a:avLst/>
          </a:prstGeom>
        </p:spPr>
        <p:txBody>
          <a:bodyPr lIns="0" tIns="0" rIns="0" bIns="0" rtlCol="0" anchor="t">
            <a:spAutoFit/>
          </a:bodyPr>
          <a:lstStyle/>
          <a:p>
            <a:pPr algn="ctr">
              <a:lnSpc>
                <a:spcPts val="3628"/>
              </a:lnSpc>
            </a:pPr>
            <a:r>
              <a:rPr lang="en-US" sz="2573" b="1">
                <a:solidFill>
                  <a:srgbClr val="FFFFFF"/>
                </a:solidFill>
                <a:latin typeface="Roboto Bold"/>
                <a:ea typeface="Roboto Bold"/>
                <a:cs typeface="Roboto Bold"/>
                <a:sym typeface="Roboto Bold"/>
              </a:rPr>
              <a:t>03</a:t>
            </a:r>
          </a:p>
        </p:txBody>
      </p:sp>
      <p:sp>
        <p:nvSpPr>
          <p:cNvPr id="20" name="TextBox 20"/>
          <p:cNvSpPr txBox="1"/>
          <p:nvPr/>
        </p:nvSpPr>
        <p:spPr>
          <a:xfrm>
            <a:off x="1413015" y="2374520"/>
            <a:ext cx="6087898" cy="712470"/>
          </a:xfrm>
          <a:prstGeom prst="rect">
            <a:avLst/>
          </a:prstGeom>
        </p:spPr>
        <p:txBody>
          <a:bodyPr lIns="0" tIns="0" rIns="0" bIns="0" rtlCol="0" anchor="t">
            <a:spAutoFit/>
          </a:bodyPr>
          <a:lstStyle/>
          <a:p>
            <a:pPr algn="l">
              <a:lnSpc>
                <a:spcPts val="5880"/>
              </a:lnSpc>
            </a:pPr>
            <a:r>
              <a:rPr lang="en-US" sz="4200" b="1">
                <a:solidFill>
                  <a:srgbClr val="006763"/>
                </a:solidFill>
                <a:latin typeface="Canva Sans Bold"/>
                <a:ea typeface="Canva Sans Bold"/>
                <a:cs typeface="Canva Sans Bold"/>
                <a:sym typeface="Canva Sans Bold"/>
              </a:rPr>
              <a:t>Login Page</a:t>
            </a:r>
          </a:p>
        </p:txBody>
      </p:sp>
      <p:sp>
        <p:nvSpPr>
          <p:cNvPr id="21" name="TextBox 21"/>
          <p:cNvSpPr txBox="1"/>
          <p:nvPr/>
        </p:nvSpPr>
        <p:spPr>
          <a:xfrm>
            <a:off x="9600305" y="240879"/>
            <a:ext cx="6087898" cy="712470"/>
          </a:xfrm>
          <a:prstGeom prst="rect">
            <a:avLst/>
          </a:prstGeom>
        </p:spPr>
        <p:txBody>
          <a:bodyPr lIns="0" tIns="0" rIns="0" bIns="0" rtlCol="0" anchor="t">
            <a:spAutoFit/>
          </a:bodyPr>
          <a:lstStyle/>
          <a:p>
            <a:pPr algn="l">
              <a:lnSpc>
                <a:spcPts val="5880"/>
              </a:lnSpc>
            </a:pPr>
            <a:r>
              <a:rPr lang="en-US" sz="4200" b="1">
                <a:solidFill>
                  <a:srgbClr val="006763"/>
                </a:solidFill>
                <a:latin typeface="Canva Sans Bold"/>
                <a:ea typeface="Canva Sans Bold"/>
                <a:cs typeface="Canva Sans Bold"/>
                <a:sym typeface="Canva Sans Bold"/>
              </a:rPr>
              <a:t>Dashboard</a:t>
            </a:r>
          </a:p>
        </p:txBody>
      </p:sp>
      <p:sp>
        <p:nvSpPr>
          <p:cNvPr id="22" name="TextBox 22"/>
          <p:cNvSpPr txBox="1"/>
          <p:nvPr/>
        </p:nvSpPr>
        <p:spPr>
          <a:xfrm>
            <a:off x="9600305" y="5344173"/>
            <a:ext cx="6087898" cy="712470"/>
          </a:xfrm>
          <a:prstGeom prst="rect">
            <a:avLst/>
          </a:prstGeom>
        </p:spPr>
        <p:txBody>
          <a:bodyPr lIns="0" tIns="0" rIns="0" bIns="0" rtlCol="0" anchor="t">
            <a:spAutoFit/>
          </a:bodyPr>
          <a:lstStyle/>
          <a:p>
            <a:pPr algn="l">
              <a:lnSpc>
                <a:spcPts val="5880"/>
              </a:lnSpc>
            </a:pPr>
            <a:r>
              <a:rPr lang="en-US" sz="4200" b="1">
                <a:solidFill>
                  <a:srgbClr val="006763"/>
                </a:solidFill>
                <a:latin typeface="Canva Sans Bold"/>
                <a:ea typeface="Canva Sans Bold"/>
                <a:cs typeface="Canva Sans Bold"/>
                <a:sym typeface="Canva Sans Bold"/>
              </a:rPr>
              <a:t>GST Policy Assistant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flipH="1">
            <a:off x="-279123" y="370484"/>
            <a:ext cx="7897416" cy="1792672"/>
          </a:xfrm>
          <a:custGeom>
            <a:avLst/>
            <a:gdLst/>
            <a:ahLst/>
            <a:cxnLst/>
            <a:rect l="l" t="t" r="r" b="b"/>
            <a:pathLst>
              <a:path w="7897416" h="1792672">
                <a:moveTo>
                  <a:pt x="7897415" y="0"/>
                </a:moveTo>
                <a:lnTo>
                  <a:pt x="0" y="0"/>
                </a:lnTo>
                <a:lnTo>
                  <a:pt x="0" y="1792672"/>
                </a:lnTo>
                <a:lnTo>
                  <a:pt x="7897415" y="1792672"/>
                </a:lnTo>
                <a:lnTo>
                  <a:pt x="7897415" y="0"/>
                </a:lnTo>
                <a:close/>
              </a:path>
            </a:pathLst>
          </a:custGeom>
          <a:blipFill>
            <a:blip r:embed="rId3"/>
            <a:stretch>
              <a:fillRect t="-12645" b="-6850"/>
            </a:stretch>
          </a:blipFill>
        </p:spPr>
        <p:txBody>
          <a:bodyPr/>
          <a:lstStyle/>
          <a:p>
            <a:endParaRPr lang="en-IN" dirty="0"/>
          </a:p>
        </p:txBody>
      </p:sp>
      <p:sp>
        <p:nvSpPr>
          <p:cNvPr id="4" name="Freeform 4"/>
          <p:cNvSpPr/>
          <p:nvPr/>
        </p:nvSpPr>
        <p:spPr>
          <a:xfrm>
            <a:off x="0" y="2271115"/>
            <a:ext cx="18288000" cy="7504208"/>
          </a:xfrm>
          <a:custGeom>
            <a:avLst/>
            <a:gdLst/>
            <a:ahLst/>
            <a:cxnLst/>
            <a:rect l="l" t="t" r="r" b="b"/>
            <a:pathLst>
              <a:path w="18288000" h="7504208">
                <a:moveTo>
                  <a:pt x="0" y="0"/>
                </a:moveTo>
                <a:lnTo>
                  <a:pt x="18288000" y="0"/>
                </a:lnTo>
                <a:lnTo>
                  <a:pt x="18288000" y="7504208"/>
                </a:lnTo>
                <a:lnTo>
                  <a:pt x="0" y="7504208"/>
                </a:lnTo>
                <a:lnTo>
                  <a:pt x="0" y="0"/>
                </a:lnTo>
                <a:close/>
              </a:path>
            </a:pathLst>
          </a:custGeom>
          <a:blipFill>
            <a:blip r:embed="rId4"/>
            <a:stretch>
              <a:fillRect l="-15650" t="-252397" r="-13888"/>
            </a:stretch>
          </a:blipFill>
        </p:spPr>
      </p:sp>
      <p:grpSp>
        <p:nvGrpSpPr>
          <p:cNvPr id="5" name="Group 5"/>
          <p:cNvGrpSpPr/>
          <p:nvPr/>
        </p:nvGrpSpPr>
        <p:grpSpPr>
          <a:xfrm>
            <a:off x="8981679" y="2725075"/>
            <a:ext cx="651627" cy="821532"/>
            <a:chOff x="0" y="0"/>
            <a:chExt cx="171622" cy="216371"/>
          </a:xfrm>
        </p:grpSpPr>
        <p:sp>
          <p:nvSpPr>
            <p:cNvPr id="6" name="Freeform 6"/>
            <p:cNvSpPr/>
            <p:nvPr/>
          </p:nvSpPr>
          <p:spPr>
            <a:xfrm>
              <a:off x="0" y="0"/>
              <a:ext cx="171622" cy="216371"/>
            </a:xfrm>
            <a:custGeom>
              <a:avLst/>
              <a:gdLst/>
              <a:ahLst/>
              <a:cxnLst/>
              <a:rect l="l" t="t" r="r" b="b"/>
              <a:pathLst>
                <a:path w="171622" h="216371">
                  <a:moveTo>
                    <a:pt x="85811" y="0"/>
                  </a:moveTo>
                  <a:lnTo>
                    <a:pt x="85811" y="0"/>
                  </a:lnTo>
                  <a:cubicBezTo>
                    <a:pt x="108569" y="0"/>
                    <a:pt x="130396" y="9041"/>
                    <a:pt x="146488" y="25133"/>
                  </a:cubicBezTo>
                  <a:cubicBezTo>
                    <a:pt x="162581" y="41226"/>
                    <a:pt x="171622" y="63052"/>
                    <a:pt x="171622" y="85811"/>
                  </a:cubicBezTo>
                  <a:lnTo>
                    <a:pt x="171622" y="130560"/>
                  </a:lnTo>
                  <a:cubicBezTo>
                    <a:pt x="171622" y="177952"/>
                    <a:pt x="133203" y="216371"/>
                    <a:pt x="85811" y="216371"/>
                  </a:cubicBezTo>
                  <a:lnTo>
                    <a:pt x="85811" y="216371"/>
                  </a:lnTo>
                  <a:cubicBezTo>
                    <a:pt x="38419" y="216371"/>
                    <a:pt x="0" y="177952"/>
                    <a:pt x="0" y="130560"/>
                  </a:cubicBezTo>
                  <a:lnTo>
                    <a:pt x="0" y="85811"/>
                  </a:lnTo>
                  <a:cubicBezTo>
                    <a:pt x="0" y="38419"/>
                    <a:pt x="38419" y="0"/>
                    <a:pt x="85811" y="0"/>
                  </a:cubicBezTo>
                  <a:close/>
                </a:path>
              </a:pathLst>
            </a:custGeom>
            <a:solidFill>
              <a:srgbClr val="4EA069"/>
            </a:solidFill>
          </p:spPr>
        </p:sp>
        <p:sp>
          <p:nvSpPr>
            <p:cNvPr id="7" name="TextBox 7"/>
            <p:cNvSpPr txBox="1"/>
            <p:nvPr/>
          </p:nvSpPr>
          <p:spPr>
            <a:xfrm>
              <a:off x="0" y="-38100"/>
              <a:ext cx="171622" cy="254471"/>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8981679" y="4877718"/>
            <a:ext cx="651627" cy="821532"/>
            <a:chOff x="0" y="0"/>
            <a:chExt cx="171622" cy="216371"/>
          </a:xfrm>
        </p:grpSpPr>
        <p:sp>
          <p:nvSpPr>
            <p:cNvPr id="9" name="Freeform 9"/>
            <p:cNvSpPr/>
            <p:nvPr/>
          </p:nvSpPr>
          <p:spPr>
            <a:xfrm>
              <a:off x="0" y="0"/>
              <a:ext cx="171622" cy="216371"/>
            </a:xfrm>
            <a:custGeom>
              <a:avLst/>
              <a:gdLst/>
              <a:ahLst/>
              <a:cxnLst/>
              <a:rect l="l" t="t" r="r" b="b"/>
              <a:pathLst>
                <a:path w="171622" h="216371">
                  <a:moveTo>
                    <a:pt x="85811" y="0"/>
                  </a:moveTo>
                  <a:lnTo>
                    <a:pt x="85811" y="0"/>
                  </a:lnTo>
                  <a:cubicBezTo>
                    <a:pt x="108569" y="0"/>
                    <a:pt x="130396" y="9041"/>
                    <a:pt x="146488" y="25133"/>
                  </a:cubicBezTo>
                  <a:cubicBezTo>
                    <a:pt x="162581" y="41226"/>
                    <a:pt x="171622" y="63052"/>
                    <a:pt x="171622" y="85811"/>
                  </a:cubicBezTo>
                  <a:lnTo>
                    <a:pt x="171622" y="130560"/>
                  </a:lnTo>
                  <a:cubicBezTo>
                    <a:pt x="171622" y="177952"/>
                    <a:pt x="133203" y="216371"/>
                    <a:pt x="85811" y="216371"/>
                  </a:cubicBezTo>
                  <a:lnTo>
                    <a:pt x="85811" y="216371"/>
                  </a:lnTo>
                  <a:cubicBezTo>
                    <a:pt x="38419" y="216371"/>
                    <a:pt x="0" y="177952"/>
                    <a:pt x="0" y="130560"/>
                  </a:cubicBezTo>
                  <a:lnTo>
                    <a:pt x="0" y="85811"/>
                  </a:lnTo>
                  <a:cubicBezTo>
                    <a:pt x="0" y="38419"/>
                    <a:pt x="38419" y="0"/>
                    <a:pt x="85811" y="0"/>
                  </a:cubicBezTo>
                  <a:close/>
                </a:path>
              </a:pathLst>
            </a:custGeom>
            <a:solidFill>
              <a:srgbClr val="4EA069"/>
            </a:solidFill>
          </p:spPr>
        </p:sp>
        <p:sp>
          <p:nvSpPr>
            <p:cNvPr id="10" name="TextBox 10"/>
            <p:cNvSpPr txBox="1"/>
            <p:nvPr/>
          </p:nvSpPr>
          <p:spPr>
            <a:xfrm>
              <a:off x="0" y="-38100"/>
              <a:ext cx="171622" cy="254471"/>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8981679" y="7112824"/>
            <a:ext cx="651627" cy="821532"/>
            <a:chOff x="0" y="0"/>
            <a:chExt cx="171622" cy="216371"/>
          </a:xfrm>
        </p:grpSpPr>
        <p:sp>
          <p:nvSpPr>
            <p:cNvPr id="12" name="Freeform 12"/>
            <p:cNvSpPr/>
            <p:nvPr/>
          </p:nvSpPr>
          <p:spPr>
            <a:xfrm>
              <a:off x="0" y="0"/>
              <a:ext cx="171622" cy="216371"/>
            </a:xfrm>
            <a:custGeom>
              <a:avLst/>
              <a:gdLst/>
              <a:ahLst/>
              <a:cxnLst/>
              <a:rect l="l" t="t" r="r" b="b"/>
              <a:pathLst>
                <a:path w="171622" h="216371">
                  <a:moveTo>
                    <a:pt x="85811" y="0"/>
                  </a:moveTo>
                  <a:lnTo>
                    <a:pt x="85811" y="0"/>
                  </a:lnTo>
                  <a:cubicBezTo>
                    <a:pt x="108569" y="0"/>
                    <a:pt x="130396" y="9041"/>
                    <a:pt x="146488" y="25133"/>
                  </a:cubicBezTo>
                  <a:cubicBezTo>
                    <a:pt x="162581" y="41226"/>
                    <a:pt x="171622" y="63052"/>
                    <a:pt x="171622" y="85811"/>
                  </a:cubicBezTo>
                  <a:lnTo>
                    <a:pt x="171622" y="130560"/>
                  </a:lnTo>
                  <a:cubicBezTo>
                    <a:pt x="171622" y="177952"/>
                    <a:pt x="133203" y="216371"/>
                    <a:pt x="85811" y="216371"/>
                  </a:cubicBezTo>
                  <a:lnTo>
                    <a:pt x="85811" y="216371"/>
                  </a:lnTo>
                  <a:cubicBezTo>
                    <a:pt x="38419" y="216371"/>
                    <a:pt x="0" y="177952"/>
                    <a:pt x="0" y="130560"/>
                  </a:cubicBezTo>
                  <a:lnTo>
                    <a:pt x="0" y="85811"/>
                  </a:lnTo>
                  <a:cubicBezTo>
                    <a:pt x="0" y="38419"/>
                    <a:pt x="38419" y="0"/>
                    <a:pt x="85811" y="0"/>
                  </a:cubicBezTo>
                  <a:close/>
                </a:path>
              </a:pathLst>
            </a:custGeom>
            <a:solidFill>
              <a:srgbClr val="4EA069"/>
            </a:solidFill>
          </p:spPr>
        </p:sp>
        <p:sp>
          <p:nvSpPr>
            <p:cNvPr id="13" name="TextBox 13"/>
            <p:cNvSpPr txBox="1"/>
            <p:nvPr/>
          </p:nvSpPr>
          <p:spPr>
            <a:xfrm>
              <a:off x="0" y="-38100"/>
              <a:ext cx="171622" cy="254471"/>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0" y="2315332"/>
            <a:ext cx="8776460" cy="7459991"/>
          </a:xfrm>
          <a:custGeom>
            <a:avLst/>
            <a:gdLst/>
            <a:ahLst/>
            <a:cxnLst/>
            <a:rect l="l" t="t" r="r" b="b"/>
            <a:pathLst>
              <a:path w="8776460" h="7459991">
                <a:moveTo>
                  <a:pt x="0" y="0"/>
                </a:moveTo>
                <a:lnTo>
                  <a:pt x="8776460" y="0"/>
                </a:lnTo>
                <a:lnTo>
                  <a:pt x="8776460" y="7459991"/>
                </a:lnTo>
                <a:lnTo>
                  <a:pt x="0" y="745999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5" name="TextBox 15"/>
          <p:cNvSpPr txBox="1"/>
          <p:nvPr/>
        </p:nvSpPr>
        <p:spPr>
          <a:xfrm>
            <a:off x="488707" y="774378"/>
            <a:ext cx="6361757" cy="984885"/>
          </a:xfrm>
          <a:prstGeom prst="rect">
            <a:avLst/>
          </a:prstGeom>
        </p:spPr>
        <p:txBody>
          <a:bodyPr lIns="0" tIns="0" rIns="0" bIns="0" rtlCol="0" anchor="t">
            <a:spAutoFit/>
          </a:bodyPr>
          <a:lstStyle/>
          <a:p>
            <a:pPr algn="l">
              <a:lnSpc>
                <a:spcPts val="7560"/>
              </a:lnSpc>
            </a:pPr>
            <a:r>
              <a:rPr lang="en-US" sz="7200" b="1">
                <a:solidFill>
                  <a:srgbClr val="006763"/>
                </a:solidFill>
                <a:latin typeface="Bebas Neue Bold"/>
                <a:ea typeface="Bebas Neue Bold"/>
                <a:cs typeface="Bebas Neue Bold"/>
                <a:sym typeface="Bebas Neue Bold"/>
              </a:rPr>
              <a:t>EVALUATION &amp; QUALITY</a:t>
            </a:r>
          </a:p>
        </p:txBody>
      </p:sp>
      <p:sp>
        <p:nvSpPr>
          <p:cNvPr id="16" name="TextBox 16"/>
          <p:cNvSpPr txBox="1"/>
          <p:nvPr/>
        </p:nvSpPr>
        <p:spPr>
          <a:xfrm>
            <a:off x="9994525" y="2658400"/>
            <a:ext cx="7102454" cy="1369650"/>
          </a:xfrm>
          <a:prstGeom prst="rect">
            <a:avLst/>
          </a:prstGeom>
        </p:spPr>
        <p:txBody>
          <a:bodyPr lIns="0" tIns="0" rIns="0" bIns="0" rtlCol="0" anchor="t">
            <a:spAutoFit/>
          </a:bodyPr>
          <a:lstStyle/>
          <a:p>
            <a:pPr algn="l">
              <a:lnSpc>
                <a:spcPts val="3628"/>
              </a:lnSpc>
            </a:pPr>
            <a:r>
              <a:rPr lang="en-US" sz="2573" b="1">
                <a:solidFill>
                  <a:srgbClr val="006763"/>
                </a:solidFill>
                <a:latin typeface="Roboto Bold"/>
                <a:ea typeface="Roboto Bold"/>
                <a:cs typeface="Roboto Bold"/>
                <a:sym typeface="Roboto Bold"/>
              </a:rPr>
              <a:t>Automated Testing: </a:t>
            </a:r>
          </a:p>
          <a:p>
            <a:pPr algn="l">
              <a:lnSpc>
                <a:spcPts val="3628"/>
              </a:lnSpc>
            </a:pPr>
            <a:r>
              <a:rPr lang="en-US" sz="2573">
                <a:solidFill>
                  <a:srgbClr val="006763"/>
                </a:solidFill>
                <a:latin typeface="Roboto"/>
                <a:ea typeface="Roboto"/>
                <a:cs typeface="Roboto"/>
                <a:sym typeface="Roboto"/>
              </a:rPr>
              <a:t>Pytest suite continuously measures search accuracy, lineage resolution, and access control.</a:t>
            </a:r>
          </a:p>
        </p:txBody>
      </p:sp>
      <p:sp>
        <p:nvSpPr>
          <p:cNvPr id="17" name="TextBox 17"/>
          <p:cNvSpPr txBox="1"/>
          <p:nvPr/>
        </p:nvSpPr>
        <p:spPr>
          <a:xfrm>
            <a:off x="8981679" y="2874878"/>
            <a:ext cx="655517" cy="455250"/>
          </a:xfrm>
          <a:prstGeom prst="rect">
            <a:avLst/>
          </a:prstGeom>
        </p:spPr>
        <p:txBody>
          <a:bodyPr lIns="0" tIns="0" rIns="0" bIns="0" rtlCol="0" anchor="t">
            <a:spAutoFit/>
          </a:bodyPr>
          <a:lstStyle/>
          <a:p>
            <a:pPr algn="ctr">
              <a:lnSpc>
                <a:spcPts val="3628"/>
              </a:lnSpc>
            </a:pPr>
            <a:r>
              <a:rPr lang="en-US" sz="2573" b="1">
                <a:solidFill>
                  <a:srgbClr val="FFFFFF"/>
                </a:solidFill>
                <a:latin typeface="Roboto Bold"/>
                <a:ea typeface="Roboto Bold"/>
                <a:cs typeface="Roboto Bold"/>
                <a:sym typeface="Roboto Bold"/>
              </a:rPr>
              <a:t>01</a:t>
            </a:r>
          </a:p>
        </p:txBody>
      </p:sp>
      <p:sp>
        <p:nvSpPr>
          <p:cNvPr id="18" name="TextBox 18"/>
          <p:cNvSpPr txBox="1"/>
          <p:nvPr/>
        </p:nvSpPr>
        <p:spPr>
          <a:xfrm>
            <a:off x="8981679" y="5027522"/>
            <a:ext cx="655517" cy="455250"/>
          </a:xfrm>
          <a:prstGeom prst="rect">
            <a:avLst/>
          </a:prstGeom>
        </p:spPr>
        <p:txBody>
          <a:bodyPr lIns="0" tIns="0" rIns="0" bIns="0" rtlCol="0" anchor="t">
            <a:spAutoFit/>
          </a:bodyPr>
          <a:lstStyle/>
          <a:p>
            <a:pPr algn="ctr">
              <a:lnSpc>
                <a:spcPts val="3628"/>
              </a:lnSpc>
            </a:pPr>
            <a:r>
              <a:rPr lang="en-US" sz="2573" b="1">
                <a:solidFill>
                  <a:srgbClr val="FFFFFF"/>
                </a:solidFill>
                <a:latin typeface="Roboto Bold"/>
                <a:ea typeface="Roboto Bold"/>
                <a:cs typeface="Roboto Bold"/>
                <a:sym typeface="Roboto Bold"/>
              </a:rPr>
              <a:t>02</a:t>
            </a:r>
          </a:p>
        </p:txBody>
      </p:sp>
      <p:sp>
        <p:nvSpPr>
          <p:cNvPr id="19" name="TextBox 19"/>
          <p:cNvSpPr txBox="1"/>
          <p:nvPr/>
        </p:nvSpPr>
        <p:spPr>
          <a:xfrm>
            <a:off x="8981679" y="7262627"/>
            <a:ext cx="655517" cy="455250"/>
          </a:xfrm>
          <a:prstGeom prst="rect">
            <a:avLst/>
          </a:prstGeom>
        </p:spPr>
        <p:txBody>
          <a:bodyPr lIns="0" tIns="0" rIns="0" bIns="0" rtlCol="0" anchor="t">
            <a:spAutoFit/>
          </a:bodyPr>
          <a:lstStyle/>
          <a:p>
            <a:pPr algn="ctr">
              <a:lnSpc>
                <a:spcPts val="3628"/>
              </a:lnSpc>
            </a:pPr>
            <a:r>
              <a:rPr lang="en-US" sz="2573" b="1">
                <a:solidFill>
                  <a:srgbClr val="FFFFFF"/>
                </a:solidFill>
                <a:latin typeface="Roboto Bold"/>
                <a:ea typeface="Roboto Bold"/>
                <a:cs typeface="Roboto Bold"/>
                <a:sym typeface="Roboto Bold"/>
              </a:rPr>
              <a:t>03</a:t>
            </a:r>
          </a:p>
        </p:txBody>
      </p:sp>
      <p:sp>
        <p:nvSpPr>
          <p:cNvPr id="20" name="TextBox 20"/>
          <p:cNvSpPr txBox="1"/>
          <p:nvPr/>
        </p:nvSpPr>
        <p:spPr>
          <a:xfrm>
            <a:off x="9994525" y="4811043"/>
            <a:ext cx="7102454" cy="1826850"/>
          </a:xfrm>
          <a:prstGeom prst="rect">
            <a:avLst/>
          </a:prstGeom>
        </p:spPr>
        <p:txBody>
          <a:bodyPr lIns="0" tIns="0" rIns="0" bIns="0" rtlCol="0" anchor="t">
            <a:spAutoFit/>
          </a:bodyPr>
          <a:lstStyle/>
          <a:p>
            <a:pPr algn="l">
              <a:lnSpc>
                <a:spcPts val="3628"/>
              </a:lnSpc>
            </a:pPr>
            <a:r>
              <a:rPr lang="en-US" sz="2573" b="1">
                <a:solidFill>
                  <a:srgbClr val="006763"/>
                </a:solidFill>
                <a:latin typeface="Roboto Bold"/>
                <a:ea typeface="Roboto Bold"/>
                <a:cs typeface="Roboto Bold"/>
                <a:sym typeface="Roboto Bold"/>
              </a:rPr>
              <a:t>Dockerized Deployment: </a:t>
            </a:r>
          </a:p>
          <a:p>
            <a:pPr algn="l">
              <a:lnSpc>
                <a:spcPts val="3628"/>
              </a:lnSpc>
            </a:pPr>
            <a:r>
              <a:rPr lang="en-US" sz="2573">
                <a:solidFill>
                  <a:srgbClr val="006763"/>
                </a:solidFill>
                <a:latin typeface="Roboto"/>
                <a:ea typeface="Roboto"/>
                <a:cs typeface="Roboto"/>
                <a:sym typeface="Roboto"/>
              </a:rPr>
              <a:t>The entire 12-container system spins up with a single docker compose up command.</a:t>
            </a:r>
          </a:p>
          <a:p>
            <a:pPr algn="l">
              <a:lnSpc>
                <a:spcPts val="3628"/>
              </a:lnSpc>
            </a:pPr>
            <a:endParaRPr lang="en-US" sz="2573">
              <a:solidFill>
                <a:srgbClr val="006763"/>
              </a:solidFill>
              <a:latin typeface="Roboto"/>
              <a:ea typeface="Roboto"/>
              <a:cs typeface="Roboto"/>
              <a:sym typeface="Roboto"/>
            </a:endParaRPr>
          </a:p>
        </p:txBody>
      </p:sp>
      <p:sp>
        <p:nvSpPr>
          <p:cNvPr id="21" name="TextBox 21"/>
          <p:cNvSpPr txBox="1"/>
          <p:nvPr/>
        </p:nvSpPr>
        <p:spPr>
          <a:xfrm>
            <a:off x="9994525" y="7046149"/>
            <a:ext cx="7102454" cy="1369650"/>
          </a:xfrm>
          <a:prstGeom prst="rect">
            <a:avLst/>
          </a:prstGeom>
        </p:spPr>
        <p:txBody>
          <a:bodyPr lIns="0" tIns="0" rIns="0" bIns="0" rtlCol="0" anchor="t">
            <a:spAutoFit/>
          </a:bodyPr>
          <a:lstStyle/>
          <a:p>
            <a:pPr algn="l">
              <a:lnSpc>
                <a:spcPts val="3628"/>
              </a:lnSpc>
            </a:pPr>
            <a:r>
              <a:rPr lang="en-US" sz="2573" b="1">
                <a:solidFill>
                  <a:srgbClr val="006763"/>
                </a:solidFill>
                <a:latin typeface="Roboto Bold"/>
                <a:ea typeface="Roboto Bold"/>
                <a:cs typeface="Roboto Bold"/>
                <a:sym typeface="Roboto Bold"/>
              </a:rPr>
              <a:t>Auditability: </a:t>
            </a:r>
          </a:p>
          <a:p>
            <a:pPr algn="l">
              <a:lnSpc>
                <a:spcPts val="3628"/>
              </a:lnSpc>
            </a:pPr>
            <a:r>
              <a:rPr lang="en-US" sz="2573">
                <a:solidFill>
                  <a:srgbClr val="006763"/>
                </a:solidFill>
                <a:latin typeface="Roboto"/>
                <a:ea typeface="Roboto"/>
                <a:cs typeface="Roboto"/>
                <a:sym typeface="Roboto"/>
              </a:rPr>
              <a:t>Every search, extraction, and login is recorded in an append-only SQLite audit log.</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38888" b="-38888"/>
            </a:stretch>
          </a:blipFill>
        </p:spPr>
      </p:sp>
      <p:sp>
        <p:nvSpPr>
          <p:cNvPr id="3" name="Freeform 3"/>
          <p:cNvSpPr/>
          <p:nvPr/>
        </p:nvSpPr>
        <p:spPr>
          <a:xfrm>
            <a:off x="0" y="2695192"/>
            <a:ext cx="18288000" cy="7260727"/>
          </a:xfrm>
          <a:custGeom>
            <a:avLst/>
            <a:gdLst/>
            <a:ahLst/>
            <a:cxnLst/>
            <a:rect l="l" t="t" r="r" b="b"/>
            <a:pathLst>
              <a:path w="18288000" h="7260727">
                <a:moveTo>
                  <a:pt x="0" y="0"/>
                </a:moveTo>
                <a:lnTo>
                  <a:pt x="18288000" y="0"/>
                </a:lnTo>
                <a:lnTo>
                  <a:pt x="18288000" y="7260726"/>
                </a:lnTo>
                <a:lnTo>
                  <a:pt x="0" y="7260726"/>
                </a:lnTo>
                <a:lnTo>
                  <a:pt x="0" y="0"/>
                </a:lnTo>
                <a:close/>
              </a:path>
            </a:pathLst>
          </a:custGeom>
          <a:blipFill>
            <a:blip r:embed="rId3"/>
            <a:stretch>
              <a:fillRect l="-13520" t="-252397" r="-11815"/>
            </a:stretch>
          </a:blipFill>
        </p:spPr>
      </p:sp>
      <p:sp>
        <p:nvSpPr>
          <p:cNvPr id="4" name="Freeform 4"/>
          <p:cNvSpPr/>
          <p:nvPr/>
        </p:nvSpPr>
        <p:spPr>
          <a:xfrm>
            <a:off x="-228600" y="988628"/>
            <a:ext cx="7549255" cy="1792672"/>
          </a:xfrm>
          <a:custGeom>
            <a:avLst/>
            <a:gdLst/>
            <a:ahLst/>
            <a:cxnLst/>
            <a:rect l="l" t="t" r="r" b="b"/>
            <a:pathLst>
              <a:path w="7549255" h="1792672">
                <a:moveTo>
                  <a:pt x="0" y="0"/>
                </a:moveTo>
                <a:lnTo>
                  <a:pt x="7549254" y="0"/>
                </a:lnTo>
                <a:lnTo>
                  <a:pt x="7549254" y="1792672"/>
                </a:lnTo>
                <a:lnTo>
                  <a:pt x="0" y="1792672"/>
                </a:lnTo>
                <a:lnTo>
                  <a:pt x="0" y="0"/>
                </a:lnTo>
                <a:close/>
              </a:path>
            </a:pathLst>
          </a:custGeom>
          <a:blipFill>
            <a:blip r:embed="rId4"/>
            <a:stretch>
              <a:fillRect t="-9884" b="-4344"/>
            </a:stretch>
          </a:blipFill>
        </p:spPr>
      </p:sp>
      <p:sp>
        <p:nvSpPr>
          <p:cNvPr id="5" name="TextBox 5"/>
          <p:cNvSpPr txBox="1"/>
          <p:nvPr/>
        </p:nvSpPr>
        <p:spPr>
          <a:xfrm>
            <a:off x="1675573" y="2962752"/>
            <a:ext cx="7971286" cy="1369650"/>
          </a:xfrm>
          <a:prstGeom prst="rect">
            <a:avLst/>
          </a:prstGeom>
        </p:spPr>
        <p:txBody>
          <a:bodyPr lIns="0" tIns="0" rIns="0" bIns="0" rtlCol="0" anchor="t">
            <a:spAutoFit/>
          </a:bodyPr>
          <a:lstStyle/>
          <a:p>
            <a:pPr algn="l">
              <a:lnSpc>
                <a:spcPts val="3628"/>
              </a:lnSpc>
            </a:pPr>
            <a:r>
              <a:rPr lang="en-US" sz="2573" b="1">
                <a:solidFill>
                  <a:srgbClr val="006763"/>
                </a:solidFill>
                <a:latin typeface="Roboto Bold"/>
                <a:ea typeface="Roboto Bold"/>
                <a:cs typeface="Roboto Bold"/>
                <a:sym typeface="Roboto Bold"/>
              </a:rPr>
              <a:t>e-Office Integration:</a:t>
            </a:r>
          </a:p>
          <a:p>
            <a:pPr algn="l">
              <a:lnSpc>
                <a:spcPts val="3628"/>
              </a:lnSpc>
            </a:pPr>
            <a:r>
              <a:rPr lang="en-US" sz="2573">
                <a:solidFill>
                  <a:srgbClr val="006763"/>
                </a:solidFill>
                <a:latin typeface="Roboto"/>
                <a:ea typeface="Roboto"/>
                <a:cs typeface="Roboto"/>
                <a:sym typeface="Roboto"/>
              </a:rPr>
              <a:t>Connect KIP with existing government workflows for seamless document processing.</a:t>
            </a:r>
          </a:p>
        </p:txBody>
      </p:sp>
      <p:grpSp>
        <p:nvGrpSpPr>
          <p:cNvPr id="6" name="Group 6"/>
          <p:cNvGrpSpPr/>
          <p:nvPr/>
        </p:nvGrpSpPr>
        <p:grpSpPr>
          <a:xfrm>
            <a:off x="662726" y="3029427"/>
            <a:ext cx="651627" cy="821532"/>
            <a:chOff x="0" y="0"/>
            <a:chExt cx="171622" cy="216371"/>
          </a:xfrm>
        </p:grpSpPr>
        <p:sp>
          <p:nvSpPr>
            <p:cNvPr id="7" name="Freeform 7"/>
            <p:cNvSpPr/>
            <p:nvPr/>
          </p:nvSpPr>
          <p:spPr>
            <a:xfrm>
              <a:off x="0" y="0"/>
              <a:ext cx="171622" cy="216371"/>
            </a:xfrm>
            <a:custGeom>
              <a:avLst/>
              <a:gdLst/>
              <a:ahLst/>
              <a:cxnLst/>
              <a:rect l="l" t="t" r="r" b="b"/>
              <a:pathLst>
                <a:path w="171622" h="216371">
                  <a:moveTo>
                    <a:pt x="85811" y="0"/>
                  </a:moveTo>
                  <a:lnTo>
                    <a:pt x="85811" y="0"/>
                  </a:lnTo>
                  <a:cubicBezTo>
                    <a:pt x="108569" y="0"/>
                    <a:pt x="130396" y="9041"/>
                    <a:pt x="146488" y="25133"/>
                  </a:cubicBezTo>
                  <a:cubicBezTo>
                    <a:pt x="162581" y="41226"/>
                    <a:pt x="171622" y="63052"/>
                    <a:pt x="171622" y="85811"/>
                  </a:cubicBezTo>
                  <a:lnTo>
                    <a:pt x="171622" y="130560"/>
                  </a:lnTo>
                  <a:cubicBezTo>
                    <a:pt x="171622" y="177952"/>
                    <a:pt x="133203" y="216371"/>
                    <a:pt x="85811" y="216371"/>
                  </a:cubicBezTo>
                  <a:lnTo>
                    <a:pt x="85811" y="216371"/>
                  </a:lnTo>
                  <a:cubicBezTo>
                    <a:pt x="38419" y="216371"/>
                    <a:pt x="0" y="177952"/>
                    <a:pt x="0" y="130560"/>
                  </a:cubicBezTo>
                  <a:lnTo>
                    <a:pt x="0" y="85811"/>
                  </a:lnTo>
                  <a:cubicBezTo>
                    <a:pt x="0" y="38419"/>
                    <a:pt x="38419" y="0"/>
                    <a:pt x="85811" y="0"/>
                  </a:cubicBezTo>
                  <a:close/>
                </a:path>
              </a:pathLst>
            </a:custGeom>
            <a:solidFill>
              <a:srgbClr val="4EA069"/>
            </a:solidFill>
          </p:spPr>
        </p:sp>
        <p:sp>
          <p:nvSpPr>
            <p:cNvPr id="8" name="TextBox 8"/>
            <p:cNvSpPr txBox="1"/>
            <p:nvPr/>
          </p:nvSpPr>
          <p:spPr>
            <a:xfrm>
              <a:off x="0" y="-38100"/>
              <a:ext cx="171622" cy="254471"/>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662726" y="4567977"/>
            <a:ext cx="651627" cy="821532"/>
            <a:chOff x="0" y="0"/>
            <a:chExt cx="171622" cy="216371"/>
          </a:xfrm>
        </p:grpSpPr>
        <p:sp>
          <p:nvSpPr>
            <p:cNvPr id="10" name="Freeform 10"/>
            <p:cNvSpPr/>
            <p:nvPr/>
          </p:nvSpPr>
          <p:spPr>
            <a:xfrm>
              <a:off x="0" y="0"/>
              <a:ext cx="171622" cy="216371"/>
            </a:xfrm>
            <a:custGeom>
              <a:avLst/>
              <a:gdLst/>
              <a:ahLst/>
              <a:cxnLst/>
              <a:rect l="l" t="t" r="r" b="b"/>
              <a:pathLst>
                <a:path w="171622" h="216371">
                  <a:moveTo>
                    <a:pt x="85811" y="0"/>
                  </a:moveTo>
                  <a:lnTo>
                    <a:pt x="85811" y="0"/>
                  </a:lnTo>
                  <a:cubicBezTo>
                    <a:pt x="108569" y="0"/>
                    <a:pt x="130396" y="9041"/>
                    <a:pt x="146488" y="25133"/>
                  </a:cubicBezTo>
                  <a:cubicBezTo>
                    <a:pt x="162581" y="41226"/>
                    <a:pt x="171622" y="63052"/>
                    <a:pt x="171622" y="85811"/>
                  </a:cubicBezTo>
                  <a:lnTo>
                    <a:pt x="171622" y="130560"/>
                  </a:lnTo>
                  <a:cubicBezTo>
                    <a:pt x="171622" y="177952"/>
                    <a:pt x="133203" y="216371"/>
                    <a:pt x="85811" y="216371"/>
                  </a:cubicBezTo>
                  <a:lnTo>
                    <a:pt x="85811" y="216371"/>
                  </a:lnTo>
                  <a:cubicBezTo>
                    <a:pt x="38419" y="216371"/>
                    <a:pt x="0" y="177952"/>
                    <a:pt x="0" y="130560"/>
                  </a:cubicBezTo>
                  <a:lnTo>
                    <a:pt x="0" y="85811"/>
                  </a:lnTo>
                  <a:cubicBezTo>
                    <a:pt x="0" y="38419"/>
                    <a:pt x="38419" y="0"/>
                    <a:pt x="85811" y="0"/>
                  </a:cubicBezTo>
                  <a:close/>
                </a:path>
              </a:pathLst>
            </a:custGeom>
            <a:solidFill>
              <a:srgbClr val="4EA069"/>
            </a:solidFill>
          </p:spPr>
        </p:sp>
        <p:sp>
          <p:nvSpPr>
            <p:cNvPr id="11" name="TextBox 11"/>
            <p:cNvSpPr txBox="1"/>
            <p:nvPr/>
          </p:nvSpPr>
          <p:spPr>
            <a:xfrm>
              <a:off x="0" y="-38100"/>
              <a:ext cx="171622" cy="254471"/>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662726" y="6109076"/>
            <a:ext cx="655517" cy="821532"/>
            <a:chOff x="0" y="0"/>
            <a:chExt cx="172646" cy="216371"/>
          </a:xfrm>
        </p:grpSpPr>
        <p:sp>
          <p:nvSpPr>
            <p:cNvPr id="13" name="Freeform 13"/>
            <p:cNvSpPr/>
            <p:nvPr/>
          </p:nvSpPr>
          <p:spPr>
            <a:xfrm>
              <a:off x="0" y="0"/>
              <a:ext cx="172646" cy="216371"/>
            </a:xfrm>
            <a:custGeom>
              <a:avLst/>
              <a:gdLst/>
              <a:ahLst/>
              <a:cxnLst/>
              <a:rect l="l" t="t" r="r" b="b"/>
              <a:pathLst>
                <a:path w="172646" h="216371">
                  <a:moveTo>
                    <a:pt x="86323" y="0"/>
                  </a:moveTo>
                  <a:lnTo>
                    <a:pt x="86323" y="0"/>
                  </a:lnTo>
                  <a:cubicBezTo>
                    <a:pt x="133998" y="0"/>
                    <a:pt x="172646" y="38648"/>
                    <a:pt x="172646" y="86323"/>
                  </a:cubicBezTo>
                  <a:lnTo>
                    <a:pt x="172646" y="130047"/>
                  </a:lnTo>
                  <a:cubicBezTo>
                    <a:pt x="172646" y="152942"/>
                    <a:pt x="163552" y="174898"/>
                    <a:pt x="147363" y="191087"/>
                  </a:cubicBezTo>
                  <a:cubicBezTo>
                    <a:pt x="131174" y="207276"/>
                    <a:pt x="109218" y="216371"/>
                    <a:pt x="86323" y="216371"/>
                  </a:cubicBezTo>
                  <a:lnTo>
                    <a:pt x="86323" y="216371"/>
                  </a:lnTo>
                  <a:cubicBezTo>
                    <a:pt x="63429" y="216371"/>
                    <a:pt x="41472" y="207276"/>
                    <a:pt x="25283" y="191087"/>
                  </a:cubicBezTo>
                  <a:cubicBezTo>
                    <a:pt x="9095" y="174898"/>
                    <a:pt x="0" y="152942"/>
                    <a:pt x="0" y="130047"/>
                  </a:cubicBezTo>
                  <a:lnTo>
                    <a:pt x="0" y="86323"/>
                  </a:lnTo>
                  <a:cubicBezTo>
                    <a:pt x="0" y="63429"/>
                    <a:pt x="9095" y="41472"/>
                    <a:pt x="25283" y="25283"/>
                  </a:cubicBezTo>
                  <a:cubicBezTo>
                    <a:pt x="41472" y="9095"/>
                    <a:pt x="63429" y="0"/>
                    <a:pt x="86323" y="0"/>
                  </a:cubicBezTo>
                  <a:close/>
                </a:path>
              </a:pathLst>
            </a:custGeom>
            <a:solidFill>
              <a:srgbClr val="4EA069"/>
            </a:solidFill>
          </p:spPr>
        </p:sp>
        <p:sp>
          <p:nvSpPr>
            <p:cNvPr id="14" name="TextBox 14"/>
            <p:cNvSpPr txBox="1"/>
            <p:nvPr/>
          </p:nvSpPr>
          <p:spPr>
            <a:xfrm>
              <a:off x="0" y="-38100"/>
              <a:ext cx="172646" cy="254471"/>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662726" y="7650176"/>
            <a:ext cx="655517" cy="821532"/>
            <a:chOff x="0" y="0"/>
            <a:chExt cx="172646" cy="216371"/>
          </a:xfrm>
        </p:grpSpPr>
        <p:sp>
          <p:nvSpPr>
            <p:cNvPr id="16" name="Freeform 16"/>
            <p:cNvSpPr/>
            <p:nvPr/>
          </p:nvSpPr>
          <p:spPr>
            <a:xfrm>
              <a:off x="0" y="0"/>
              <a:ext cx="172646" cy="216371"/>
            </a:xfrm>
            <a:custGeom>
              <a:avLst/>
              <a:gdLst/>
              <a:ahLst/>
              <a:cxnLst/>
              <a:rect l="l" t="t" r="r" b="b"/>
              <a:pathLst>
                <a:path w="172646" h="216371">
                  <a:moveTo>
                    <a:pt x="86323" y="0"/>
                  </a:moveTo>
                  <a:lnTo>
                    <a:pt x="86323" y="0"/>
                  </a:lnTo>
                  <a:cubicBezTo>
                    <a:pt x="133998" y="0"/>
                    <a:pt x="172646" y="38648"/>
                    <a:pt x="172646" y="86323"/>
                  </a:cubicBezTo>
                  <a:lnTo>
                    <a:pt x="172646" y="130047"/>
                  </a:lnTo>
                  <a:cubicBezTo>
                    <a:pt x="172646" y="152942"/>
                    <a:pt x="163552" y="174898"/>
                    <a:pt x="147363" y="191087"/>
                  </a:cubicBezTo>
                  <a:cubicBezTo>
                    <a:pt x="131174" y="207276"/>
                    <a:pt x="109218" y="216371"/>
                    <a:pt x="86323" y="216371"/>
                  </a:cubicBezTo>
                  <a:lnTo>
                    <a:pt x="86323" y="216371"/>
                  </a:lnTo>
                  <a:cubicBezTo>
                    <a:pt x="63429" y="216371"/>
                    <a:pt x="41472" y="207276"/>
                    <a:pt x="25283" y="191087"/>
                  </a:cubicBezTo>
                  <a:cubicBezTo>
                    <a:pt x="9095" y="174898"/>
                    <a:pt x="0" y="152942"/>
                    <a:pt x="0" y="130047"/>
                  </a:cubicBezTo>
                  <a:lnTo>
                    <a:pt x="0" y="86323"/>
                  </a:lnTo>
                  <a:cubicBezTo>
                    <a:pt x="0" y="63429"/>
                    <a:pt x="9095" y="41472"/>
                    <a:pt x="25283" y="25283"/>
                  </a:cubicBezTo>
                  <a:cubicBezTo>
                    <a:pt x="41472" y="9095"/>
                    <a:pt x="63429" y="0"/>
                    <a:pt x="86323" y="0"/>
                  </a:cubicBezTo>
                  <a:close/>
                </a:path>
              </a:pathLst>
            </a:custGeom>
            <a:solidFill>
              <a:srgbClr val="4EA069"/>
            </a:solidFill>
          </p:spPr>
        </p:sp>
        <p:sp>
          <p:nvSpPr>
            <p:cNvPr id="17" name="TextBox 17"/>
            <p:cNvSpPr txBox="1"/>
            <p:nvPr/>
          </p:nvSpPr>
          <p:spPr>
            <a:xfrm>
              <a:off x="0" y="-38100"/>
              <a:ext cx="172646" cy="254471"/>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1707830" y="7583501"/>
            <a:ext cx="7436170" cy="1369650"/>
          </a:xfrm>
          <a:prstGeom prst="rect">
            <a:avLst/>
          </a:prstGeom>
        </p:spPr>
        <p:txBody>
          <a:bodyPr lIns="0" tIns="0" rIns="0" bIns="0" rtlCol="0" anchor="t">
            <a:spAutoFit/>
          </a:bodyPr>
          <a:lstStyle/>
          <a:p>
            <a:pPr algn="l">
              <a:lnSpc>
                <a:spcPts val="3628"/>
              </a:lnSpc>
            </a:pPr>
            <a:r>
              <a:rPr lang="en-US" sz="2573" b="1">
                <a:solidFill>
                  <a:srgbClr val="006763"/>
                </a:solidFill>
                <a:latin typeface="Roboto Bold"/>
                <a:ea typeface="Roboto Bold"/>
                <a:cs typeface="Roboto Bold"/>
                <a:sym typeface="Roboto Bold"/>
              </a:rPr>
              <a:t>Scalable Deployment:</a:t>
            </a:r>
          </a:p>
          <a:p>
            <a:pPr algn="l">
              <a:lnSpc>
                <a:spcPts val="3628"/>
              </a:lnSpc>
            </a:pPr>
            <a:r>
              <a:rPr lang="en-US" sz="2573">
                <a:solidFill>
                  <a:srgbClr val="006763"/>
                </a:solidFill>
                <a:latin typeface="Roboto"/>
                <a:ea typeface="Roboto"/>
                <a:cs typeface="Roboto"/>
                <a:sym typeface="Roboto"/>
              </a:rPr>
              <a:t>Expand the platform to support more departments and larger document collections.</a:t>
            </a:r>
          </a:p>
        </p:txBody>
      </p:sp>
      <p:sp>
        <p:nvSpPr>
          <p:cNvPr id="19" name="Freeform 19"/>
          <p:cNvSpPr/>
          <p:nvPr/>
        </p:nvSpPr>
        <p:spPr>
          <a:xfrm>
            <a:off x="16514813" y="6854221"/>
            <a:ext cx="817254" cy="876882"/>
          </a:xfrm>
          <a:custGeom>
            <a:avLst/>
            <a:gdLst/>
            <a:ahLst/>
            <a:cxnLst/>
            <a:rect l="l" t="t" r="r" b="b"/>
            <a:pathLst>
              <a:path w="817254" h="876882">
                <a:moveTo>
                  <a:pt x="0" y="0"/>
                </a:moveTo>
                <a:lnTo>
                  <a:pt x="817255" y="0"/>
                </a:lnTo>
                <a:lnTo>
                  <a:pt x="817255" y="876882"/>
                </a:lnTo>
                <a:lnTo>
                  <a:pt x="0" y="87688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0" name="Freeform 20"/>
          <p:cNvSpPr/>
          <p:nvPr/>
        </p:nvSpPr>
        <p:spPr>
          <a:xfrm>
            <a:off x="9144000" y="2368043"/>
            <a:ext cx="8725744" cy="6718823"/>
          </a:xfrm>
          <a:custGeom>
            <a:avLst/>
            <a:gdLst/>
            <a:ahLst/>
            <a:cxnLst/>
            <a:rect l="l" t="t" r="r" b="b"/>
            <a:pathLst>
              <a:path w="8725744" h="6718823">
                <a:moveTo>
                  <a:pt x="0" y="0"/>
                </a:moveTo>
                <a:lnTo>
                  <a:pt x="8725744" y="0"/>
                </a:lnTo>
                <a:lnTo>
                  <a:pt x="8725744" y="6718823"/>
                </a:lnTo>
                <a:lnTo>
                  <a:pt x="0" y="6718823"/>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1" name="TextBox 21"/>
          <p:cNvSpPr txBox="1"/>
          <p:nvPr/>
        </p:nvSpPr>
        <p:spPr>
          <a:xfrm>
            <a:off x="521447" y="1383158"/>
            <a:ext cx="6485838" cy="984885"/>
          </a:xfrm>
          <a:prstGeom prst="rect">
            <a:avLst/>
          </a:prstGeom>
        </p:spPr>
        <p:txBody>
          <a:bodyPr lIns="0" tIns="0" rIns="0" bIns="0" rtlCol="0" anchor="t">
            <a:spAutoFit/>
          </a:bodyPr>
          <a:lstStyle/>
          <a:p>
            <a:pPr algn="l">
              <a:lnSpc>
                <a:spcPts val="7560"/>
              </a:lnSpc>
            </a:pPr>
            <a:r>
              <a:rPr lang="en-US" sz="7200" b="1">
                <a:solidFill>
                  <a:srgbClr val="006763"/>
                </a:solidFill>
                <a:latin typeface="Bebas Neue Bold"/>
                <a:ea typeface="Bebas Neue Bold"/>
                <a:cs typeface="Bebas Neue Bold"/>
                <a:sym typeface="Bebas Neue Bold"/>
              </a:rPr>
              <a:t>FUTURE ENHANCEMENT</a:t>
            </a:r>
          </a:p>
        </p:txBody>
      </p:sp>
      <p:sp>
        <p:nvSpPr>
          <p:cNvPr id="22" name="TextBox 22"/>
          <p:cNvSpPr txBox="1"/>
          <p:nvPr/>
        </p:nvSpPr>
        <p:spPr>
          <a:xfrm>
            <a:off x="662726" y="3179230"/>
            <a:ext cx="655517" cy="455250"/>
          </a:xfrm>
          <a:prstGeom prst="rect">
            <a:avLst/>
          </a:prstGeom>
        </p:spPr>
        <p:txBody>
          <a:bodyPr lIns="0" tIns="0" rIns="0" bIns="0" rtlCol="0" anchor="t">
            <a:spAutoFit/>
          </a:bodyPr>
          <a:lstStyle/>
          <a:p>
            <a:pPr algn="ctr">
              <a:lnSpc>
                <a:spcPts val="3628"/>
              </a:lnSpc>
            </a:pPr>
            <a:r>
              <a:rPr lang="en-US" sz="2573" b="1">
                <a:solidFill>
                  <a:srgbClr val="FFFFFF"/>
                </a:solidFill>
                <a:latin typeface="Roboto Bold"/>
                <a:ea typeface="Roboto Bold"/>
                <a:cs typeface="Roboto Bold"/>
                <a:sym typeface="Roboto Bold"/>
              </a:rPr>
              <a:t>01</a:t>
            </a:r>
          </a:p>
        </p:txBody>
      </p:sp>
      <p:sp>
        <p:nvSpPr>
          <p:cNvPr id="23" name="TextBox 23"/>
          <p:cNvSpPr txBox="1"/>
          <p:nvPr/>
        </p:nvSpPr>
        <p:spPr>
          <a:xfrm>
            <a:off x="662726" y="4717780"/>
            <a:ext cx="655517" cy="455250"/>
          </a:xfrm>
          <a:prstGeom prst="rect">
            <a:avLst/>
          </a:prstGeom>
        </p:spPr>
        <p:txBody>
          <a:bodyPr lIns="0" tIns="0" rIns="0" bIns="0" rtlCol="0" anchor="t">
            <a:spAutoFit/>
          </a:bodyPr>
          <a:lstStyle/>
          <a:p>
            <a:pPr algn="ctr">
              <a:lnSpc>
                <a:spcPts val="3628"/>
              </a:lnSpc>
            </a:pPr>
            <a:r>
              <a:rPr lang="en-US" sz="2573" b="1">
                <a:solidFill>
                  <a:srgbClr val="FFFFFF"/>
                </a:solidFill>
                <a:latin typeface="Roboto Bold"/>
                <a:ea typeface="Roboto Bold"/>
                <a:cs typeface="Roboto Bold"/>
                <a:sym typeface="Roboto Bold"/>
              </a:rPr>
              <a:t>02</a:t>
            </a:r>
          </a:p>
        </p:txBody>
      </p:sp>
      <p:sp>
        <p:nvSpPr>
          <p:cNvPr id="24" name="TextBox 24"/>
          <p:cNvSpPr txBox="1"/>
          <p:nvPr/>
        </p:nvSpPr>
        <p:spPr>
          <a:xfrm>
            <a:off x="705564" y="6258880"/>
            <a:ext cx="565952" cy="455250"/>
          </a:xfrm>
          <a:prstGeom prst="rect">
            <a:avLst/>
          </a:prstGeom>
        </p:spPr>
        <p:txBody>
          <a:bodyPr lIns="0" tIns="0" rIns="0" bIns="0" rtlCol="0" anchor="t">
            <a:spAutoFit/>
          </a:bodyPr>
          <a:lstStyle/>
          <a:p>
            <a:pPr algn="ctr">
              <a:lnSpc>
                <a:spcPts val="3628"/>
              </a:lnSpc>
            </a:pPr>
            <a:r>
              <a:rPr lang="en-US" sz="2573" b="1">
                <a:solidFill>
                  <a:srgbClr val="FFFFFF"/>
                </a:solidFill>
                <a:latin typeface="Roboto Bold"/>
                <a:ea typeface="Roboto Bold"/>
                <a:cs typeface="Roboto Bold"/>
                <a:sym typeface="Roboto Bold"/>
              </a:rPr>
              <a:t>03</a:t>
            </a:r>
          </a:p>
        </p:txBody>
      </p:sp>
      <p:sp>
        <p:nvSpPr>
          <p:cNvPr id="25" name="TextBox 25"/>
          <p:cNvSpPr txBox="1"/>
          <p:nvPr/>
        </p:nvSpPr>
        <p:spPr>
          <a:xfrm>
            <a:off x="1675573" y="4501302"/>
            <a:ext cx="8421312" cy="1369650"/>
          </a:xfrm>
          <a:prstGeom prst="rect">
            <a:avLst/>
          </a:prstGeom>
        </p:spPr>
        <p:txBody>
          <a:bodyPr lIns="0" tIns="0" rIns="0" bIns="0" rtlCol="0" anchor="t">
            <a:spAutoFit/>
          </a:bodyPr>
          <a:lstStyle/>
          <a:p>
            <a:pPr algn="l">
              <a:lnSpc>
                <a:spcPts val="3628"/>
              </a:lnSpc>
            </a:pPr>
            <a:r>
              <a:rPr lang="en-US" sz="2573" b="1">
                <a:solidFill>
                  <a:srgbClr val="006763"/>
                </a:solidFill>
                <a:latin typeface="Roboto Bold"/>
                <a:ea typeface="Roboto Bold"/>
                <a:cs typeface="Roboto Bold"/>
                <a:sym typeface="Roboto Bold"/>
              </a:rPr>
              <a:t>Advanced AI Assistance:</a:t>
            </a:r>
          </a:p>
          <a:p>
            <a:pPr algn="l">
              <a:lnSpc>
                <a:spcPts val="3628"/>
              </a:lnSpc>
            </a:pPr>
            <a:r>
              <a:rPr lang="en-US" sz="2573">
                <a:solidFill>
                  <a:srgbClr val="006763"/>
                </a:solidFill>
                <a:latin typeface="Roboto"/>
                <a:ea typeface="Roboto"/>
                <a:cs typeface="Roboto"/>
                <a:sym typeface="Roboto"/>
              </a:rPr>
              <a:t>Improve AI-based policy research and automated policy note drafting.</a:t>
            </a:r>
          </a:p>
        </p:txBody>
      </p:sp>
      <p:sp>
        <p:nvSpPr>
          <p:cNvPr id="26" name="TextBox 26"/>
          <p:cNvSpPr txBox="1"/>
          <p:nvPr/>
        </p:nvSpPr>
        <p:spPr>
          <a:xfrm>
            <a:off x="1675573" y="6042401"/>
            <a:ext cx="7971286" cy="1369650"/>
          </a:xfrm>
          <a:prstGeom prst="rect">
            <a:avLst/>
          </a:prstGeom>
        </p:spPr>
        <p:txBody>
          <a:bodyPr lIns="0" tIns="0" rIns="0" bIns="0" rtlCol="0" anchor="t">
            <a:spAutoFit/>
          </a:bodyPr>
          <a:lstStyle/>
          <a:p>
            <a:pPr algn="l">
              <a:lnSpc>
                <a:spcPts val="3628"/>
              </a:lnSpc>
            </a:pPr>
            <a:r>
              <a:rPr lang="en-US" sz="2573" b="1">
                <a:solidFill>
                  <a:srgbClr val="006763"/>
                </a:solidFill>
                <a:latin typeface="Roboto Bold"/>
                <a:ea typeface="Roboto Bold"/>
                <a:cs typeface="Roboto Bold"/>
                <a:sym typeface="Roboto Bold"/>
              </a:rPr>
              <a:t>Malayalam Language Support:</a:t>
            </a:r>
          </a:p>
          <a:p>
            <a:pPr algn="l">
              <a:lnSpc>
                <a:spcPts val="3628"/>
              </a:lnSpc>
            </a:pPr>
            <a:r>
              <a:rPr lang="en-US" sz="2573">
                <a:solidFill>
                  <a:srgbClr val="006763"/>
                </a:solidFill>
                <a:latin typeface="Roboto"/>
                <a:ea typeface="Roboto"/>
                <a:cs typeface="Roboto"/>
                <a:sym typeface="Roboto"/>
              </a:rPr>
              <a:t>Add Malayalam OCR and multilingual search capabilities.</a:t>
            </a:r>
          </a:p>
        </p:txBody>
      </p:sp>
      <p:sp>
        <p:nvSpPr>
          <p:cNvPr id="27" name="TextBox 27"/>
          <p:cNvSpPr txBox="1"/>
          <p:nvPr/>
        </p:nvSpPr>
        <p:spPr>
          <a:xfrm>
            <a:off x="705564" y="7799980"/>
            <a:ext cx="565952" cy="455250"/>
          </a:xfrm>
          <a:prstGeom prst="rect">
            <a:avLst/>
          </a:prstGeom>
        </p:spPr>
        <p:txBody>
          <a:bodyPr lIns="0" tIns="0" rIns="0" bIns="0" rtlCol="0" anchor="t">
            <a:spAutoFit/>
          </a:bodyPr>
          <a:lstStyle/>
          <a:p>
            <a:pPr algn="ctr">
              <a:lnSpc>
                <a:spcPts val="3628"/>
              </a:lnSpc>
            </a:pPr>
            <a:r>
              <a:rPr lang="en-US" sz="2573" b="1">
                <a:solidFill>
                  <a:srgbClr val="FFFFFF"/>
                </a:solidFill>
                <a:latin typeface="Roboto Bold"/>
                <a:ea typeface="Roboto Bold"/>
                <a:cs typeface="Roboto Bold"/>
                <a:sym typeface="Roboto Bold"/>
              </a:rPr>
              <a:t>04</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38888" b="-38888"/>
            </a:stretch>
          </a:blipFill>
        </p:spPr>
      </p:sp>
      <p:sp>
        <p:nvSpPr>
          <p:cNvPr id="3" name="Freeform 3"/>
          <p:cNvSpPr/>
          <p:nvPr/>
        </p:nvSpPr>
        <p:spPr>
          <a:xfrm>
            <a:off x="14524562" y="6958975"/>
            <a:ext cx="3356164" cy="2980363"/>
          </a:xfrm>
          <a:custGeom>
            <a:avLst/>
            <a:gdLst/>
            <a:ahLst/>
            <a:cxnLst/>
            <a:rect l="l" t="t" r="r" b="b"/>
            <a:pathLst>
              <a:path w="3356164" h="2980363">
                <a:moveTo>
                  <a:pt x="0" y="0"/>
                </a:moveTo>
                <a:lnTo>
                  <a:pt x="3356164" y="0"/>
                </a:lnTo>
                <a:lnTo>
                  <a:pt x="3356164" y="2980363"/>
                </a:lnTo>
                <a:lnTo>
                  <a:pt x="0" y="298036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390525" y="-200025"/>
            <a:ext cx="3305175" cy="3305175"/>
          </a:xfrm>
          <a:custGeom>
            <a:avLst/>
            <a:gdLst/>
            <a:ahLst/>
            <a:cxnLst/>
            <a:rect l="l" t="t" r="r" b="b"/>
            <a:pathLst>
              <a:path w="3305175" h="3305175">
                <a:moveTo>
                  <a:pt x="0" y="0"/>
                </a:moveTo>
                <a:lnTo>
                  <a:pt x="3305175" y="0"/>
                </a:lnTo>
                <a:lnTo>
                  <a:pt x="3305175" y="3305175"/>
                </a:lnTo>
                <a:lnTo>
                  <a:pt x="0" y="330517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515285">
            <a:off x="15961808" y="-500238"/>
            <a:ext cx="2594984" cy="3430868"/>
          </a:xfrm>
          <a:custGeom>
            <a:avLst/>
            <a:gdLst/>
            <a:ahLst/>
            <a:cxnLst/>
            <a:rect l="l" t="t" r="r" b="b"/>
            <a:pathLst>
              <a:path w="2594984" h="3430868">
                <a:moveTo>
                  <a:pt x="0" y="0"/>
                </a:moveTo>
                <a:lnTo>
                  <a:pt x="2594984" y="0"/>
                </a:lnTo>
                <a:lnTo>
                  <a:pt x="2594984" y="3430868"/>
                </a:lnTo>
                <a:lnTo>
                  <a:pt x="0" y="343086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rot="585614">
            <a:off x="14684363" y="-322766"/>
            <a:ext cx="1524393" cy="2015423"/>
          </a:xfrm>
          <a:custGeom>
            <a:avLst/>
            <a:gdLst/>
            <a:ahLst/>
            <a:cxnLst/>
            <a:rect l="l" t="t" r="r" b="b"/>
            <a:pathLst>
              <a:path w="1524393" h="2015423">
                <a:moveTo>
                  <a:pt x="0" y="0"/>
                </a:moveTo>
                <a:lnTo>
                  <a:pt x="1524392" y="0"/>
                </a:lnTo>
                <a:lnTo>
                  <a:pt x="1524392" y="2015423"/>
                </a:lnTo>
                <a:lnTo>
                  <a:pt x="0" y="201542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a:off x="-561778" y="7530073"/>
            <a:ext cx="6160044" cy="3785627"/>
          </a:xfrm>
          <a:custGeom>
            <a:avLst/>
            <a:gdLst/>
            <a:ahLst/>
            <a:cxnLst/>
            <a:rect l="l" t="t" r="r" b="b"/>
            <a:pathLst>
              <a:path w="6160044" h="3785627">
                <a:moveTo>
                  <a:pt x="0" y="0"/>
                </a:moveTo>
                <a:lnTo>
                  <a:pt x="6160045" y="0"/>
                </a:lnTo>
                <a:lnTo>
                  <a:pt x="6160045" y="3785627"/>
                </a:lnTo>
                <a:lnTo>
                  <a:pt x="0" y="378562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AutoShape 8"/>
          <p:cNvSpPr/>
          <p:nvPr/>
        </p:nvSpPr>
        <p:spPr>
          <a:xfrm flipV="1">
            <a:off x="3588035" y="1014413"/>
            <a:ext cx="10326332" cy="0"/>
          </a:xfrm>
          <a:prstGeom prst="line">
            <a:avLst/>
          </a:prstGeom>
          <a:ln w="19050" cap="flat">
            <a:solidFill>
              <a:srgbClr val="4D994F"/>
            </a:solidFill>
            <a:prstDash val="solid"/>
            <a:headEnd type="none" w="sm" len="sm"/>
            <a:tailEnd type="none" w="sm" len="sm"/>
          </a:ln>
        </p:spPr>
      </p:sp>
      <p:sp>
        <p:nvSpPr>
          <p:cNvPr id="9" name="AutoShape 9"/>
          <p:cNvSpPr/>
          <p:nvPr/>
        </p:nvSpPr>
        <p:spPr>
          <a:xfrm flipV="1">
            <a:off x="5598267" y="9272588"/>
            <a:ext cx="8316100" cy="0"/>
          </a:xfrm>
          <a:prstGeom prst="line">
            <a:avLst/>
          </a:prstGeom>
          <a:ln w="19050" cap="flat">
            <a:solidFill>
              <a:srgbClr val="4D994F"/>
            </a:solidFill>
            <a:prstDash val="solid"/>
            <a:headEnd type="none" w="sm" len="sm"/>
            <a:tailEnd type="none" w="sm" len="sm"/>
          </a:ln>
        </p:spPr>
      </p:sp>
      <p:sp>
        <p:nvSpPr>
          <p:cNvPr id="10" name="Freeform 10"/>
          <p:cNvSpPr/>
          <p:nvPr/>
        </p:nvSpPr>
        <p:spPr>
          <a:xfrm>
            <a:off x="-390525" y="4114800"/>
            <a:ext cx="2171919" cy="2057400"/>
          </a:xfrm>
          <a:custGeom>
            <a:avLst/>
            <a:gdLst/>
            <a:ahLst/>
            <a:cxnLst/>
            <a:rect l="l" t="t" r="r" b="b"/>
            <a:pathLst>
              <a:path w="2171919" h="2057400">
                <a:moveTo>
                  <a:pt x="0" y="0"/>
                </a:moveTo>
                <a:lnTo>
                  <a:pt x="2171919" y="0"/>
                </a:lnTo>
                <a:lnTo>
                  <a:pt x="2171919" y="2057400"/>
                </a:lnTo>
                <a:lnTo>
                  <a:pt x="0" y="205740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1" name="Freeform 11"/>
          <p:cNvSpPr/>
          <p:nvPr/>
        </p:nvSpPr>
        <p:spPr>
          <a:xfrm>
            <a:off x="16794766" y="4003362"/>
            <a:ext cx="2171919" cy="2057400"/>
          </a:xfrm>
          <a:custGeom>
            <a:avLst/>
            <a:gdLst/>
            <a:ahLst/>
            <a:cxnLst/>
            <a:rect l="l" t="t" r="r" b="b"/>
            <a:pathLst>
              <a:path w="2171919" h="2057400">
                <a:moveTo>
                  <a:pt x="0" y="0"/>
                </a:moveTo>
                <a:lnTo>
                  <a:pt x="2171920" y="0"/>
                </a:lnTo>
                <a:lnTo>
                  <a:pt x="2171920" y="2057400"/>
                </a:lnTo>
                <a:lnTo>
                  <a:pt x="0" y="205740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2" name="TextBox 12"/>
          <p:cNvSpPr txBox="1"/>
          <p:nvPr/>
        </p:nvSpPr>
        <p:spPr>
          <a:xfrm>
            <a:off x="2877412" y="1095463"/>
            <a:ext cx="12533176" cy="2429593"/>
          </a:xfrm>
          <a:prstGeom prst="rect">
            <a:avLst/>
          </a:prstGeom>
        </p:spPr>
        <p:txBody>
          <a:bodyPr lIns="0" tIns="0" rIns="0" bIns="0" rtlCol="0" anchor="t">
            <a:spAutoFit/>
          </a:bodyPr>
          <a:lstStyle/>
          <a:p>
            <a:pPr algn="ctr">
              <a:lnSpc>
                <a:spcPts val="17810"/>
              </a:lnSpc>
              <a:spcBef>
                <a:spcPct val="0"/>
              </a:spcBef>
            </a:pPr>
            <a:r>
              <a:rPr lang="en-US" sz="12721" spc="559">
                <a:solidFill>
                  <a:srgbClr val="006763"/>
                </a:solidFill>
                <a:latin typeface="Ballpoint"/>
                <a:ea typeface="Ballpoint"/>
                <a:cs typeface="Ballpoint"/>
                <a:sym typeface="Ballpoint"/>
              </a:rPr>
              <a:t>CONCLUSION</a:t>
            </a:r>
          </a:p>
        </p:txBody>
      </p:sp>
      <p:sp>
        <p:nvSpPr>
          <p:cNvPr id="13" name="TextBox 13"/>
          <p:cNvSpPr txBox="1"/>
          <p:nvPr/>
        </p:nvSpPr>
        <p:spPr>
          <a:xfrm>
            <a:off x="3819817" y="3496315"/>
            <a:ext cx="10936527" cy="5043170"/>
          </a:xfrm>
          <a:prstGeom prst="rect">
            <a:avLst/>
          </a:prstGeom>
        </p:spPr>
        <p:txBody>
          <a:bodyPr lIns="0" tIns="0" rIns="0" bIns="0" rtlCol="0" anchor="t">
            <a:spAutoFit/>
          </a:bodyPr>
          <a:lstStyle/>
          <a:p>
            <a:pPr marL="0" lvl="0" indent="0" algn="ctr">
              <a:lnSpc>
                <a:spcPts val="4480"/>
              </a:lnSpc>
              <a:spcBef>
                <a:spcPct val="0"/>
              </a:spcBef>
            </a:pPr>
            <a:r>
              <a:rPr lang="en-US" sz="3200">
                <a:solidFill>
                  <a:srgbClr val="183937"/>
                </a:solidFill>
                <a:latin typeface="Questrial"/>
                <a:ea typeface="Questrial"/>
                <a:cs typeface="Questrial"/>
                <a:sym typeface="Questrial"/>
              </a:rPr>
              <a:t>Kerala Finance KIP makes government document management faster, smarter, and more secure by combining AI, intelligent search, document tracking, and automated information extraction. It helps officials quickly access and verify reliable financial information while keeping sensitive data secure through 100% local processing. Overall, the platform provides a strong foundation for efficient, transparent, and technology-driven financial administration.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flipH="1">
            <a:off x="1416914" y="7182259"/>
            <a:ext cx="16871086" cy="7128034"/>
          </a:xfrm>
          <a:custGeom>
            <a:avLst/>
            <a:gdLst/>
            <a:ahLst/>
            <a:cxnLst/>
            <a:rect l="l" t="t" r="r" b="b"/>
            <a:pathLst>
              <a:path w="16871086" h="7128034">
                <a:moveTo>
                  <a:pt x="16871086" y="0"/>
                </a:moveTo>
                <a:lnTo>
                  <a:pt x="0" y="0"/>
                </a:lnTo>
                <a:lnTo>
                  <a:pt x="0" y="7128034"/>
                </a:lnTo>
                <a:lnTo>
                  <a:pt x="16871086" y="7128034"/>
                </a:lnTo>
                <a:lnTo>
                  <a:pt x="16871086" y="0"/>
                </a:lnTo>
                <a:close/>
              </a:path>
            </a:pathLst>
          </a:custGeom>
          <a:blipFill>
            <a:blip r:embed="rId3"/>
            <a:stretch>
              <a:fillRect/>
            </a:stretch>
          </a:blipFill>
        </p:spPr>
      </p:sp>
      <p:sp>
        <p:nvSpPr>
          <p:cNvPr id="4" name="Freeform 4"/>
          <p:cNvSpPr/>
          <p:nvPr/>
        </p:nvSpPr>
        <p:spPr>
          <a:xfrm>
            <a:off x="-4558336" y="2736613"/>
            <a:ext cx="14410793" cy="6088560"/>
          </a:xfrm>
          <a:custGeom>
            <a:avLst/>
            <a:gdLst/>
            <a:ahLst/>
            <a:cxnLst/>
            <a:rect l="l" t="t" r="r" b="b"/>
            <a:pathLst>
              <a:path w="14410793" h="6088560">
                <a:moveTo>
                  <a:pt x="0" y="0"/>
                </a:moveTo>
                <a:lnTo>
                  <a:pt x="14410793" y="0"/>
                </a:lnTo>
                <a:lnTo>
                  <a:pt x="14410793" y="6088560"/>
                </a:lnTo>
                <a:lnTo>
                  <a:pt x="0" y="6088560"/>
                </a:lnTo>
                <a:lnTo>
                  <a:pt x="0" y="0"/>
                </a:lnTo>
                <a:close/>
              </a:path>
            </a:pathLst>
          </a:custGeom>
          <a:blipFill>
            <a:blip r:embed="rId3">
              <a:alphaModFix amt="50000"/>
            </a:blip>
            <a:stretch>
              <a:fillRect/>
            </a:stretch>
          </a:blipFill>
        </p:spPr>
      </p:sp>
      <p:sp>
        <p:nvSpPr>
          <p:cNvPr id="5" name="Freeform 5"/>
          <p:cNvSpPr/>
          <p:nvPr/>
        </p:nvSpPr>
        <p:spPr>
          <a:xfrm rot="262225">
            <a:off x="-882545" y="4062762"/>
            <a:ext cx="8399809" cy="8214313"/>
          </a:xfrm>
          <a:custGeom>
            <a:avLst/>
            <a:gdLst/>
            <a:ahLst/>
            <a:cxnLst/>
            <a:rect l="l" t="t" r="r" b="b"/>
            <a:pathLst>
              <a:path w="8399809" h="8214313">
                <a:moveTo>
                  <a:pt x="0" y="0"/>
                </a:moveTo>
                <a:lnTo>
                  <a:pt x="8399810" y="0"/>
                </a:lnTo>
                <a:lnTo>
                  <a:pt x="8399810" y="8214314"/>
                </a:lnTo>
                <a:lnTo>
                  <a:pt x="0" y="8214314"/>
                </a:lnTo>
                <a:lnTo>
                  <a:pt x="0" y="0"/>
                </a:lnTo>
                <a:close/>
              </a:path>
            </a:pathLst>
          </a:custGeom>
          <a:blipFill>
            <a:blip r:embed="rId4"/>
            <a:stretch>
              <a:fillRect/>
            </a:stretch>
          </a:blipFill>
        </p:spPr>
      </p:sp>
      <p:sp>
        <p:nvSpPr>
          <p:cNvPr id="6" name="Freeform 6"/>
          <p:cNvSpPr/>
          <p:nvPr/>
        </p:nvSpPr>
        <p:spPr>
          <a:xfrm flipH="1">
            <a:off x="10874614" y="-1471387"/>
            <a:ext cx="8882758" cy="6129103"/>
          </a:xfrm>
          <a:custGeom>
            <a:avLst/>
            <a:gdLst/>
            <a:ahLst/>
            <a:cxnLst/>
            <a:rect l="l" t="t" r="r" b="b"/>
            <a:pathLst>
              <a:path w="8882758" h="6129103">
                <a:moveTo>
                  <a:pt x="8882759" y="0"/>
                </a:moveTo>
                <a:lnTo>
                  <a:pt x="0" y="0"/>
                </a:lnTo>
                <a:lnTo>
                  <a:pt x="0" y="6129103"/>
                </a:lnTo>
                <a:lnTo>
                  <a:pt x="8882759" y="6129103"/>
                </a:lnTo>
                <a:lnTo>
                  <a:pt x="8882759" y="0"/>
                </a:lnTo>
                <a:close/>
              </a:path>
            </a:pathLst>
          </a:custGeom>
          <a:blipFill>
            <a:blip r:embed="rId5"/>
            <a:stretch>
              <a:fillRect/>
            </a:stretch>
          </a:blipFill>
        </p:spPr>
      </p:sp>
      <p:sp>
        <p:nvSpPr>
          <p:cNvPr id="7" name="Freeform 7"/>
          <p:cNvSpPr/>
          <p:nvPr/>
        </p:nvSpPr>
        <p:spPr>
          <a:xfrm>
            <a:off x="8496587" y="1162025"/>
            <a:ext cx="11845984" cy="6539970"/>
          </a:xfrm>
          <a:custGeom>
            <a:avLst/>
            <a:gdLst/>
            <a:ahLst/>
            <a:cxnLst/>
            <a:rect l="l" t="t" r="r" b="b"/>
            <a:pathLst>
              <a:path w="11845984" h="6539970">
                <a:moveTo>
                  <a:pt x="0" y="0"/>
                </a:moveTo>
                <a:lnTo>
                  <a:pt x="11845985" y="0"/>
                </a:lnTo>
                <a:lnTo>
                  <a:pt x="11845985" y="6539971"/>
                </a:lnTo>
                <a:lnTo>
                  <a:pt x="0" y="6539971"/>
                </a:lnTo>
                <a:lnTo>
                  <a:pt x="0" y="0"/>
                </a:lnTo>
                <a:close/>
              </a:path>
            </a:pathLst>
          </a:custGeom>
          <a:blipFill>
            <a:blip r:embed="rId6"/>
            <a:stretch>
              <a:fillRect/>
            </a:stretch>
          </a:blipFill>
        </p:spPr>
      </p:sp>
      <p:sp>
        <p:nvSpPr>
          <p:cNvPr id="8" name="Freeform 8"/>
          <p:cNvSpPr/>
          <p:nvPr/>
        </p:nvSpPr>
        <p:spPr>
          <a:xfrm>
            <a:off x="-3024466" y="3754654"/>
            <a:ext cx="8882758" cy="6129103"/>
          </a:xfrm>
          <a:custGeom>
            <a:avLst/>
            <a:gdLst/>
            <a:ahLst/>
            <a:cxnLst/>
            <a:rect l="l" t="t" r="r" b="b"/>
            <a:pathLst>
              <a:path w="8882758" h="6129103">
                <a:moveTo>
                  <a:pt x="0" y="0"/>
                </a:moveTo>
                <a:lnTo>
                  <a:pt x="8882759" y="0"/>
                </a:lnTo>
                <a:lnTo>
                  <a:pt x="8882759" y="6129103"/>
                </a:lnTo>
                <a:lnTo>
                  <a:pt x="0" y="6129103"/>
                </a:lnTo>
                <a:lnTo>
                  <a:pt x="0" y="0"/>
                </a:lnTo>
                <a:close/>
              </a:path>
            </a:pathLst>
          </a:custGeom>
          <a:blipFill>
            <a:blip r:embed="rId5"/>
            <a:stretch>
              <a:fillRect/>
            </a:stretch>
          </a:blipFill>
        </p:spPr>
      </p:sp>
      <p:sp>
        <p:nvSpPr>
          <p:cNvPr id="9" name="TextBox 9"/>
          <p:cNvSpPr txBox="1"/>
          <p:nvPr/>
        </p:nvSpPr>
        <p:spPr>
          <a:xfrm>
            <a:off x="2413196" y="1717676"/>
            <a:ext cx="6730804" cy="3425824"/>
          </a:xfrm>
          <a:prstGeom prst="rect">
            <a:avLst/>
          </a:prstGeom>
        </p:spPr>
        <p:txBody>
          <a:bodyPr lIns="0" tIns="0" rIns="0" bIns="0" rtlCol="0" anchor="t">
            <a:spAutoFit/>
          </a:bodyPr>
          <a:lstStyle/>
          <a:p>
            <a:pPr algn="l">
              <a:lnSpc>
                <a:spcPts val="28000"/>
              </a:lnSpc>
              <a:spcBef>
                <a:spcPct val="0"/>
              </a:spcBef>
            </a:pPr>
            <a:r>
              <a:rPr lang="en-US" sz="20000">
                <a:solidFill>
                  <a:srgbClr val="006763"/>
                </a:solidFill>
                <a:latin typeface="Andasia"/>
                <a:ea typeface="Andasia"/>
                <a:cs typeface="Andasia"/>
                <a:sym typeface="Andasia"/>
              </a:rPr>
              <a:t>Thank</a:t>
            </a:r>
          </a:p>
        </p:txBody>
      </p:sp>
      <p:sp>
        <p:nvSpPr>
          <p:cNvPr id="10" name="TextBox 10"/>
          <p:cNvSpPr txBox="1"/>
          <p:nvPr/>
        </p:nvSpPr>
        <p:spPr>
          <a:xfrm>
            <a:off x="7818036" y="5399893"/>
            <a:ext cx="3964383" cy="3425824"/>
          </a:xfrm>
          <a:prstGeom prst="rect">
            <a:avLst/>
          </a:prstGeom>
        </p:spPr>
        <p:txBody>
          <a:bodyPr lIns="0" tIns="0" rIns="0" bIns="0" rtlCol="0" anchor="t">
            <a:spAutoFit/>
          </a:bodyPr>
          <a:lstStyle/>
          <a:p>
            <a:pPr algn="l">
              <a:lnSpc>
                <a:spcPts val="28000"/>
              </a:lnSpc>
              <a:spcBef>
                <a:spcPct val="0"/>
              </a:spcBef>
            </a:pPr>
            <a:r>
              <a:rPr lang="en-US" sz="20000">
                <a:solidFill>
                  <a:srgbClr val="006763"/>
                </a:solidFill>
                <a:latin typeface="Andasia"/>
                <a:ea typeface="Andasia"/>
                <a:cs typeface="Andasia"/>
                <a:sym typeface="Andasia"/>
              </a:rPr>
              <a:t>You</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484</Words>
  <Application>Microsoft Office PowerPoint</Application>
  <PresentationFormat>Custom</PresentationFormat>
  <Paragraphs>76</Paragraphs>
  <Slides>12</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12</vt:i4>
      </vt:variant>
    </vt:vector>
  </HeadingPairs>
  <TitlesOfParts>
    <vt:vector size="24" baseType="lpstr">
      <vt:lpstr>Questrial</vt:lpstr>
      <vt:lpstr>Canva Sans</vt:lpstr>
      <vt:lpstr>Canva Sans Bold</vt:lpstr>
      <vt:lpstr>Calibri</vt:lpstr>
      <vt:lpstr>Roboto Bold</vt:lpstr>
      <vt:lpstr>Bebas Neue Bold</vt:lpstr>
      <vt:lpstr>Andasia</vt:lpstr>
      <vt:lpstr>Ballpoint</vt:lpstr>
      <vt:lpstr>Roboto</vt:lpstr>
      <vt:lpstr>Arial</vt:lpstr>
      <vt:lpstr>Montserrat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Jacqueline Thompson</dc:title>
  <cp:lastModifiedBy>Snehasish Dey</cp:lastModifiedBy>
  <cp:revision>3</cp:revision>
  <dcterms:created xsi:type="dcterms:W3CDTF">2006-08-16T00:00:00Z</dcterms:created>
  <dcterms:modified xsi:type="dcterms:W3CDTF">2026-08-24T12:26:17Z</dcterms:modified>
  <dc:identifier>DAHS1sFrOIo</dc:identifier>
</cp:coreProperties>
</file>